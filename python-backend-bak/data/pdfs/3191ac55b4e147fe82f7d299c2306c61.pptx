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69"/>
  </p:notesMasterIdLst>
  <p:sldIdLst>
    <p:sldId id="2320" r:id="rId3"/>
    <p:sldId id="2541" r:id="rId4"/>
    <p:sldId id="2542" r:id="rId5"/>
    <p:sldId id="2543" r:id="rId6"/>
    <p:sldId id="2545" r:id="rId7"/>
    <p:sldId id="2572" r:id="rId8"/>
    <p:sldId id="2544" r:id="rId9"/>
    <p:sldId id="2546" r:id="rId10"/>
    <p:sldId id="2547" r:id="rId11"/>
    <p:sldId id="2548" r:id="rId12"/>
    <p:sldId id="2549" r:id="rId13"/>
    <p:sldId id="2550" r:id="rId14"/>
    <p:sldId id="2552" r:id="rId15"/>
    <p:sldId id="2592" r:id="rId16"/>
    <p:sldId id="2553" r:id="rId17"/>
    <p:sldId id="2573" r:id="rId18"/>
    <p:sldId id="2581" r:id="rId19"/>
    <p:sldId id="2577" r:id="rId20"/>
    <p:sldId id="2554" r:id="rId21"/>
    <p:sldId id="2555" r:id="rId22"/>
    <p:sldId id="2556" r:id="rId23"/>
    <p:sldId id="2557" r:id="rId24"/>
    <p:sldId id="2558" r:id="rId25"/>
    <p:sldId id="2559" r:id="rId26"/>
    <p:sldId id="2473" r:id="rId27"/>
    <p:sldId id="2474" r:id="rId28"/>
    <p:sldId id="2476" r:id="rId29"/>
    <p:sldId id="2477" r:id="rId30"/>
    <p:sldId id="2560" r:id="rId31"/>
    <p:sldId id="2574" r:id="rId32"/>
    <p:sldId id="2575" r:id="rId33"/>
    <p:sldId id="2568" r:id="rId34"/>
    <p:sldId id="2561" r:id="rId35"/>
    <p:sldId id="2562" r:id="rId36"/>
    <p:sldId id="2563" r:id="rId37"/>
    <p:sldId id="2564" r:id="rId38"/>
    <p:sldId id="2565" r:id="rId39"/>
    <p:sldId id="2566" r:id="rId40"/>
    <p:sldId id="2538" r:id="rId41"/>
    <p:sldId id="2567" r:id="rId42"/>
    <p:sldId id="2593" r:id="rId43"/>
    <p:sldId id="2583" r:id="rId44"/>
    <p:sldId id="2594" r:id="rId45"/>
    <p:sldId id="2585" r:id="rId46"/>
    <p:sldId id="2334" r:id="rId47"/>
    <p:sldId id="2336" r:id="rId48"/>
    <p:sldId id="2337" r:id="rId49"/>
    <p:sldId id="2587" r:id="rId50"/>
    <p:sldId id="2595" r:id="rId51"/>
    <p:sldId id="2596" r:id="rId52"/>
    <p:sldId id="2330" r:id="rId53"/>
    <p:sldId id="2588" r:id="rId54"/>
    <p:sldId id="2586" r:id="rId55"/>
    <p:sldId id="2340" r:id="rId56"/>
    <p:sldId id="2341" r:id="rId57"/>
    <p:sldId id="2480" r:id="rId58"/>
    <p:sldId id="2338" r:id="rId59"/>
    <p:sldId id="2339" r:id="rId60"/>
    <p:sldId id="2597" r:id="rId61"/>
    <p:sldId id="2598" r:id="rId62"/>
    <p:sldId id="2590" r:id="rId63"/>
    <p:sldId id="2591" r:id="rId64"/>
    <p:sldId id="2343" r:id="rId65"/>
    <p:sldId id="2344" r:id="rId66"/>
    <p:sldId id="2599" r:id="rId67"/>
    <p:sldId id="320" r:id="rId68"/>
  </p:sldIdLst>
  <p:sldSz cx="9144000" cy="5143500" type="screen16x9"/>
  <p:notesSz cx="6858000" cy="9144000"/>
  <p:custDataLst>
    <p:tags r:id="rId7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charset="-122"/>
        <a:cs typeface="微软雅黑" panose="020B0503020204020204" charset="-122"/>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charset="-122"/>
        <a:cs typeface="微软雅黑" panose="020B0503020204020204" charset="-122"/>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charset="-122"/>
        <a:cs typeface="微软雅黑" panose="020B0503020204020204" charset="-122"/>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charset="-122"/>
        <a:cs typeface="微软雅黑" panose="020B0503020204020204" charset="-122"/>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charset="-122"/>
        <a:cs typeface="微软雅黑" panose="020B0503020204020204" charset="-122"/>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charset="-122"/>
        <a:cs typeface="微软雅黑" panose="020B0503020204020204" charset="-122"/>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charset="-122"/>
        <a:cs typeface="微软雅黑" panose="020B0503020204020204" charset="-122"/>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charset="-122"/>
        <a:cs typeface="微软雅黑" panose="020B0503020204020204" charset="-122"/>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charset="-122"/>
        <a:cs typeface="微软雅黑" panose="020B0503020204020204" charset="-122"/>
      </a:defRPr>
    </a:lvl9pPr>
  </p:defaultTextStyle>
  <p:extLst>
    <p:ext uri="{EFAFB233-063F-42B5-8137-9DF3F51BA10A}">
      <p15:sldGuideLst xmlns:p15="http://schemas.microsoft.com/office/powerpoint/2012/main">
        <p15:guide id="1" orient="horz" pos="1649" userDrawn="1">
          <p15:clr>
            <a:srgbClr val="A4A3A4"/>
          </p15:clr>
        </p15:guide>
        <p15:guide id="2" pos="283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143CF"/>
    <a:srgbClr val="339933"/>
    <a:srgbClr val="E5E4BA"/>
    <a:srgbClr val="FF801A"/>
    <a:srgbClr val="33CC33"/>
    <a:srgbClr val="27A9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61" autoAdjust="0"/>
    <p:restoredTop sz="94643" autoAdjust="0"/>
  </p:normalViewPr>
  <p:slideViewPr>
    <p:cSldViewPr showGuides="1">
      <p:cViewPr varScale="1">
        <p:scale>
          <a:sx n="85" d="100"/>
          <a:sy n="85" d="100"/>
        </p:scale>
        <p:origin x="848" y="40"/>
      </p:cViewPr>
      <p:guideLst>
        <p:guide orient="horz" pos="1649"/>
        <p:guide pos="283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44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E5728E-35D5-4687-A630-FE5CADAA06E7}" type="datetimeFigureOut">
              <a:rPr lang="zh-CN" altLang="en-US" smtClean="0"/>
              <a:t>2025/5/28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83C28D-817F-478A-A23E-2181E1744CF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TextEdit="1"/>
          </p:cNvSpPr>
          <p:nvPr>
            <p:ph type="sldImg"/>
          </p:nvPr>
        </p:nvSpPr>
        <p:spPr>
          <a:xfrm>
            <a:off x="90488" y="744538"/>
            <a:ext cx="6616700" cy="3722687"/>
          </a:xfrm>
        </p:spPr>
      </p:sp>
      <p:sp>
        <p:nvSpPr>
          <p:cNvPr id="10242" name="Rectangle 3"/>
          <p:cNvSpPr>
            <a:spLocks noGrp="1"/>
          </p:cNvSpPr>
          <p:nvPr>
            <p:ph type="body"/>
          </p:nvPr>
        </p:nvSpPr>
        <p:spPr/>
        <p:txBody>
          <a:bodyPr wrap="square" lIns="91440" tIns="45720" rIns="91440" bIns="45720" anchor="t"/>
          <a:lstStyle/>
          <a:p>
            <a:pPr lvl="0"/>
            <a:endParaRPr lang="zh-CN" altLang="en-US" dirty="0"/>
          </a:p>
        </p:txBody>
      </p:sp>
      <p:sp>
        <p:nvSpPr>
          <p:cNvPr id="10243" name="页脚占位符 3"/>
          <p:cNvSpPr txBox="1">
            <a:spLocks noGrp="1"/>
          </p:cNvSpPr>
          <p:nvPr/>
        </p:nvSpPr>
        <p:spPr>
          <a:xfrm>
            <a:off x="0" y="9429750"/>
            <a:ext cx="2946400" cy="496888"/>
          </a:xfrm>
          <a:prstGeom prst="rect">
            <a:avLst/>
          </a:prstGeom>
          <a:noFill/>
          <a:ln w="9525">
            <a:noFill/>
          </a:ln>
        </p:spPr>
        <p:txBody>
          <a:bodyPr anchor="b"/>
          <a:lstStyle/>
          <a:p>
            <a:pPr lvl="0" indent="0" algn="l"/>
            <a:endParaRPr lang="en-US" altLang="zh-CN"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TextEdit="1"/>
          </p:cNvSpPr>
          <p:nvPr>
            <p:ph type="sldImg"/>
          </p:nvPr>
        </p:nvSpPr>
        <p:spPr>
          <a:xfrm>
            <a:off x="90488" y="744538"/>
            <a:ext cx="6616700" cy="3722687"/>
          </a:xfrm>
        </p:spPr>
      </p:sp>
      <p:sp>
        <p:nvSpPr>
          <p:cNvPr id="10242" name="Rectangle 3"/>
          <p:cNvSpPr>
            <a:spLocks noGrp="1"/>
          </p:cNvSpPr>
          <p:nvPr>
            <p:ph type="body"/>
          </p:nvPr>
        </p:nvSpPr>
        <p:spPr/>
        <p:txBody>
          <a:bodyPr wrap="square" lIns="91440" tIns="45720" rIns="91440" bIns="45720" anchor="t"/>
          <a:lstStyle/>
          <a:p>
            <a:pPr lvl="0"/>
            <a:endParaRPr lang="zh-CN" altLang="en-US" dirty="0"/>
          </a:p>
        </p:txBody>
      </p:sp>
      <p:sp>
        <p:nvSpPr>
          <p:cNvPr id="10243" name="页脚占位符 3"/>
          <p:cNvSpPr txBox="1">
            <a:spLocks noGrp="1"/>
          </p:cNvSpPr>
          <p:nvPr/>
        </p:nvSpPr>
        <p:spPr>
          <a:xfrm>
            <a:off x="0" y="9429750"/>
            <a:ext cx="2946400" cy="496888"/>
          </a:xfrm>
          <a:prstGeom prst="rect">
            <a:avLst/>
          </a:prstGeom>
          <a:noFill/>
          <a:ln w="9525">
            <a:noFill/>
          </a:ln>
        </p:spPr>
        <p:txBody>
          <a:bodyPr anchor="b"/>
          <a:lstStyle/>
          <a:p>
            <a:pPr lvl="0" indent="0" algn="l"/>
            <a:endParaRPr lang="en-US" altLang="zh-CN" sz="1200" dirty="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TextEdit="1"/>
          </p:cNvSpPr>
          <p:nvPr>
            <p:ph type="sldImg"/>
          </p:nvPr>
        </p:nvSpPr>
        <p:spPr>
          <a:xfrm>
            <a:off x="90488" y="744538"/>
            <a:ext cx="6616700" cy="3722687"/>
          </a:xfrm>
        </p:spPr>
      </p:sp>
      <p:sp>
        <p:nvSpPr>
          <p:cNvPr id="10242" name="Rectangle 3"/>
          <p:cNvSpPr>
            <a:spLocks noGrp="1"/>
          </p:cNvSpPr>
          <p:nvPr>
            <p:ph type="body"/>
          </p:nvPr>
        </p:nvSpPr>
        <p:spPr/>
        <p:txBody>
          <a:bodyPr wrap="square" lIns="91440" tIns="45720" rIns="91440" bIns="45720" anchor="t"/>
          <a:lstStyle/>
          <a:p>
            <a:pPr lvl="0"/>
            <a:endParaRPr lang="zh-CN" altLang="en-US" dirty="0"/>
          </a:p>
        </p:txBody>
      </p:sp>
      <p:sp>
        <p:nvSpPr>
          <p:cNvPr id="10243" name="页脚占位符 3"/>
          <p:cNvSpPr txBox="1">
            <a:spLocks noGrp="1"/>
          </p:cNvSpPr>
          <p:nvPr/>
        </p:nvSpPr>
        <p:spPr>
          <a:xfrm>
            <a:off x="0" y="9429750"/>
            <a:ext cx="2946400" cy="496888"/>
          </a:xfrm>
          <a:prstGeom prst="rect">
            <a:avLst/>
          </a:prstGeom>
          <a:noFill/>
          <a:ln w="9525">
            <a:noFill/>
          </a:ln>
        </p:spPr>
        <p:txBody>
          <a:bodyPr anchor="b"/>
          <a:lstStyle/>
          <a:p>
            <a:pPr lvl="0" indent="0" algn="l"/>
            <a:endParaRPr lang="en-US" altLang="zh-CN" sz="1200" dirty="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1"/>
          <p:cNvPicPr>
            <a:picLocks noChangeAspect="1" noChangeArrowheads="1"/>
          </p:cNvPicPr>
          <p:nvPr/>
        </p:nvPicPr>
        <p:blipFill>
          <a:blip r:embed="rId2" cstate="print"/>
          <a:srcRect t="3595"/>
          <a:stretch>
            <a:fillRect/>
          </a:stretch>
        </p:blipFill>
        <p:spPr bwMode="auto">
          <a:xfrm>
            <a:off x="0" y="0"/>
            <a:ext cx="9144000" cy="4675188"/>
          </a:xfrm>
          <a:prstGeom prst="rect">
            <a:avLst/>
          </a:prstGeom>
          <a:noFill/>
          <a:ln w="9525">
            <a:noFill/>
            <a:miter lim="800000"/>
            <a:headEnd/>
            <a:tailEnd/>
          </a:ln>
        </p:spPr>
      </p:pic>
      <p:sp>
        <p:nvSpPr>
          <p:cNvPr id="5" name="Rectangle 7"/>
          <p:cNvSpPr>
            <a:spLocks noChangeArrowheads="1"/>
          </p:cNvSpPr>
          <p:nvPr/>
        </p:nvSpPr>
        <p:spPr bwMode="auto">
          <a:xfrm>
            <a:off x="6445250" y="4786313"/>
            <a:ext cx="2447925" cy="215900"/>
          </a:xfrm>
          <a:prstGeom prst="rect">
            <a:avLst/>
          </a:prstGeom>
          <a:solidFill>
            <a:srgbClr val="DDDDDD"/>
          </a:solidFill>
          <a:ln w="9525">
            <a:solidFill>
              <a:srgbClr val="C0C0C0"/>
            </a:solidFill>
            <a:prstDash val="dash"/>
            <a:miter lim="800000"/>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solidFill>
                  <a:srgbClr val="000000"/>
                </a:solidFill>
                <a:cs typeface="+mn-cs"/>
              </a:rPr>
              <a:t>LOGO</a:t>
            </a:r>
          </a:p>
        </p:txBody>
      </p:sp>
      <p:sp>
        <p:nvSpPr>
          <p:cNvPr id="2051" name="Rectangle 3"/>
          <p:cNvSpPr>
            <a:spLocks noGrp="1" noChangeArrowheads="1"/>
          </p:cNvSpPr>
          <p:nvPr>
            <p:ph type="ctrTitle"/>
          </p:nvPr>
        </p:nvSpPr>
        <p:spPr>
          <a:xfrm>
            <a:off x="395288" y="3327799"/>
            <a:ext cx="7772400" cy="725090"/>
          </a:xfrm>
        </p:spPr>
        <p:txBody>
          <a:bodyPr/>
          <a:lstStyle>
            <a:lvl1pPr algn="l">
              <a:defRPr>
                <a:effectLst>
                  <a:outerShdw blurRad="38100" dist="38100" dir="2700000" algn="tl">
                    <a:srgbClr val="C0C0C0"/>
                  </a:outerShdw>
                </a:effectLst>
              </a:defRPr>
            </a:lvl1pPr>
          </a:lstStyle>
          <a:p>
            <a:pPr lvl="0"/>
            <a:r>
              <a:rPr lang="zh-CN" noProof="0"/>
              <a:t>单击此处编辑母版标题样式</a:t>
            </a:r>
          </a:p>
        </p:txBody>
      </p:sp>
      <p:sp>
        <p:nvSpPr>
          <p:cNvPr id="2052" name="Rectangle 4"/>
          <p:cNvSpPr>
            <a:spLocks noGrp="1" noChangeArrowheads="1"/>
          </p:cNvSpPr>
          <p:nvPr>
            <p:ph type="subTitle" idx="1"/>
          </p:nvPr>
        </p:nvSpPr>
        <p:spPr>
          <a:xfrm>
            <a:off x="395288" y="4083844"/>
            <a:ext cx="6400800" cy="450056"/>
          </a:xfrm>
        </p:spPr>
        <p:txBody>
          <a:bodyPr/>
          <a:lstStyle>
            <a:lvl1pPr marL="0" indent="0">
              <a:buFontTx/>
              <a:buNone/>
              <a:defRPr sz="2400">
                <a:solidFill>
                  <a:schemeClr val="bg1"/>
                </a:solidFill>
              </a:defRPr>
            </a:lvl1pPr>
          </a:lstStyle>
          <a:p>
            <a:pPr lvl="0"/>
            <a:r>
              <a:rPr lang="zh-CN" noProof="0"/>
              <a:t>单击此处编辑母版副标题样式</a:t>
            </a:r>
          </a:p>
        </p:txBody>
      </p:sp>
      <p:sp>
        <p:nvSpPr>
          <p:cNvPr id="6"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en-US"/>
          </a:p>
        </p:txBody>
      </p:sp>
      <p:sp>
        <p:nvSpPr>
          <p:cNvPr id="7"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D:\备份\警校ppt\入户走访\校牌.png"/>
          <p:cNvPicPr>
            <a:picLocks noChangeAspect="1" noChangeArrowheads="1"/>
          </p:cNvPicPr>
          <p:nvPr userDrawn="1"/>
        </p:nvPicPr>
        <p:blipFill>
          <a:blip r:embed="rId2" cstate="print">
            <a:biLevel thresh="50000"/>
            <a:grayscl/>
          </a:blip>
          <a:srcRect/>
          <a:stretch>
            <a:fillRect/>
          </a:stretch>
        </p:blipFill>
        <p:spPr bwMode="auto">
          <a:xfrm>
            <a:off x="7019925" y="4537075"/>
            <a:ext cx="1746250" cy="698500"/>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6"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7"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AC149AE4-2E31-465B-B945-6C83773BB731}" type="slidenum">
              <a:rPr lang="zh-CN" altLang="zh-CN"/>
              <a:t>‹#›</a:t>
            </a:fld>
            <a:endParaRPr lang="zh-CN"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5"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6"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33F404F9-1291-4B06-B3FF-DE1B94E56BD1}" type="slidenum">
              <a:rPr lang="zh-CN" altLang="zh-CN"/>
              <a:t>‹#›</a:t>
            </a:fld>
            <a:endParaRPr lang="zh-CN"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39750" y="842965"/>
            <a:ext cx="4038600" cy="3395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30750" y="842965"/>
            <a:ext cx="4038600" cy="3395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6"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7"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3042FBF5-96F7-45AB-B157-A0C0E1BEC512}" type="slidenum">
              <a:rPr lang="zh-CN" altLang="zh-CN"/>
              <a:t>‹#›</a:t>
            </a:fld>
            <a:endParaRPr lang="zh-CN"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32"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32"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8"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9"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F48B0828-901A-47C1-AE2E-261A3288CA82}" type="slidenum">
              <a:rPr lang="zh-CN" altLang="zh-CN"/>
              <a:t>‹#›</a:t>
            </a:fld>
            <a:endParaRPr lang="zh-CN"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4"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5"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6ABACEDF-D023-4F05-9697-35971C09B358}" type="slidenum">
              <a:rPr lang="zh-CN" altLang="zh-CN"/>
              <a:t>‹#›</a:t>
            </a:fld>
            <a:endParaRPr lang="zh-CN"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3"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4"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12156E1D-26C5-45AB-B618-10756AE8619F}" type="slidenum">
              <a:rPr lang="zh-CN" altLang="zh-CN"/>
              <a:t>‹#›</a:t>
            </a:fld>
            <a:endParaRPr lang="zh-CN"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7"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7"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6"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7"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BBEFB9AC-835A-4C55-A4C3-E8EAAB0087CF}" type="slidenum">
              <a:rPr lang="zh-CN" altLang="zh-CN"/>
              <a:t>‹#›</a:t>
            </a:fld>
            <a:endParaRPr lang="zh-CN"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6"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7"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20A415FD-6B29-4B38-A34C-3C7A9B80C10B}" type="slidenum">
              <a:rPr lang="zh-CN" altLang="zh-CN"/>
              <a:t>‹#›</a:t>
            </a:fld>
            <a:endParaRPr lang="zh-CN"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5"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6"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E132CB1B-975B-45BA-BF0E-442B5265FCB9}" type="slidenum">
              <a:rPr lang="zh-CN" altLang="zh-CN"/>
              <a:t>‹#›</a:t>
            </a:fld>
            <a:endParaRPr lang="zh-CN"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1950" y="88110"/>
            <a:ext cx="2057400" cy="415051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39750" y="88110"/>
            <a:ext cx="6019800" cy="415051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fontAlgn="auto">
              <a:spcBef>
                <a:spcPts val="0"/>
              </a:spcBef>
              <a:spcAft>
                <a:spcPts val="0"/>
              </a:spcAft>
              <a:defRPr>
                <a:ea typeface="+mn-ea"/>
              </a:defRPr>
            </a:lvl1pPr>
          </a:lstStyle>
          <a:p>
            <a:pPr>
              <a:defRPr/>
            </a:pPr>
            <a:endParaRPr lang="zh-CN" altLang="zh-CN"/>
          </a:p>
        </p:txBody>
      </p:sp>
      <p:sp>
        <p:nvSpPr>
          <p:cNvPr id="5" name="Rectangle 6"/>
          <p:cNvSpPr>
            <a:spLocks noGrp="1" noChangeArrowheads="1"/>
          </p:cNvSpPr>
          <p:nvPr>
            <p:ph type="ftr" sz="quarter" idx="11"/>
          </p:nvPr>
        </p:nvSpPr>
        <p:spPr/>
        <p:txBody>
          <a:bodyPr/>
          <a:lstStyle>
            <a:lvl1pPr fontAlgn="auto">
              <a:spcBef>
                <a:spcPts val="0"/>
              </a:spcBef>
              <a:spcAft>
                <a:spcPts val="0"/>
              </a:spcAft>
              <a:defRPr>
                <a:ea typeface="+mn-ea"/>
              </a:defRPr>
            </a:lvl1pPr>
          </a:lstStyle>
          <a:p>
            <a:pPr>
              <a:defRPr/>
            </a:pPr>
            <a:endParaRPr lang="zh-CN" altLang="zh-CN"/>
          </a:p>
        </p:txBody>
      </p:sp>
      <p:sp>
        <p:nvSpPr>
          <p:cNvPr id="6" name="Rectangle 7"/>
          <p:cNvSpPr>
            <a:spLocks noGrp="1" noChangeArrowheads="1"/>
          </p:cNvSpPr>
          <p:nvPr>
            <p:ph type="sldNum" sz="quarter" idx="12"/>
          </p:nvPr>
        </p:nvSpPr>
        <p:spPr/>
        <p:txBody>
          <a:bodyPr/>
          <a:lstStyle>
            <a:lvl1pPr fontAlgn="auto">
              <a:spcBef>
                <a:spcPts val="0"/>
              </a:spcBef>
              <a:spcAft>
                <a:spcPts val="0"/>
              </a:spcAft>
              <a:defRPr>
                <a:ea typeface="+mn-ea"/>
              </a:defRPr>
            </a:lvl1pPr>
          </a:lstStyle>
          <a:p>
            <a:pPr>
              <a:defRPr/>
            </a:pPr>
            <a:fld id="{A256D59B-91AF-45EA-8C67-B2D5937E45E5}" type="slidenum">
              <a:rPr lang="zh-CN" altLang="zh-CN"/>
              <a:t>‹#›</a:t>
            </a:fld>
            <a:endParaRPr lang="zh-CN"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1"/>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fontAlgn="auto">
              <a:spcBef>
                <a:spcPts val="0"/>
              </a:spcBef>
              <a:spcAft>
                <a:spcPts val="0"/>
              </a:spcAft>
              <a:defRPr/>
            </a:lvl1pPr>
          </a:lstStyle>
          <a:p>
            <a:pPr>
              <a:defRPr/>
            </a:pPr>
            <a:fld id="{01BD5F6D-431B-4692-A440-3B7DBC2E7181}" type="datetime1">
              <a:rPr lang="en-US"/>
              <a:t>5/28/2025</a:t>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6"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7DAAA9B6-1697-47AC-A70C-DA7B02168689}" type="slidenum">
              <a:rPr lang="zh-CN" altLang="en-US"/>
              <a:t>‹#›</a:t>
            </a:fld>
            <a:endParaRPr lang="zh-CN" altLang="en-US" sz="1800">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fontAlgn="auto">
              <a:spcBef>
                <a:spcPts val="0"/>
              </a:spcBef>
              <a:spcAft>
                <a:spcPts val="0"/>
              </a:spcAft>
              <a:defRPr/>
            </a:lvl1pPr>
          </a:lstStyle>
          <a:p>
            <a:pPr>
              <a:defRPr/>
            </a:pPr>
            <a:fld id="{724B44E0-8B9B-4F1E-AD1B-447F3395D986}" type="datetime1">
              <a:rPr lang="en-US"/>
              <a:t>5/28/2025</a:t>
            </a:fld>
            <a:endParaRPr lang="zh-CN" altLang="en-US" sz="1800">
              <a:solidFill>
                <a:srgbClr val="000000"/>
              </a:solidFill>
            </a:endParaRPr>
          </a:p>
        </p:txBody>
      </p:sp>
      <p:sp>
        <p:nvSpPr>
          <p:cNvPr id="3" name="页脚占位符 4"/>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4"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DCDD1DDD-84CA-4FB7-AC94-E2072B0C883B}" type="slidenum">
              <a:rPr lang="zh-CN" altLang="en-US"/>
              <a:t>‹#›</a:t>
            </a:fld>
            <a:endParaRPr lang="zh-CN" altLang="en-US" sz="1800">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fontAlgn="auto">
              <a:spcBef>
                <a:spcPts val="0"/>
              </a:spcBef>
              <a:spcAft>
                <a:spcPts val="0"/>
              </a:spcAft>
              <a:defRPr/>
            </a:lvl1pPr>
          </a:lstStyle>
          <a:p>
            <a:pPr>
              <a:defRPr/>
            </a:pPr>
            <a:fld id="{90D9E774-A622-4E00-B62C-C53FFFAE5651}" type="datetime1">
              <a:rPr lang="en-US"/>
              <a:t>5/28/2025</a:t>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6"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8B1A59AC-91EA-4174-BFD5-A9FCBD9A62FD}" type="slidenum">
              <a:rPr lang="zh-CN" altLang="en-US"/>
              <a:t>‹#›</a:t>
            </a:fld>
            <a:endParaRPr lang="zh-CN" altLang="en-US" sz="1800">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fontAlgn="auto">
              <a:spcBef>
                <a:spcPts val="0"/>
              </a:spcBef>
              <a:spcAft>
                <a:spcPts val="0"/>
              </a:spcAft>
              <a:defRPr/>
            </a:lvl1pPr>
          </a:lstStyle>
          <a:p>
            <a:pPr>
              <a:defRPr/>
            </a:pPr>
            <a:fld id="{791DF82B-608F-487C-8DDC-244159EB9E02}" type="datetime1">
              <a:rPr lang="en-US"/>
              <a:t>5/28/2025</a:t>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7" name="灯片编号占位符 6"/>
          <p:cNvSpPr>
            <a:spLocks noGrp="1"/>
          </p:cNvSpPr>
          <p:nvPr>
            <p:ph type="sldNum" sz="quarter" idx="12"/>
          </p:nvPr>
        </p:nvSpPr>
        <p:spPr/>
        <p:txBody>
          <a:bodyPr/>
          <a:lstStyle>
            <a:lvl1pPr fontAlgn="auto">
              <a:spcBef>
                <a:spcPts val="0"/>
              </a:spcBef>
              <a:spcAft>
                <a:spcPts val="0"/>
              </a:spcAft>
              <a:defRPr/>
            </a:lvl1pPr>
          </a:lstStyle>
          <a:p>
            <a:pPr>
              <a:defRPr/>
            </a:pPr>
            <a:fld id="{AB72D34C-9287-4A32-97F9-92E00C2738FA}" type="slidenum">
              <a:rPr lang="zh-CN" altLang="en-US"/>
              <a:t>‹#›</a:t>
            </a:fld>
            <a:endParaRPr lang="zh-CN" altLang="en-US" sz="1800">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fontAlgn="auto">
              <a:spcBef>
                <a:spcPts val="0"/>
              </a:spcBef>
              <a:spcAft>
                <a:spcPts val="0"/>
              </a:spcAft>
              <a:defRPr/>
            </a:lvl1pPr>
          </a:lstStyle>
          <a:p>
            <a:pPr>
              <a:defRPr/>
            </a:pPr>
            <a:fld id="{CC2CA2B1-7005-4EEB-988C-9B5A41224F11}" type="datetime1">
              <a:rPr lang="en-US"/>
              <a:t>5/28/2025</a:t>
            </a:fld>
            <a:endParaRPr lang="zh-CN" altLang="en-US" sz="1800">
              <a:solidFill>
                <a:srgbClr val="000000"/>
              </a:solidFill>
            </a:endParaRPr>
          </a:p>
        </p:txBody>
      </p:sp>
      <p:sp>
        <p:nvSpPr>
          <p:cNvPr id="8" name="页脚占位符 7"/>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9" name="灯片编号占位符 8"/>
          <p:cNvSpPr>
            <a:spLocks noGrp="1"/>
          </p:cNvSpPr>
          <p:nvPr>
            <p:ph type="sldNum" sz="quarter" idx="12"/>
          </p:nvPr>
        </p:nvSpPr>
        <p:spPr/>
        <p:txBody>
          <a:bodyPr/>
          <a:lstStyle>
            <a:lvl1pPr fontAlgn="auto">
              <a:spcBef>
                <a:spcPts val="0"/>
              </a:spcBef>
              <a:spcAft>
                <a:spcPts val="0"/>
              </a:spcAft>
              <a:defRPr/>
            </a:lvl1pPr>
          </a:lstStyle>
          <a:p>
            <a:pPr>
              <a:defRPr/>
            </a:pPr>
            <a:fld id="{2BA67A87-D5B4-405F-A3AD-7D08B248A699}" type="slidenum">
              <a:rPr lang="zh-CN" altLang="en-US"/>
              <a:t>‹#›</a:t>
            </a:fld>
            <a:endParaRPr lang="zh-CN" altLang="en-US" sz="1800">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fontAlgn="auto">
              <a:spcBef>
                <a:spcPts val="0"/>
              </a:spcBef>
              <a:spcAft>
                <a:spcPts val="0"/>
              </a:spcAft>
              <a:defRPr/>
            </a:lvl1pPr>
          </a:lstStyle>
          <a:p>
            <a:pPr>
              <a:defRPr/>
            </a:pPr>
            <a:fld id="{2DA253E7-5886-4AA8-83BF-CBA87860EA02}" type="datetime1">
              <a:rPr lang="en-US"/>
              <a:t>5/28/2025</a:t>
            </a:fld>
            <a:endParaRPr lang="zh-CN" altLang="en-US" sz="1800">
              <a:solidFill>
                <a:srgbClr val="000000"/>
              </a:solidFill>
            </a:endParaRPr>
          </a:p>
        </p:txBody>
      </p:sp>
      <p:sp>
        <p:nvSpPr>
          <p:cNvPr id="4" name="页脚占位符 3"/>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5" name="灯片编号占位符 4"/>
          <p:cNvSpPr>
            <a:spLocks noGrp="1"/>
          </p:cNvSpPr>
          <p:nvPr>
            <p:ph type="sldNum" sz="quarter" idx="12"/>
          </p:nvPr>
        </p:nvSpPr>
        <p:spPr/>
        <p:txBody>
          <a:bodyPr/>
          <a:lstStyle>
            <a:lvl1pPr fontAlgn="auto">
              <a:spcBef>
                <a:spcPts val="0"/>
              </a:spcBef>
              <a:spcAft>
                <a:spcPts val="0"/>
              </a:spcAft>
              <a:defRPr/>
            </a:lvl1pPr>
          </a:lstStyle>
          <a:p>
            <a:pPr>
              <a:defRPr/>
            </a:pPr>
            <a:fld id="{26C8C871-9447-4FBB-A780-C01074E16A6B}" type="slidenum">
              <a:rPr lang="zh-CN" altLang="en-US"/>
              <a:t>‹#›</a:t>
            </a:fld>
            <a:endParaRPr lang="zh-CN" altLang="en-US" sz="1800">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fontAlgn="auto">
              <a:spcBef>
                <a:spcPts val="0"/>
              </a:spcBef>
              <a:spcAft>
                <a:spcPts val="0"/>
              </a:spcAft>
              <a:defRPr/>
            </a:lvl1pPr>
          </a:lstStyle>
          <a:p>
            <a:pPr>
              <a:defRPr/>
            </a:pPr>
            <a:fld id="{09000984-0278-4381-B63E-4E633F14D53D}" type="datetime1">
              <a:rPr lang="en-US"/>
              <a:t>5/28/2025</a:t>
            </a:fld>
            <a:endParaRPr lang="zh-CN" altLang="en-US" sz="1800">
              <a:solidFill>
                <a:srgbClr val="000000"/>
              </a:solidFill>
            </a:endParaRPr>
          </a:p>
        </p:txBody>
      </p:sp>
      <p:sp>
        <p:nvSpPr>
          <p:cNvPr id="3" name="页脚占位符 2"/>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4" name="灯片编号占位符 3"/>
          <p:cNvSpPr>
            <a:spLocks noGrp="1"/>
          </p:cNvSpPr>
          <p:nvPr>
            <p:ph type="sldNum" sz="quarter" idx="12"/>
          </p:nvPr>
        </p:nvSpPr>
        <p:spPr/>
        <p:txBody>
          <a:bodyPr/>
          <a:lstStyle>
            <a:lvl1pPr fontAlgn="auto">
              <a:spcBef>
                <a:spcPts val="0"/>
              </a:spcBef>
              <a:spcAft>
                <a:spcPts val="0"/>
              </a:spcAft>
              <a:defRPr/>
            </a:lvl1pPr>
          </a:lstStyle>
          <a:p>
            <a:pPr>
              <a:defRPr/>
            </a:pPr>
            <a:fld id="{3D7EC9E7-314E-43DC-8E32-4FD5264217C1}" type="slidenum">
              <a:rPr lang="zh-CN" altLang="en-US"/>
              <a:t>‹#›</a:t>
            </a:fld>
            <a:endParaRPr lang="zh-CN" altLang="en-US" sz="1800">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5"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fontAlgn="auto">
              <a:spcBef>
                <a:spcPts val="0"/>
              </a:spcBef>
              <a:spcAft>
                <a:spcPts val="0"/>
              </a:spcAft>
              <a:defRPr/>
            </a:lvl1pPr>
          </a:lstStyle>
          <a:p>
            <a:pPr>
              <a:defRPr/>
            </a:pPr>
            <a:fld id="{B33FF90C-EA38-4BE2-BAA2-7A495D56F972}" type="datetime1">
              <a:rPr lang="en-US"/>
              <a:t>5/28/2025</a:t>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7" name="灯片编号占位符 6"/>
          <p:cNvSpPr>
            <a:spLocks noGrp="1"/>
          </p:cNvSpPr>
          <p:nvPr>
            <p:ph type="sldNum" sz="quarter" idx="12"/>
          </p:nvPr>
        </p:nvSpPr>
        <p:spPr/>
        <p:txBody>
          <a:bodyPr/>
          <a:lstStyle>
            <a:lvl1pPr fontAlgn="auto">
              <a:spcBef>
                <a:spcPts val="0"/>
              </a:spcBef>
              <a:spcAft>
                <a:spcPts val="0"/>
              </a:spcAft>
              <a:defRPr/>
            </a:lvl1pPr>
          </a:lstStyle>
          <a:p>
            <a:pPr>
              <a:defRPr/>
            </a:pPr>
            <a:fld id="{99AB8C05-FDF8-49E7-AFDC-BD88A23F272E}" type="slidenum">
              <a:rPr lang="zh-CN" altLang="en-US"/>
              <a:t>‹#›</a:t>
            </a:fld>
            <a:endParaRPr lang="zh-CN" altLang="en-US" sz="1800">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anose="020F0502020204030204" pitchFamily="34" charset="0"/>
            </a:endParaRPr>
          </a:p>
        </p:txBody>
      </p:sp>
      <p:sp>
        <p:nvSpPr>
          <p:cNvPr id="4" name="文本占位符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fontAlgn="auto">
              <a:spcBef>
                <a:spcPts val="0"/>
              </a:spcBef>
              <a:spcAft>
                <a:spcPts val="0"/>
              </a:spcAft>
              <a:defRPr/>
            </a:lvl1pPr>
          </a:lstStyle>
          <a:p>
            <a:pPr>
              <a:defRPr/>
            </a:pPr>
            <a:fld id="{E71DEC74-B75E-423F-9E36-08EDCC111ED2}" type="datetime1">
              <a:rPr lang="en-US"/>
              <a:t>5/28/2025</a:t>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7" name="灯片编号占位符 6"/>
          <p:cNvSpPr>
            <a:spLocks noGrp="1"/>
          </p:cNvSpPr>
          <p:nvPr>
            <p:ph type="sldNum" sz="quarter" idx="12"/>
          </p:nvPr>
        </p:nvSpPr>
        <p:spPr/>
        <p:txBody>
          <a:bodyPr/>
          <a:lstStyle>
            <a:lvl1pPr fontAlgn="auto">
              <a:spcBef>
                <a:spcPts val="0"/>
              </a:spcBef>
              <a:spcAft>
                <a:spcPts val="0"/>
              </a:spcAft>
              <a:defRPr/>
            </a:lvl1pPr>
          </a:lstStyle>
          <a:p>
            <a:pPr>
              <a:defRPr/>
            </a:pPr>
            <a:fld id="{57B192EC-96D7-4D7E-A446-7D6F0AAEE610}" type="slidenum">
              <a:rPr lang="zh-CN" altLang="en-US"/>
              <a:t>‹#›</a:t>
            </a:fld>
            <a:endParaRPr lang="zh-CN" altLang="en-US" sz="1800">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fontAlgn="auto">
              <a:spcBef>
                <a:spcPts val="0"/>
              </a:spcBef>
              <a:spcAft>
                <a:spcPts val="0"/>
              </a:spcAft>
              <a:defRPr/>
            </a:lvl1pPr>
          </a:lstStyle>
          <a:p>
            <a:pPr>
              <a:defRPr/>
            </a:pPr>
            <a:fld id="{5E152CAD-9030-42A4-A3EB-36E496527B1E}" type="datetime1">
              <a:rPr lang="en-US"/>
              <a:t>5/28/2025</a:t>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6"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345B2870-13F4-4426-83ED-53D7A2126CCE}" type="slidenum">
              <a:rPr lang="zh-CN" altLang="en-US"/>
              <a:t>‹#›</a:t>
            </a:fld>
            <a:endParaRPr lang="zh-CN" altLang="en-US" sz="1800">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80"/>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80"/>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fontAlgn="auto">
              <a:spcBef>
                <a:spcPts val="0"/>
              </a:spcBef>
              <a:spcAft>
                <a:spcPts val="0"/>
              </a:spcAft>
              <a:defRPr/>
            </a:lvl1pPr>
          </a:lstStyle>
          <a:p>
            <a:pPr>
              <a:defRPr/>
            </a:pPr>
            <a:fld id="{D01E5466-8D47-413C-BAC9-05083C5F3186}" type="datetime1">
              <a:rPr lang="en-US"/>
              <a:t>5/28/2025</a:t>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fontAlgn="auto">
              <a:spcBef>
                <a:spcPts val="0"/>
              </a:spcBef>
              <a:spcAft>
                <a:spcPts val="0"/>
              </a:spcAft>
              <a:defRPr>
                <a:latin typeface="+mn-lt"/>
              </a:defRPr>
            </a:lvl1pPr>
          </a:lstStyle>
          <a:p>
            <a:pPr>
              <a:defRPr/>
            </a:pPr>
            <a:endParaRPr lang="en-US" altLang="zh-CN"/>
          </a:p>
        </p:txBody>
      </p:sp>
      <p:sp>
        <p:nvSpPr>
          <p:cNvPr id="6" name="灯片编号占位符 5"/>
          <p:cNvSpPr>
            <a:spLocks noGrp="1"/>
          </p:cNvSpPr>
          <p:nvPr>
            <p:ph type="sldNum" sz="quarter" idx="12"/>
          </p:nvPr>
        </p:nvSpPr>
        <p:spPr/>
        <p:txBody>
          <a:bodyPr/>
          <a:lstStyle>
            <a:lvl1pPr fontAlgn="auto">
              <a:spcBef>
                <a:spcPts val="0"/>
              </a:spcBef>
              <a:spcAft>
                <a:spcPts val="0"/>
              </a:spcAft>
              <a:defRPr/>
            </a:lvl1pPr>
          </a:lstStyle>
          <a:p>
            <a:pPr>
              <a:defRPr/>
            </a:pPr>
            <a:fld id="{9864A791-C15A-4484-BC8B-0D06E9FDF929}" type="slidenum">
              <a:rPr lang="zh-CN" altLang="en-US"/>
              <a:t>‹#›</a:t>
            </a:fld>
            <a:endParaRPr lang="zh-CN" altLang="en-US" sz="180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4.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2"/>
          <p:cNvPicPr>
            <a:picLocks noChangeAspect="1" noChangeArrowheads="1"/>
          </p:cNvPicPr>
          <p:nvPr/>
        </p:nvPicPr>
        <p:blipFill>
          <a:blip r:embed="rId13" cstate="print"/>
          <a:srcRect l="3194" r="2284"/>
          <a:stretch>
            <a:fillRect/>
          </a:stretch>
        </p:blipFill>
        <p:spPr bwMode="auto">
          <a:xfrm>
            <a:off x="0" y="0"/>
            <a:ext cx="9169400" cy="5143500"/>
          </a:xfrm>
          <a:prstGeom prst="rect">
            <a:avLst/>
          </a:prstGeom>
          <a:noFill/>
          <a:ln w="9525">
            <a:noFill/>
            <a:miter lim="800000"/>
            <a:headEnd/>
            <a:tailEnd/>
          </a:ln>
        </p:spPr>
      </p:pic>
      <p:sp>
        <p:nvSpPr>
          <p:cNvPr id="1027" name="Rectangle 3"/>
          <p:cNvSpPr>
            <a:spLocks noGrp="1" noChangeArrowheads="1"/>
          </p:cNvSpPr>
          <p:nvPr>
            <p:ph type="title"/>
          </p:nvPr>
        </p:nvSpPr>
        <p:spPr bwMode="auto">
          <a:xfrm>
            <a:off x="611188" y="88900"/>
            <a:ext cx="8075612" cy="539750"/>
          </a:xfrm>
          <a:prstGeom prst="rect">
            <a:avLst/>
          </a:prstGeom>
          <a:noFill/>
          <a:ln w="9525">
            <a:noFill/>
            <a:miter lim="800000"/>
          </a:ln>
        </p:spPr>
        <p:txBody>
          <a:bodyPr vert="horz" wrap="square" lIns="91440" tIns="45720" rIns="91440" bIns="45720" numCol="1" anchor="ctr" anchorCtr="0" compatLnSpc="1"/>
          <a:lstStyle/>
          <a:p>
            <a:pPr lvl="0"/>
            <a:r>
              <a:rPr lang="zh-CN" altLang="zh-CN"/>
              <a:t>单击此处编辑母版标题样式</a:t>
            </a:r>
          </a:p>
        </p:txBody>
      </p:sp>
      <p:sp>
        <p:nvSpPr>
          <p:cNvPr id="1028" name="Rectangle 4"/>
          <p:cNvSpPr>
            <a:spLocks noGrp="1" noChangeArrowheads="1"/>
          </p:cNvSpPr>
          <p:nvPr>
            <p:ph type="body" idx="1"/>
          </p:nvPr>
        </p:nvSpPr>
        <p:spPr bwMode="auto">
          <a:xfrm>
            <a:off x="539750" y="842963"/>
            <a:ext cx="8229600" cy="3395662"/>
          </a:xfrm>
          <a:prstGeom prst="rect">
            <a:avLst/>
          </a:prstGeom>
          <a:noFill/>
          <a:ln w="9525">
            <a:noFill/>
            <a:miter lim="800000"/>
          </a:ln>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9" name="Rectangle 5"/>
          <p:cNvSpPr>
            <a:spLocks noGrp="1" noChangeArrowheads="1"/>
          </p:cNvSpPr>
          <p:nvPr>
            <p:ph type="dt" sz="half" idx="2"/>
          </p:nvPr>
        </p:nvSpPr>
        <p:spPr bwMode="auto">
          <a:xfrm>
            <a:off x="457200" y="4684713"/>
            <a:ext cx="2133600" cy="357187"/>
          </a:xfrm>
          <a:prstGeom prst="rect">
            <a:avLst/>
          </a:prstGeom>
          <a:noFill/>
          <a:ln>
            <a:noFill/>
          </a:ln>
          <a:effectLst/>
        </p:spPr>
        <p:txBody>
          <a:bodyPr vert="horz" wrap="square" lIns="91440" tIns="45720" rIns="91440" bIns="45720" numCol="1" anchor="t" anchorCtr="0" compatLnSpc="1"/>
          <a:lstStyle>
            <a:lvl1pPr>
              <a:defRPr sz="1400">
                <a:solidFill>
                  <a:srgbClr val="000000"/>
                </a:solidFill>
                <a:latin typeface="Arial" panose="020B0604020202020204" pitchFamily="34" charset="0"/>
                <a:ea typeface="宋体" panose="02010600030101010101" pitchFamily="2" charset="-122"/>
                <a:cs typeface="+mn-cs"/>
              </a:defRPr>
            </a:lvl1pPr>
          </a:lstStyle>
          <a:p>
            <a:pPr>
              <a:defRPr/>
            </a:pPr>
            <a:endParaRPr lang="zh-CN" altLang="zh-CN"/>
          </a:p>
        </p:txBody>
      </p:sp>
      <p:sp>
        <p:nvSpPr>
          <p:cNvPr id="1030" name="Rectangle 6"/>
          <p:cNvSpPr>
            <a:spLocks noGrp="1" noChangeArrowheads="1"/>
          </p:cNvSpPr>
          <p:nvPr>
            <p:ph type="ftr" sz="quarter" idx="3"/>
          </p:nvPr>
        </p:nvSpPr>
        <p:spPr bwMode="auto">
          <a:xfrm>
            <a:off x="3124200" y="4684713"/>
            <a:ext cx="2895600" cy="357187"/>
          </a:xfrm>
          <a:prstGeom prst="rect">
            <a:avLst/>
          </a:prstGeom>
          <a:noFill/>
          <a:ln>
            <a:noFill/>
          </a:ln>
          <a:effectLst/>
        </p:spPr>
        <p:txBody>
          <a:bodyPr vert="horz" wrap="square" lIns="91440" tIns="45720" rIns="91440" bIns="45720" numCol="1" anchor="t" anchorCtr="0" compatLnSpc="1"/>
          <a:lstStyle>
            <a:lvl1pPr algn="ctr">
              <a:defRPr sz="1400">
                <a:solidFill>
                  <a:srgbClr val="000000"/>
                </a:solidFill>
                <a:latin typeface="Arial" panose="020B0604020202020204" pitchFamily="34" charset="0"/>
                <a:ea typeface="宋体" panose="02010600030101010101" pitchFamily="2" charset="-122"/>
                <a:cs typeface="+mn-cs"/>
              </a:defRPr>
            </a:lvl1pPr>
          </a:lstStyle>
          <a:p>
            <a:pPr>
              <a:defRPr/>
            </a:pPr>
            <a:endParaRPr lang="zh-CN" altLang="zh-CN"/>
          </a:p>
        </p:txBody>
      </p:sp>
      <p:sp>
        <p:nvSpPr>
          <p:cNvPr id="1031" name="Rectangle 7"/>
          <p:cNvSpPr>
            <a:spLocks noGrp="1" noChangeArrowheads="1"/>
          </p:cNvSpPr>
          <p:nvPr>
            <p:ph type="sldNum" sz="quarter" idx="4"/>
          </p:nvPr>
        </p:nvSpPr>
        <p:spPr bwMode="auto">
          <a:xfrm>
            <a:off x="6553200" y="4684713"/>
            <a:ext cx="2133600" cy="357187"/>
          </a:xfrm>
          <a:prstGeom prst="rect">
            <a:avLst/>
          </a:prstGeom>
          <a:noFill/>
          <a:ln>
            <a:noFill/>
          </a:ln>
          <a:effectLst/>
        </p:spPr>
        <p:txBody>
          <a:bodyPr vert="horz" wrap="square" lIns="91440" tIns="45720" rIns="91440" bIns="45720" numCol="1" anchor="t" anchorCtr="0" compatLnSpc="1"/>
          <a:lstStyle>
            <a:lvl1pPr algn="r">
              <a:defRPr sz="1400">
                <a:solidFill>
                  <a:srgbClr val="000000"/>
                </a:solidFill>
                <a:latin typeface="Arial" panose="020B0604020202020204" pitchFamily="34" charset="0"/>
                <a:ea typeface="宋体" panose="02010600030101010101" pitchFamily="2" charset="-122"/>
                <a:cs typeface="+mn-cs"/>
              </a:defRPr>
            </a:lvl1pPr>
          </a:lstStyle>
          <a:p>
            <a:pPr>
              <a:defRPr/>
            </a:pPr>
            <a:fld id="{FB3D3060-A5A8-43E4-A3E3-C9C1F62D3579}" type="slidenum">
              <a:rPr lang="zh-CN" altLang="zh-CN"/>
              <a:t>‹#›</a:t>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rtl="0" eaLnBrk="0" fontAlgn="base" hangingPunct="0">
        <a:spcBef>
          <a:spcPct val="0"/>
        </a:spcBef>
        <a:spcAft>
          <a:spcPct val="0"/>
        </a:spcAft>
        <a:defRPr sz="3600" b="1">
          <a:solidFill>
            <a:schemeClr val="bg1"/>
          </a:solidFill>
          <a:latin typeface="+mj-lt"/>
          <a:ea typeface="+mj-ea"/>
          <a:cs typeface="微软雅黑" panose="020B0503020204020204" charset="-122"/>
        </a:defRPr>
      </a:lvl1pPr>
      <a:lvl2pPr algn="r" rtl="0" eaLnBrk="0" fontAlgn="base" hangingPunct="0">
        <a:spcBef>
          <a:spcPct val="0"/>
        </a:spcBef>
        <a:spcAft>
          <a:spcPct val="0"/>
        </a:spcAft>
        <a:defRPr sz="3600" b="1">
          <a:solidFill>
            <a:schemeClr val="bg1"/>
          </a:solidFill>
          <a:latin typeface="Arial" panose="020B0604020202020204" pitchFamily="34" charset="0"/>
          <a:ea typeface="微软雅黑" panose="020B0503020204020204" charset="-122"/>
          <a:cs typeface="微软雅黑" panose="020B0503020204020204" charset="-122"/>
        </a:defRPr>
      </a:lvl2pPr>
      <a:lvl3pPr algn="r" rtl="0" eaLnBrk="0" fontAlgn="base" hangingPunct="0">
        <a:spcBef>
          <a:spcPct val="0"/>
        </a:spcBef>
        <a:spcAft>
          <a:spcPct val="0"/>
        </a:spcAft>
        <a:defRPr sz="3600" b="1">
          <a:solidFill>
            <a:schemeClr val="bg1"/>
          </a:solidFill>
          <a:latin typeface="Arial" panose="020B0604020202020204" pitchFamily="34" charset="0"/>
          <a:ea typeface="微软雅黑" panose="020B0503020204020204" charset="-122"/>
          <a:cs typeface="微软雅黑" panose="020B0503020204020204" charset="-122"/>
        </a:defRPr>
      </a:lvl3pPr>
      <a:lvl4pPr algn="r" rtl="0" eaLnBrk="0" fontAlgn="base" hangingPunct="0">
        <a:spcBef>
          <a:spcPct val="0"/>
        </a:spcBef>
        <a:spcAft>
          <a:spcPct val="0"/>
        </a:spcAft>
        <a:defRPr sz="3600" b="1">
          <a:solidFill>
            <a:schemeClr val="bg1"/>
          </a:solidFill>
          <a:latin typeface="Arial" panose="020B0604020202020204" pitchFamily="34" charset="0"/>
          <a:ea typeface="微软雅黑" panose="020B0503020204020204" charset="-122"/>
          <a:cs typeface="微软雅黑" panose="020B0503020204020204" charset="-122"/>
        </a:defRPr>
      </a:lvl4pPr>
      <a:lvl5pPr algn="r" rtl="0" eaLnBrk="0" fontAlgn="base" hangingPunct="0">
        <a:spcBef>
          <a:spcPct val="0"/>
        </a:spcBef>
        <a:spcAft>
          <a:spcPct val="0"/>
        </a:spcAft>
        <a:defRPr sz="3600" b="1">
          <a:solidFill>
            <a:schemeClr val="bg1"/>
          </a:solidFill>
          <a:latin typeface="Arial" panose="020B0604020202020204" pitchFamily="34" charset="0"/>
          <a:ea typeface="微软雅黑" panose="020B0503020204020204" charset="-122"/>
          <a:cs typeface="微软雅黑" panose="020B0503020204020204" charset="-122"/>
        </a:defRPr>
      </a:lvl5pPr>
      <a:lvl6pPr marL="457200" algn="r" rtl="0" fontAlgn="base">
        <a:spcBef>
          <a:spcPct val="0"/>
        </a:spcBef>
        <a:spcAft>
          <a:spcPct val="0"/>
        </a:spcAft>
        <a:defRPr sz="3600" b="1">
          <a:solidFill>
            <a:schemeClr val="bg1"/>
          </a:solidFill>
          <a:latin typeface="Arial" panose="020B0604020202020204" pitchFamily="34" charset="0"/>
          <a:ea typeface="微软雅黑" panose="020B0503020204020204" charset="-122"/>
        </a:defRPr>
      </a:lvl6pPr>
      <a:lvl7pPr marL="914400" algn="r" rtl="0" fontAlgn="base">
        <a:spcBef>
          <a:spcPct val="0"/>
        </a:spcBef>
        <a:spcAft>
          <a:spcPct val="0"/>
        </a:spcAft>
        <a:defRPr sz="3600" b="1">
          <a:solidFill>
            <a:schemeClr val="bg1"/>
          </a:solidFill>
          <a:latin typeface="Arial" panose="020B0604020202020204" pitchFamily="34" charset="0"/>
          <a:ea typeface="微软雅黑" panose="020B0503020204020204" charset="-122"/>
        </a:defRPr>
      </a:lvl7pPr>
      <a:lvl8pPr marL="1371600" algn="r" rtl="0" fontAlgn="base">
        <a:spcBef>
          <a:spcPct val="0"/>
        </a:spcBef>
        <a:spcAft>
          <a:spcPct val="0"/>
        </a:spcAft>
        <a:defRPr sz="3600" b="1">
          <a:solidFill>
            <a:schemeClr val="bg1"/>
          </a:solidFill>
          <a:latin typeface="Arial" panose="020B0604020202020204" pitchFamily="34" charset="0"/>
          <a:ea typeface="微软雅黑" panose="020B0503020204020204" charset="-122"/>
        </a:defRPr>
      </a:lvl8pPr>
      <a:lvl9pPr marL="1828800" algn="r" rtl="0" fontAlgn="base">
        <a:spcBef>
          <a:spcPct val="0"/>
        </a:spcBef>
        <a:spcAft>
          <a:spcPct val="0"/>
        </a:spcAft>
        <a:defRPr sz="3600" b="1">
          <a:solidFill>
            <a:schemeClr val="bg1"/>
          </a:solidFill>
          <a:latin typeface="Arial" panose="020B0604020202020204" pitchFamily="34" charset="0"/>
          <a:ea typeface="微软雅黑" panose="020B0503020204020204"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微软雅黑" panose="020B0503020204020204" charset="-122"/>
        </a:defRPr>
      </a:lvl1pPr>
      <a:lvl2pPr marL="742950" indent="-285750" algn="l" rtl="0" eaLnBrk="0" fontAlgn="base" hangingPunct="0">
        <a:spcBef>
          <a:spcPct val="20000"/>
        </a:spcBef>
        <a:spcAft>
          <a:spcPct val="0"/>
        </a:spcAft>
        <a:buChar char="–"/>
        <a:defRPr sz="2400">
          <a:solidFill>
            <a:schemeClr val="tx1"/>
          </a:solidFill>
          <a:latin typeface="+mn-lt"/>
          <a:ea typeface="+mn-ea"/>
          <a:cs typeface="微软雅黑" panose="020B0503020204020204" charset="-122"/>
        </a:defRPr>
      </a:lvl2pPr>
      <a:lvl3pPr marL="1143000" indent="-228600" algn="l" rtl="0" eaLnBrk="0" fontAlgn="base" hangingPunct="0">
        <a:spcBef>
          <a:spcPct val="20000"/>
        </a:spcBef>
        <a:spcAft>
          <a:spcPct val="0"/>
        </a:spcAft>
        <a:buChar char="•"/>
        <a:defRPr sz="2000">
          <a:solidFill>
            <a:schemeClr val="tx1"/>
          </a:solidFill>
          <a:latin typeface="+mn-lt"/>
          <a:ea typeface="+mn-ea"/>
          <a:cs typeface="微软雅黑" panose="020B0503020204020204" charset="-122"/>
        </a:defRPr>
      </a:lvl3pPr>
      <a:lvl4pPr marL="1600200" indent="-228600" algn="l" rtl="0" eaLnBrk="0" fontAlgn="base" hangingPunct="0">
        <a:spcBef>
          <a:spcPct val="20000"/>
        </a:spcBef>
        <a:spcAft>
          <a:spcPct val="0"/>
        </a:spcAft>
        <a:buChar char="–"/>
        <a:defRPr>
          <a:solidFill>
            <a:schemeClr val="tx1"/>
          </a:solidFill>
          <a:latin typeface="+mn-lt"/>
          <a:ea typeface="+mn-ea"/>
          <a:cs typeface="微软雅黑" panose="020B0503020204020204" charset="-122"/>
        </a:defRPr>
      </a:lvl4pPr>
      <a:lvl5pPr marL="2057400" indent="-228600" algn="l" rtl="0" eaLnBrk="0" fontAlgn="base" hangingPunct="0">
        <a:spcBef>
          <a:spcPct val="20000"/>
        </a:spcBef>
        <a:spcAft>
          <a:spcPct val="0"/>
        </a:spcAft>
        <a:buChar char="»"/>
        <a:defRPr>
          <a:solidFill>
            <a:schemeClr val="tx1"/>
          </a:solidFill>
          <a:latin typeface="+mn-lt"/>
          <a:ea typeface="+mn-ea"/>
          <a:cs typeface="微软雅黑" panose="020B0503020204020204" charset="-122"/>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5602" name="标题占位符 1"/>
          <p:cNvSpPr>
            <a:spLocks noGrp="1" noChangeArrowheads="1"/>
          </p:cNvSpPr>
          <p:nvPr>
            <p:ph type="title" idx="4294967295"/>
          </p:nvPr>
        </p:nvSpPr>
        <p:spPr bwMode="auto">
          <a:xfrm>
            <a:off x="457200" y="206375"/>
            <a:ext cx="8229600" cy="857250"/>
          </a:xfrm>
          <a:prstGeom prst="rect">
            <a:avLst/>
          </a:prstGeom>
          <a:noFill/>
          <a:ln w="9525">
            <a:noFill/>
            <a:miter lim="800000"/>
          </a:ln>
        </p:spPr>
        <p:txBody>
          <a:bodyPr vert="horz" wrap="square" lIns="91440" tIns="45720" rIns="91440" bIns="45720" numCol="1" anchor="ctr" anchorCtr="0" compatLnSpc="1"/>
          <a:lstStyle/>
          <a:p>
            <a:pPr lvl="0"/>
            <a:r>
              <a:rPr lang="zh-CN" altLang="en-US">
                <a:sym typeface="Calibri" panose="020F0502020204030204" pitchFamily="34" charset="0"/>
              </a:rPr>
              <a:t>单击此处编辑母版标题样式</a:t>
            </a:r>
          </a:p>
        </p:txBody>
      </p:sp>
      <p:sp>
        <p:nvSpPr>
          <p:cNvPr id="25603" name="文本占位符 2"/>
          <p:cNvSpPr>
            <a:spLocks noGrp="1" noChangeArrowheads="1"/>
          </p:cNvSpPr>
          <p:nvPr>
            <p:ph type="body" idx="1"/>
          </p:nvPr>
        </p:nvSpPr>
        <p:spPr bwMode="auto">
          <a:xfrm>
            <a:off x="457200" y="1200150"/>
            <a:ext cx="8229600" cy="3394075"/>
          </a:xfrm>
          <a:prstGeom prst="rect">
            <a:avLst/>
          </a:prstGeom>
          <a:noFill/>
          <a:ln w="9525">
            <a:noFill/>
            <a:miter lim="800000"/>
          </a:ln>
        </p:spPr>
        <p:txBody>
          <a:bodyPr vert="horz" wrap="square" lIns="91440" tIns="45720" rIns="91440" bIns="45720" numCol="1" anchor="t" anchorCtr="0" compatLnSpc="1"/>
          <a:lstStyle/>
          <a:p>
            <a:pPr lvl="0"/>
            <a:r>
              <a:rPr lang="zh-CN" altLang="en-US">
                <a:sym typeface="Calibri" panose="020F0502020204030204" pitchFamily="34" charset="0"/>
              </a:rPr>
              <a:t>单击此处编辑母版文本样式</a:t>
            </a:r>
          </a:p>
          <a:p>
            <a:pPr lvl="1"/>
            <a:r>
              <a:rPr lang="zh-CN" altLang="en-US">
                <a:sym typeface="Calibri" panose="020F0502020204030204" pitchFamily="34" charset="0"/>
              </a:rPr>
              <a:t>第二级</a:t>
            </a:r>
          </a:p>
          <a:p>
            <a:pPr lvl="2"/>
            <a:r>
              <a:rPr lang="zh-CN" altLang="en-US">
                <a:sym typeface="Calibri" panose="020F0502020204030204" pitchFamily="34" charset="0"/>
              </a:rPr>
              <a:t>第三级</a:t>
            </a:r>
          </a:p>
          <a:p>
            <a:pPr lvl="3"/>
            <a:r>
              <a:rPr lang="zh-CN" altLang="en-US">
                <a:sym typeface="Calibri" panose="020F0502020204030204" pitchFamily="34" charset="0"/>
              </a:rPr>
              <a:t>第四级</a:t>
            </a:r>
          </a:p>
          <a:p>
            <a:pPr lvl="4"/>
            <a:r>
              <a:rPr lang="zh-CN" altLang="en-US">
                <a:sym typeface="Calibri" panose="020F0502020204030204" pitchFamily="34" charset="0"/>
              </a:rPr>
              <a:t>第五级</a:t>
            </a:r>
          </a:p>
        </p:txBody>
      </p:sp>
      <p:sp>
        <p:nvSpPr>
          <p:cNvPr id="1028" name="日期占位符 3"/>
          <p:cNvSpPr>
            <a:spLocks noGrp="1" noChangeArrowheads="1"/>
          </p:cNvSpPr>
          <p:nvPr>
            <p:ph type="dt" sz="half" idx="2"/>
          </p:nvPr>
        </p:nvSpPr>
        <p:spPr bwMode="auto">
          <a:xfrm>
            <a:off x="457200" y="4767263"/>
            <a:ext cx="2133600" cy="274637"/>
          </a:xfrm>
          <a:prstGeom prst="rect">
            <a:avLst/>
          </a:prstGeom>
          <a:noFill/>
          <a:ln w="9525">
            <a:noFill/>
            <a:miter lim="800000"/>
          </a:ln>
        </p:spPr>
        <p:txBody>
          <a:bodyPr vert="horz" wrap="square" lIns="91440" tIns="45720" rIns="91440" bIns="45720" numCol="1" anchor="ctr" anchorCtr="0" compatLnSpc="1"/>
          <a:lstStyle>
            <a:lvl1pPr>
              <a:buFont typeface="Arial" panose="020B0604020202020204" pitchFamily="34" charset="0"/>
              <a:buNone/>
              <a:defRPr sz="1200" b="0">
                <a:solidFill>
                  <a:srgbClr val="898989"/>
                </a:solidFill>
                <a:latin typeface="Arial" panose="020B0604020202020204" pitchFamily="34" charset="0"/>
                <a:ea typeface="宋体" panose="02010600030101010101" pitchFamily="2" charset="-122"/>
                <a:cs typeface="+mn-cs"/>
              </a:defRPr>
            </a:lvl1pPr>
          </a:lstStyle>
          <a:p>
            <a:pPr>
              <a:defRPr/>
            </a:pPr>
            <a:fld id="{72290F5D-1DDD-4C3E-AABB-5E934D122003}" type="datetime1">
              <a:rPr lang="en-US"/>
              <a:t>5/28/2025</a:t>
            </a:fld>
            <a:endParaRPr lang="zh-CN" altLang="en-US"/>
          </a:p>
        </p:txBody>
      </p:sp>
      <p:sp>
        <p:nvSpPr>
          <p:cNvPr id="1029" name="页脚占位符 4"/>
          <p:cNvSpPr>
            <a:spLocks noGrp="1" noChangeArrowheads="1"/>
          </p:cNvSpPr>
          <p:nvPr>
            <p:ph type="ftr" sz="quarter" idx="3"/>
          </p:nvPr>
        </p:nvSpPr>
        <p:spPr bwMode="auto">
          <a:xfrm>
            <a:off x="3124200" y="4767263"/>
            <a:ext cx="2895600" cy="274637"/>
          </a:xfrm>
          <a:prstGeom prst="rect">
            <a:avLst/>
          </a:prstGeom>
          <a:noFill/>
          <a:ln w="9525">
            <a:noFill/>
            <a:miter lim="800000"/>
          </a:ln>
        </p:spPr>
        <p:txBody>
          <a:bodyPr vert="horz" wrap="square" lIns="91440" tIns="45720" rIns="91440" bIns="45720" numCol="1" anchor="ctr" anchorCtr="0" compatLnSpc="1"/>
          <a:lstStyle>
            <a:lvl1pPr algn="ctr">
              <a:buFont typeface="Arial" panose="020B0604020202020204" pitchFamily="34" charset="0"/>
              <a:buNone/>
              <a:defRPr sz="1200">
                <a:solidFill>
                  <a:srgbClr val="898989"/>
                </a:solidFill>
                <a:ea typeface="+mn-ea"/>
                <a:cs typeface="+mn-cs"/>
              </a:defRPr>
            </a:lvl1pPr>
          </a:lstStyle>
          <a:p>
            <a:pPr>
              <a:defRPr/>
            </a:pPr>
            <a:endParaRPr lang="en-US" altLang="zh-CN"/>
          </a:p>
        </p:txBody>
      </p:sp>
      <p:sp>
        <p:nvSpPr>
          <p:cNvPr id="1030" name="灯片编号占位符 5"/>
          <p:cNvSpPr>
            <a:spLocks noGrp="1" noChangeArrowheads="1"/>
          </p:cNvSpPr>
          <p:nvPr>
            <p:ph type="sldNum" sz="quarter" idx="4"/>
          </p:nvPr>
        </p:nvSpPr>
        <p:spPr bwMode="auto">
          <a:xfrm>
            <a:off x="6553200" y="4767263"/>
            <a:ext cx="2133600" cy="274637"/>
          </a:xfrm>
          <a:prstGeom prst="rect">
            <a:avLst/>
          </a:prstGeom>
          <a:noFill/>
          <a:ln w="9525">
            <a:noFill/>
            <a:miter lim="800000"/>
          </a:ln>
        </p:spPr>
        <p:txBody>
          <a:bodyPr vert="horz" wrap="square" lIns="91440" tIns="45720" rIns="91440" bIns="45720" numCol="1" anchor="ctr" anchorCtr="0" compatLnSpc="1"/>
          <a:lstStyle>
            <a:lvl1pPr algn="r">
              <a:buFont typeface="Arial" panose="020B0604020202020204" pitchFamily="34" charset="0"/>
              <a:buNone/>
              <a:defRPr sz="1200" b="0">
                <a:solidFill>
                  <a:srgbClr val="898989"/>
                </a:solidFill>
                <a:latin typeface="Arial" panose="020B0604020202020204" pitchFamily="34" charset="0"/>
                <a:ea typeface="宋体" panose="02010600030101010101" pitchFamily="2" charset="-122"/>
                <a:cs typeface="+mn-cs"/>
              </a:defRPr>
            </a:lvl1pPr>
          </a:lstStyle>
          <a:p>
            <a:pPr>
              <a:defRPr/>
            </a:pPr>
            <a:fld id="{608DF03A-3F91-44C2-BCC8-9D0E31DB4166}"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marL="914400" indent="-914400"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tv.sohu.com/v/dXMvOTgzMTI3ODIvMzIxNzMwMjk0LnNodG1s.html?key=/v/dXMvOTgzMTI3ODIvMzIxNzMwMjk0LnNodG1s.html?vid=321730294&amp;vid=321730294"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haokan.baidu.com/v?pd=wisenatural&amp;vid=8891372180991364653"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521109" y="2500312"/>
            <a:ext cx="6152646" cy="584775"/>
          </a:xfrm>
          <a:prstGeom prst="rect">
            <a:avLst/>
          </a:prstGeom>
          <a:noFill/>
        </p:spPr>
        <p:txBody>
          <a:bodyPr wrap="none">
            <a:spAutoFit/>
          </a:bodyPr>
          <a:lstStyle/>
          <a:p>
            <a:pPr algn="ctr" fontAlgn="auto">
              <a:spcBef>
                <a:spcPts val="0"/>
              </a:spcBef>
              <a:spcAft>
                <a:spcPts val="0"/>
              </a:spcAft>
              <a:defRPr/>
            </a:pPr>
            <a:r>
              <a:rPr lang="zh-CN" altLang="en-US" sz="3200"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ea"/>
                <a:ea typeface="+mj-ea"/>
                <a:cs typeface="+mn-cs"/>
              </a:rPr>
              <a:t>第九节 </a:t>
            </a:r>
            <a:r>
              <a:rPr lang="zh-CN" alt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ea"/>
                <a:ea typeface="+mj-ea"/>
                <a:cs typeface="+mn-cs"/>
              </a:rPr>
              <a:t>妨害国（边）境犯罪案件</a:t>
            </a:r>
          </a:p>
        </p:txBody>
      </p:sp>
      <p:pic>
        <p:nvPicPr>
          <p:cNvPr id="4" name="图片 5" descr="警徽.png"/>
          <p:cNvPicPr>
            <a:picLocks noChangeAspect="1"/>
          </p:cNvPicPr>
          <p:nvPr/>
        </p:nvPicPr>
        <p:blipFill>
          <a:blip r:embed="rId2" cstate="print"/>
          <a:srcRect/>
          <a:stretch>
            <a:fillRect/>
          </a:stretch>
        </p:blipFill>
        <p:spPr bwMode="auto">
          <a:xfrm>
            <a:off x="4140200" y="268288"/>
            <a:ext cx="1008063" cy="1008062"/>
          </a:xfrm>
          <a:prstGeom prst="rect">
            <a:avLst/>
          </a:prstGeom>
          <a:noFill/>
          <a:ln w="9525">
            <a:noFill/>
            <a:miter lim="800000"/>
            <a:headEnd/>
            <a:tailEnd/>
          </a:ln>
        </p:spPr>
      </p:pic>
      <p:sp>
        <p:nvSpPr>
          <p:cNvPr id="5" name="矩形 4"/>
          <p:cNvSpPr/>
          <p:nvPr/>
        </p:nvSpPr>
        <p:spPr>
          <a:xfrm>
            <a:off x="1714480" y="1357304"/>
            <a:ext cx="5538696" cy="646331"/>
          </a:xfrm>
          <a:prstGeom prst="rect">
            <a:avLst/>
          </a:prstGeom>
          <a:noFill/>
        </p:spPr>
        <p:txBody>
          <a:bodyPr wrap="none">
            <a:spAutoFit/>
          </a:bodyPr>
          <a:lstStyle/>
          <a:p>
            <a:pPr algn="ctr" fontAlgn="auto">
              <a:spcBef>
                <a:spcPts val="0"/>
              </a:spcBef>
              <a:spcAft>
                <a:spcPts val="0"/>
              </a:spcAft>
              <a:defRPr/>
            </a:pPr>
            <a:r>
              <a:rPr lang="zh-CN" alt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ea"/>
                <a:ea typeface="+mj-ea"/>
                <a:cs typeface="+mn-cs"/>
              </a:rPr>
              <a:t>第四章  涉外刑事案件处置</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428596" y="714362"/>
            <a:ext cx="1785950" cy="369332"/>
          </a:xfrm>
          <a:prstGeom prst="rect">
            <a:avLst/>
          </a:prstGeom>
          <a:noFill/>
          <a:ln>
            <a:solidFill>
              <a:srgbClr val="1143CF"/>
            </a:solidFill>
          </a:ln>
        </p:spPr>
        <p:txBody>
          <a:bodyPr wrap="square" rtlCol="0">
            <a:spAutoFit/>
          </a:bodyPr>
          <a:lstStyle/>
          <a:p>
            <a:r>
              <a:rPr lang="zh-CN" altLang="en-US" b="1" dirty="0"/>
              <a:t>教学目的与要求</a:t>
            </a:r>
          </a:p>
        </p:txBody>
      </p:sp>
      <p:sp>
        <p:nvSpPr>
          <p:cNvPr id="23" name="TextBox 22"/>
          <p:cNvSpPr txBox="1"/>
          <p:nvPr/>
        </p:nvSpPr>
        <p:spPr>
          <a:xfrm>
            <a:off x="1857356" y="1500180"/>
            <a:ext cx="6500858" cy="400110"/>
          </a:xfrm>
          <a:prstGeom prst="rect">
            <a:avLst/>
          </a:prstGeom>
          <a:noFill/>
        </p:spPr>
        <p:txBody>
          <a:bodyPr wrap="square" rtlCol="0">
            <a:spAutoFit/>
          </a:bodyPr>
          <a:lstStyle/>
          <a:p>
            <a:r>
              <a:rPr lang="en-US" altLang="zh-CN" sz="2000" b="1" dirty="0">
                <a:solidFill>
                  <a:srgbClr val="0070C0"/>
                </a:solidFill>
              </a:rPr>
              <a:t>1.</a:t>
            </a:r>
            <a:r>
              <a:rPr lang="zh-CN" altLang="en-US" sz="2000" b="1" dirty="0">
                <a:solidFill>
                  <a:srgbClr val="0070C0"/>
                </a:solidFill>
              </a:rPr>
              <a:t> 掌握妨害国（边）境犯罪的类型与犯罪构成</a:t>
            </a:r>
          </a:p>
        </p:txBody>
      </p:sp>
      <p:sp>
        <p:nvSpPr>
          <p:cNvPr id="9" name="TextBox 8"/>
          <p:cNvSpPr txBox="1"/>
          <p:nvPr/>
        </p:nvSpPr>
        <p:spPr>
          <a:xfrm>
            <a:off x="1857356" y="2071684"/>
            <a:ext cx="6500858" cy="400110"/>
          </a:xfrm>
          <a:prstGeom prst="rect">
            <a:avLst/>
          </a:prstGeom>
          <a:noFill/>
        </p:spPr>
        <p:txBody>
          <a:bodyPr wrap="square" rtlCol="0">
            <a:spAutoFit/>
          </a:bodyPr>
          <a:lstStyle/>
          <a:p>
            <a:r>
              <a:rPr lang="en-US" altLang="zh-CN" sz="2000" b="1" dirty="0">
                <a:solidFill>
                  <a:srgbClr val="0070C0"/>
                </a:solidFill>
              </a:rPr>
              <a:t>2.</a:t>
            </a:r>
            <a:r>
              <a:rPr lang="zh-CN" altLang="en-US" sz="2000" b="1" dirty="0">
                <a:solidFill>
                  <a:srgbClr val="0070C0"/>
                </a:solidFill>
              </a:rPr>
              <a:t> 掌握犯罪成立的标准、此罪与彼罪的区分</a:t>
            </a:r>
          </a:p>
        </p:txBody>
      </p:sp>
      <p:sp>
        <p:nvSpPr>
          <p:cNvPr id="10" name="TextBox 9"/>
          <p:cNvSpPr txBox="1"/>
          <p:nvPr/>
        </p:nvSpPr>
        <p:spPr>
          <a:xfrm>
            <a:off x="1857356" y="2571750"/>
            <a:ext cx="6500858" cy="400110"/>
          </a:xfrm>
          <a:prstGeom prst="rect">
            <a:avLst/>
          </a:prstGeom>
          <a:noFill/>
        </p:spPr>
        <p:txBody>
          <a:bodyPr wrap="square" rtlCol="0">
            <a:spAutoFit/>
          </a:bodyPr>
          <a:lstStyle/>
          <a:p>
            <a:r>
              <a:rPr lang="en-US" altLang="zh-CN" sz="2000" b="1" dirty="0">
                <a:solidFill>
                  <a:srgbClr val="0070C0"/>
                </a:solidFill>
              </a:rPr>
              <a:t>3.</a:t>
            </a:r>
            <a:r>
              <a:rPr lang="zh-CN" altLang="en-US" sz="2000" b="1" dirty="0">
                <a:solidFill>
                  <a:srgbClr val="0070C0"/>
                </a:solidFill>
              </a:rPr>
              <a:t> 掌握公安机关查明犯罪嫌疑人国籍与身份的规则</a:t>
            </a:r>
          </a:p>
        </p:txBody>
      </p:sp>
      <p:sp>
        <p:nvSpPr>
          <p:cNvPr id="11" name="TextBox 10"/>
          <p:cNvSpPr txBox="1"/>
          <p:nvPr/>
        </p:nvSpPr>
        <p:spPr>
          <a:xfrm>
            <a:off x="1857356" y="3071816"/>
            <a:ext cx="6500858" cy="707886"/>
          </a:xfrm>
          <a:prstGeom prst="rect">
            <a:avLst/>
          </a:prstGeom>
          <a:noFill/>
        </p:spPr>
        <p:txBody>
          <a:bodyPr wrap="square" rtlCol="0">
            <a:spAutoFit/>
          </a:bodyPr>
          <a:lstStyle/>
          <a:p>
            <a:r>
              <a:rPr lang="en-US" altLang="zh-CN" sz="2000" b="1" dirty="0">
                <a:solidFill>
                  <a:srgbClr val="0070C0"/>
                </a:solidFill>
              </a:rPr>
              <a:t>4.</a:t>
            </a:r>
            <a:r>
              <a:rPr lang="zh-CN" altLang="en-US" sz="2000" b="1" dirty="0">
                <a:solidFill>
                  <a:srgbClr val="0070C0"/>
                </a:solidFill>
              </a:rPr>
              <a:t> 掌握公安机关办理刑事案件中语言的使用与律师聘请</a:t>
            </a:r>
            <a:br>
              <a:rPr lang="en-US" altLang="zh-CN" sz="2000" b="1" dirty="0">
                <a:solidFill>
                  <a:srgbClr val="0070C0"/>
                </a:solidFill>
              </a:rPr>
            </a:br>
            <a:r>
              <a:rPr lang="en-US" altLang="zh-CN" sz="2000" b="1" dirty="0">
                <a:solidFill>
                  <a:srgbClr val="0070C0"/>
                </a:solidFill>
              </a:rPr>
              <a:t>    </a:t>
            </a:r>
            <a:r>
              <a:rPr lang="zh-CN" altLang="en-US" sz="2000" b="1" dirty="0">
                <a:solidFill>
                  <a:srgbClr val="0070C0"/>
                </a:solidFill>
              </a:rPr>
              <a:t>的规则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428596" y="714362"/>
            <a:ext cx="1785950" cy="369332"/>
          </a:xfrm>
          <a:prstGeom prst="rect">
            <a:avLst/>
          </a:prstGeom>
          <a:noFill/>
          <a:ln>
            <a:solidFill>
              <a:srgbClr val="1143CF"/>
            </a:solidFill>
          </a:ln>
        </p:spPr>
        <p:txBody>
          <a:bodyPr wrap="square" rtlCol="0">
            <a:spAutoFit/>
          </a:bodyPr>
          <a:lstStyle/>
          <a:p>
            <a:r>
              <a:rPr lang="zh-CN" altLang="en-US" b="1" dirty="0"/>
              <a:t>教学重点与难点</a:t>
            </a:r>
          </a:p>
        </p:txBody>
      </p:sp>
      <p:sp>
        <p:nvSpPr>
          <p:cNvPr id="23" name="TextBox 22"/>
          <p:cNvSpPr txBox="1"/>
          <p:nvPr/>
        </p:nvSpPr>
        <p:spPr>
          <a:xfrm>
            <a:off x="1857356" y="1500180"/>
            <a:ext cx="6500858" cy="400110"/>
          </a:xfrm>
          <a:prstGeom prst="rect">
            <a:avLst/>
          </a:prstGeom>
          <a:noFill/>
        </p:spPr>
        <p:txBody>
          <a:bodyPr wrap="square" rtlCol="0">
            <a:spAutoFit/>
          </a:bodyPr>
          <a:lstStyle/>
          <a:p>
            <a:r>
              <a:rPr lang="en-US" altLang="zh-CN" sz="2000" b="1" dirty="0">
                <a:solidFill>
                  <a:srgbClr val="0070C0"/>
                </a:solidFill>
              </a:rPr>
              <a:t>1.</a:t>
            </a:r>
            <a:r>
              <a:rPr lang="zh-CN" altLang="en-US" sz="2000" b="1" dirty="0">
                <a:solidFill>
                  <a:srgbClr val="0070C0"/>
                </a:solidFill>
              </a:rPr>
              <a:t> 加重法定刑与数罪并罚</a:t>
            </a:r>
          </a:p>
        </p:txBody>
      </p:sp>
      <p:sp>
        <p:nvSpPr>
          <p:cNvPr id="9" name="TextBox 8"/>
          <p:cNvSpPr txBox="1"/>
          <p:nvPr/>
        </p:nvSpPr>
        <p:spPr>
          <a:xfrm>
            <a:off x="1857356" y="2571750"/>
            <a:ext cx="6500858" cy="400110"/>
          </a:xfrm>
          <a:prstGeom prst="rect">
            <a:avLst/>
          </a:prstGeom>
          <a:noFill/>
        </p:spPr>
        <p:txBody>
          <a:bodyPr wrap="square" rtlCol="0">
            <a:spAutoFit/>
          </a:bodyPr>
          <a:lstStyle/>
          <a:p>
            <a:r>
              <a:rPr lang="en-US" altLang="zh-CN" sz="2000" b="1" dirty="0">
                <a:solidFill>
                  <a:srgbClr val="0070C0"/>
                </a:solidFill>
              </a:rPr>
              <a:t>2.</a:t>
            </a:r>
            <a:r>
              <a:rPr lang="zh-CN" altLang="en-US" sz="2000" b="1" dirty="0">
                <a:solidFill>
                  <a:srgbClr val="0070C0"/>
                </a:solidFill>
              </a:rPr>
              <a:t> 牵连犯与竞合犯的处断</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428596" y="714362"/>
            <a:ext cx="1785950" cy="369332"/>
          </a:xfrm>
          <a:prstGeom prst="rect">
            <a:avLst/>
          </a:prstGeom>
          <a:noFill/>
          <a:ln>
            <a:solidFill>
              <a:srgbClr val="1143CF"/>
            </a:solidFill>
          </a:ln>
        </p:spPr>
        <p:txBody>
          <a:bodyPr wrap="square" rtlCol="0">
            <a:spAutoFit/>
          </a:bodyPr>
          <a:lstStyle/>
          <a:p>
            <a:r>
              <a:rPr lang="zh-CN" altLang="en-US" b="1" dirty="0"/>
              <a:t>课程思政元素</a:t>
            </a:r>
          </a:p>
        </p:txBody>
      </p:sp>
      <p:sp>
        <p:nvSpPr>
          <p:cNvPr id="23" name="TextBox 22"/>
          <p:cNvSpPr txBox="1"/>
          <p:nvPr/>
        </p:nvSpPr>
        <p:spPr>
          <a:xfrm>
            <a:off x="1214414" y="1500180"/>
            <a:ext cx="6929486" cy="1323439"/>
          </a:xfrm>
          <a:prstGeom prst="rect">
            <a:avLst/>
          </a:prstGeom>
          <a:noFill/>
        </p:spPr>
        <p:txBody>
          <a:bodyPr wrap="square" rtlCol="0">
            <a:spAutoFit/>
          </a:bodyPr>
          <a:lstStyle/>
          <a:p>
            <a:r>
              <a:rPr lang="zh-CN" altLang="en-US" sz="2000" b="1" dirty="0">
                <a:solidFill>
                  <a:srgbClr val="0070C0"/>
                </a:solidFill>
              </a:rPr>
              <a:t>通过妨害国（边）境犯罪内容的学习，加深刑法学的理论知识，为办理涉外刑事案件奠定法律知识基础；通过典型案例分析，培养法律思维和法律意识，自觉维护我国国（边）境安全和管理秩序。</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p:cNvSpPr txBox="1"/>
          <p:nvPr/>
        </p:nvSpPr>
        <p:spPr>
          <a:xfrm>
            <a:off x="214282" y="141288"/>
            <a:ext cx="8678893" cy="461665"/>
          </a:xfrm>
          <a:prstGeom prst="rect">
            <a:avLst/>
          </a:prstGeom>
          <a:noFill/>
          <a:effectLst>
            <a:outerShdw blurRad="50800" dist="38100" dir="8100000" algn="tr" rotWithShape="0">
              <a:prstClr val="black">
                <a:alpha val="40000"/>
              </a:prstClr>
            </a:outerShdw>
          </a:effectLst>
        </p:spPr>
        <p:txBody>
          <a:bodyPr wrap="square">
            <a:spAutoFit/>
          </a:bodyPr>
          <a:lstStyle/>
          <a:p>
            <a:pPr algn="ctr" fontAlgn="auto">
              <a:spcBef>
                <a:spcPts val="0"/>
              </a:spcBef>
              <a:spcAft>
                <a:spcPts val="0"/>
              </a:spcAft>
              <a:defRPr/>
            </a:pPr>
            <a:r>
              <a:rPr lang="zh-CN" altLang="en-US" sz="2400" b="1" dirty="0">
                <a:solidFill>
                  <a:schemeClr val="bg1"/>
                </a:solidFill>
                <a:effectLst>
                  <a:outerShdw blurRad="38100" dist="38100" dir="2700000" algn="tl">
                    <a:srgbClr val="000000">
                      <a:alpha val="43137"/>
                    </a:srgbClr>
                  </a:outerShdw>
                </a:effectLst>
                <a:latin typeface="+mn-ea"/>
                <a:ea typeface="+mn-ea"/>
                <a:cs typeface="+mn-cs"/>
              </a:rPr>
              <a:t>概     述</a:t>
            </a:r>
          </a:p>
        </p:txBody>
      </p:sp>
      <p:sp>
        <p:nvSpPr>
          <p:cNvPr id="2" name="文本框 1"/>
          <p:cNvSpPr txBox="1"/>
          <p:nvPr/>
        </p:nvSpPr>
        <p:spPr>
          <a:xfrm>
            <a:off x="725785" y="1668145"/>
            <a:ext cx="461665" cy="1551305"/>
          </a:xfrm>
          <a:prstGeom prst="rect">
            <a:avLst/>
          </a:prstGeom>
          <a:solidFill>
            <a:schemeClr val="bg1">
              <a:lumMod val="65000"/>
            </a:schemeClr>
          </a:solidFill>
          <a:ln>
            <a:solidFill>
              <a:srgbClr val="1143CF"/>
            </a:solidFill>
          </a:ln>
        </p:spPr>
        <p:txBody>
          <a:bodyPr vert="eaVert" wrap="square" rtlCol="0">
            <a:spAutoFit/>
          </a:bodyPr>
          <a:lstStyle/>
          <a:p>
            <a:pPr algn="ctr"/>
            <a:r>
              <a:rPr lang="zh-CN" altLang="en-US" dirty="0"/>
              <a:t>犯罪类型</a:t>
            </a:r>
          </a:p>
        </p:txBody>
      </p:sp>
      <p:sp>
        <p:nvSpPr>
          <p:cNvPr id="16" name="TextBox 15"/>
          <p:cNvSpPr txBox="1"/>
          <p:nvPr/>
        </p:nvSpPr>
        <p:spPr>
          <a:xfrm>
            <a:off x="1835696" y="987574"/>
            <a:ext cx="3312368" cy="369332"/>
          </a:xfrm>
          <a:prstGeom prst="rect">
            <a:avLst/>
          </a:prstGeom>
          <a:noFill/>
        </p:spPr>
        <p:txBody>
          <a:bodyPr wrap="square" rtlCol="0">
            <a:spAutoFit/>
          </a:bodyPr>
          <a:lstStyle/>
          <a:p>
            <a:r>
              <a:rPr lang="en-US" altLang="zh-CN" b="1" dirty="0"/>
              <a:t>1. </a:t>
            </a:r>
            <a:r>
              <a:rPr lang="zh-CN" altLang="en-US" b="1" dirty="0"/>
              <a:t>偷越国（边）境罪</a:t>
            </a:r>
          </a:p>
        </p:txBody>
      </p:sp>
      <p:sp>
        <p:nvSpPr>
          <p:cNvPr id="19" name="TextBox 18"/>
          <p:cNvSpPr txBox="1"/>
          <p:nvPr/>
        </p:nvSpPr>
        <p:spPr>
          <a:xfrm>
            <a:off x="1857356" y="2357436"/>
            <a:ext cx="2952328" cy="369332"/>
          </a:xfrm>
          <a:prstGeom prst="rect">
            <a:avLst/>
          </a:prstGeom>
          <a:noFill/>
        </p:spPr>
        <p:txBody>
          <a:bodyPr wrap="square" rtlCol="0">
            <a:spAutoFit/>
          </a:bodyPr>
          <a:lstStyle/>
          <a:p>
            <a:r>
              <a:rPr lang="en-US" altLang="zh-CN" b="1" dirty="0"/>
              <a:t>4. </a:t>
            </a:r>
            <a:r>
              <a:rPr lang="zh-CN" altLang="en-US" b="1" dirty="0"/>
              <a:t>骗取出境证件罪</a:t>
            </a:r>
          </a:p>
        </p:txBody>
      </p:sp>
      <p:sp>
        <p:nvSpPr>
          <p:cNvPr id="20" name="TextBox 19"/>
          <p:cNvSpPr txBox="1"/>
          <p:nvPr/>
        </p:nvSpPr>
        <p:spPr>
          <a:xfrm>
            <a:off x="1857356" y="3357568"/>
            <a:ext cx="4248472" cy="369332"/>
          </a:xfrm>
          <a:prstGeom prst="rect">
            <a:avLst/>
          </a:prstGeom>
          <a:noFill/>
        </p:spPr>
        <p:txBody>
          <a:bodyPr wrap="square" rtlCol="0">
            <a:spAutoFit/>
          </a:bodyPr>
          <a:lstStyle/>
          <a:p>
            <a:r>
              <a:rPr lang="en-US" altLang="zh-CN" b="1" dirty="0"/>
              <a:t>6. </a:t>
            </a:r>
            <a:r>
              <a:rPr lang="zh-CN" altLang="en-US" b="1" dirty="0"/>
              <a:t>提供伪造、变造的出入境证件罪</a:t>
            </a:r>
          </a:p>
        </p:txBody>
      </p:sp>
      <p:sp>
        <p:nvSpPr>
          <p:cNvPr id="21" name="TextBox 20"/>
          <p:cNvSpPr txBox="1"/>
          <p:nvPr/>
        </p:nvSpPr>
        <p:spPr>
          <a:xfrm>
            <a:off x="1857356" y="2786064"/>
            <a:ext cx="4392488" cy="369332"/>
          </a:xfrm>
          <a:prstGeom prst="rect">
            <a:avLst/>
          </a:prstGeom>
          <a:noFill/>
        </p:spPr>
        <p:txBody>
          <a:bodyPr wrap="square" rtlCol="0">
            <a:spAutoFit/>
          </a:bodyPr>
          <a:lstStyle/>
          <a:p>
            <a:r>
              <a:rPr lang="en-US" altLang="zh-CN" b="1" dirty="0"/>
              <a:t>5. </a:t>
            </a:r>
            <a:r>
              <a:rPr lang="zh-CN" altLang="en-US" b="1" dirty="0"/>
              <a:t>出售出入境证件罪</a:t>
            </a:r>
          </a:p>
        </p:txBody>
      </p:sp>
      <p:sp>
        <p:nvSpPr>
          <p:cNvPr id="22" name="TextBox 21"/>
          <p:cNvSpPr txBox="1"/>
          <p:nvPr/>
        </p:nvSpPr>
        <p:spPr>
          <a:xfrm>
            <a:off x="1857356" y="1928808"/>
            <a:ext cx="3888432" cy="369332"/>
          </a:xfrm>
          <a:prstGeom prst="rect">
            <a:avLst/>
          </a:prstGeom>
          <a:noFill/>
        </p:spPr>
        <p:txBody>
          <a:bodyPr wrap="square" rtlCol="0">
            <a:spAutoFit/>
          </a:bodyPr>
          <a:lstStyle/>
          <a:p>
            <a:r>
              <a:rPr lang="en-US" altLang="zh-CN" b="1" dirty="0"/>
              <a:t>3. </a:t>
            </a:r>
            <a:r>
              <a:rPr lang="zh-CN" altLang="en-US" b="1" dirty="0"/>
              <a:t>运送他人偷越国（边）境罪</a:t>
            </a:r>
          </a:p>
        </p:txBody>
      </p:sp>
      <p:sp>
        <p:nvSpPr>
          <p:cNvPr id="23" name="TextBox 22"/>
          <p:cNvSpPr txBox="1"/>
          <p:nvPr/>
        </p:nvSpPr>
        <p:spPr>
          <a:xfrm>
            <a:off x="1857356" y="1500180"/>
            <a:ext cx="3816424" cy="369332"/>
          </a:xfrm>
          <a:prstGeom prst="rect">
            <a:avLst/>
          </a:prstGeom>
          <a:noFill/>
        </p:spPr>
        <p:txBody>
          <a:bodyPr wrap="square" rtlCol="0">
            <a:spAutoFit/>
          </a:bodyPr>
          <a:lstStyle/>
          <a:p>
            <a:r>
              <a:rPr lang="en-US" altLang="zh-CN" b="1" dirty="0"/>
              <a:t>2.</a:t>
            </a:r>
            <a:r>
              <a:rPr lang="zh-CN" altLang="en-US" b="1" dirty="0"/>
              <a:t>组织他人 偷越国（边）境罪</a:t>
            </a:r>
          </a:p>
        </p:txBody>
      </p:sp>
      <p:sp>
        <p:nvSpPr>
          <p:cNvPr id="24" name="TextBox 23"/>
          <p:cNvSpPr txBox="1"/>
          <p:nvPr/>
        </p:nvSpPr>
        <p:spPr>
          <a:xfrm>
            <a:off x="1857356" y="3857634"/>
            <a:ext cx="4680520" cy="369332"/>
          </a:xfrm>
          <a:prstGeom prst="rect">
            <a:avLst/>
          </a:prstGeom>
          <a:noFill/>
        </p:spPr>
        <p:txBody>
          <a:bodyPr wrap="square" rtlCol="0">
            <a:spAutoFit/>
          </a:bodyPr>
          <a:lstStyle/>
          <a:p>
            <a:r>
              <a:rPr lang="en-US" altLang="zh-CN" b="1" dirty="0"/>
              <a:t>7. </a:t>
            </a:r>
            <a:r>
              <a:rPr lang="zh-CN" altLang="en-US" b="1" dirty="0"/>
              <a:t>破坏界碑、界桩罪</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p:cNvSpPr txBox="1"/>
          <p:nvPr/>
        </p:nvSpPr>
        <p:spPr>
          <a:xfrm>
            <a:off x="214282" y="141288"/>
            <a:ext cx="8678893" cy="461665"/>
          </a:xfrm>
          <a:prstGeom prst="rect">
            <a:avLst/>
          </a:prstGeom>
          <a:noFill/>
          <a:effectLst>
            <a:outerShdw blurRad="50800" dist="38100" dir="8100000" algn="tr" rotWithShape="0">
              <a:prstClr val="black">
                <a:alpha val="40000"/>
              </a:prstClr>
            </a:outerShdw>
          </a:effectLst>
        </p:spPr>
        <p:txBody>
          <a:bodyPr wrap="square">
            <a:spAutoFit/>
          </a:bodyPr>
          <a:lstStyle/>
          <a:p>
            <a:pPr algn="ctr" fontAlgn="auto">
              <a:spcBef>
                <a:spcPts val="0"/>
              </a:spcBef>
              <a:spcAft>
                <a:spcPts val="0"/>
              </a:spcAft>
              <a:defRPr/>
            </a:pPr>
            <a:r>
              <a:rPr lang="zh-CN" altLang="en-US" sz="2400" b="1" dirty="0">
                <a:solidFill>
                  <a:schemeClr val="bg1"/>
                </a:solidFill>
                <a:effectLst>
                  <a:outerShdw blurRad="38100" dist="38100" dir="2700000" algn="tl">
                    <a:srgbClr val="000000">
                      <a:alpha val="43137"/>
                    </a:srgbClr>
                  </a:outerShdw>
                </a:effectLst>
                <a:latin typeface="+mn-ea"/>
                <a:ea typeface="+mn-ea"/>
                <a:cs typeface="+mn-cs"/>
              </a:rPr>
              <a:t>概     述</a:t>
            </a:r>
          </a:p>
        </p:txBody>
      </p:sp>
      <p:sp>
        <p:nvSpPr>
          <p:cNvPr id="2" name="文本框 1"/>
          <p:cNvSpPr txBox="1"/>
          <p:nvPr/>
        </p:nvSpPr>
        <p:spPr>
          <a:xfrm>
            <a:off x="725785" y="1668145"/>
            <a:ext cx="461665" cy="1551305"/>
          </a:xfrm>
          <a:prstGeom prst="rect">
            <a:avLst/>
          </a:prstGeom>
          <a:solidFill>
            <a:schemeClr val="bg1">
              <a:lumMod val="65000"/>
            </a:schemeClr>
          </a:solidFill>
          <a:ln>
            <a:solidFill>
              <a:srgbClr val="1143CF"/>
            </a:solidFill>
          </a:ln>
        </p:spPr>
        <p:txBody>
          <a:bodyPr vert="eaVert" wrap="square" rtlCol="0">
            <a:spAutoFit/>
          </a:bodyPr>
          <a:lstStyle/>
          <a:p>
            <a:pPr algn="ctr"/>
            <a:r>
              <a:rPr lang="zh-CN" altLang="en-US" dirty="0"/>
              <a:t>犯罪类型</a:t>
            </a:r>
          </a:p>
        </p:txBody>
      </p:sp>
      <p:sp>
        <p:nvSpPr>
          <p:cNvPr id="16" name="TextBox 15"/>
          <p:cNvSpPr txBox="1"/>
          <p:nvPr/>
        </p:nvSpPr>
        <p:spPr>
          <a:xfrm>
            <a:off x="1835696" y="987574"/>
            <a:ext cx="3312368" cy="369332"/>
          </a:xfrm>
          <a:prstGeom prst="rect">
            <a:avLst/>
          </a:prstGeom>
          <a:noFill/>
        </p:spPr>
        <p:txBody>
          <a:bodyPr wrap="square" rtlCol="0">
            <a:spAutoFit/>
          </a:bodyPr>
          <a:lstStyle/>
          <a:p>
            <a:r>
              <a:rPr lang="en-US" altLang="zh-CN" b="1" dirty="0">
                <a:solidFill>
                  <a:srgbClr val="1143CF"/>
                </a:solidFill>
              </a:rPr>
              <a:t>1. </a:t>
            </a:r>
            <a:r>
              <a:rPr lang="zh-CN" altLang="en-US" b="1" dirty="0">
                <a:solidFill>
                  <a:srgbClr val="1143CF"/>
                </a:solidFill>
              </a:rPr>
              <a:t>偷越国（边）境罪</a:t>
            </a:r>
          </a:p>
        </p:txBody>
      </p:sp>
      <p:sp>
        <p:nvSpPr>
          <p:cNvPr id="19" name="TextBox 18"/>
          <p:cNvSpPr txBox="1"/>
          <p:nvPr/>
        </p:nvSpPr>
        <p:spPr>
          <a:xfrm>
            <a:off x="1857356" y="2357436"/>
            <a:ext cx="2952328" cy="369332"/>
          </a:xfrm>
          <a:prstGeom prst="rect">
            <a:avLst/>
          </a:prstGeom>
          <a:noFill/>
        </p:spPr>
        <p:txBody>
          <a:bodyPr wrap="square" rtlCol="0">
            <a:spAutoFit/>
          </a:bodyPr>
          <a:lstStyle/>
          <a:p>
            <a:r>
              <a:rPr lang="en-US" altLang="zh-CN" b="1" dirty="0"/>
              <a:t>4. </a:t>
            </a:r>
            <a:r>
              <a:rPr lang="zh-CN" altLang="en-US" b="1" dirty="0"/>
              <a:t>骗取出境证件罪</a:t>
            </a:r>
          </a:p>
        </p:txBody>
      </p:sp>
      <p:sp>
        <p:nvSpPr>
          <p:cNvPr id="20" name="TextBox 19"/>
          <p:cNvSpPr txBox="1"/>
          <p:nvPr/>
        </p:nvSpPr>
        <p:spPr>
          <a:xfrm>
            <a:off x="1857356" y="3357568"/>
            <a:ext cx="4248472" cy="369332"/>
          </a:xfrm>
          <a:prstGeom prst="rect">
            <a:avLst/>
          </a:prstGeom>
          <a:noFill/>
        </p:spPr>
        <p:txBody>
          <a:bodyPr wrap="square" rtlCol="0">
            <a:spAutoFit/>
          </a:bodyPr>
          <a:lstStyle/>
          <a:p>
            <a:r>
              <a:rPr lang="en-US" altLang="zh-CN" b="1" dirty="0"/>
              <a:t>6. </a:t>
            </a:r>
            <a:r>
              <a:rPr lang="zh-CN" altLang="en-US" b="1" dirty="0"/>
              <a:t>提供伪造、变造的出入境证件罪</a:t>
            </a:r>
          </a:p>
        </p:txBody>
      </p:sp>
      <p:sp>
        <p:nvSpPr>
          <p:cNvPr id="21" name="TextBox 20"/>
          <p:cNvSpPr txBox="1"/>
          <p:nvPr/>
        </p:nvSpPr>
        <p:spPr>
          <a:xfrm>
            <a:off x="1857356" y="2786064"/>
            <a:ext cx="4392488" cy="369332"/>
          </a:xfrm>
          <a:prstGeom prst="rect">
            <a:avLst/>
          </a:prstGeom>
          <a:noFill/>
        </p:spPr>
        <p:txBody>
          <a:bodyPr wrap="square" rtlCol="0">
            <a:spAutoFit/>
          </a:bodyPr>
          <a:lstStyle/>
          <a:p>
            <a:r>
              <a:rPr lang="en-US" altLang="zh-CN" b="1" dirty="0"/>
              <a:t>5. </a:t>
            </a:r>
            <a:r>
              <a:rPr lang="zh-CN" altLang="en-US" b="1" dirty="0"/>
              <a:t>出售出入境证件罪</a:t>
            </a:r>
          </a:p>
        </p:txBody>
      </p:sp>
      <p:sp>
        <p:nvSpPr>
          <p:cNvPr id="22" name="TextBox 21"/>
          <p:cNvSpPr txBox="1"/>
          <p:nvPr/>
        </p:nvSpPr>
        <p:spPr>
          <a:xfrm>
            <a:off x="1857356" y="1928808"/>
            <a:ext cx="3888432" cy="369332"/>
          </a:xfrm>
          <a:prstGeom prst="rect">
            <a:avLst/>
          </a:prstGeom>
          <a:noFill/>
        </p:spPr>
        <p:txBody>
          <a:bodyPr wrap="square" rtlCol="0">
            <a:spAutoFit/>
          </a:bodyPr>
          <a:lstStyle/>
          <a:p>
            <a:r>
              <a:rPr lang="en-US" altLang="zh-CN" b="1" dirty="0">
                <a:solidFill>
                  <a:srgbClr val="1143CF"/>
                </a:solidFill>
              </a:rPr>
              <a:t>3. </a:t>
            </a:r>
            <a:r>
              <a:rPr lang="zh-CN" altLang="en-US" b="1" dirty="0">
                <a:solidFill>
                  <a:srgbClr val="1143CF"/>
                </a:solidFill>
              </a:rPr>
              <a:t>运送他人偷越国（边）境罪</a:t>
            </a:r>
          </a:p>
        </p:txBody>
      </p:sp>
      <p:sp>
        <p:nvSpPr>
          <p:cNvPr id="23" name="TextBox 22"/>
          <p:cNvSpPr txBox="1"/>
          <p:nvPr/>
        </p:nvSpPr>
        <p:spPr>
          <a:xfrm>
            <a:off x="1857356" y="1500180"/>
            <a:ext cx="3816424" cy="369332"/>
          </a:xfrm>
          <a:prstGeom prst="rect">
            <a:avLst/>
          </a:prstGeom>
          <a:noFill/>
        </p:spPr>
        <p:txBody>
          <a:bodyPr wrap="square" rtlCol="0">
            <a:spAutoFit/>
          </a:bodyPr>
          <a:lstStyle/>
          <a:p>
            <a:r>
              <a:rPr lang="en-US" altLang="zh-CN" b="1" dirty="0">
                <a:solidFill>
                  <a:srgbClr val="1143CF"/>
                </a:solidFill>
              </a:rPr>
              <a:t>2.</a:t>
            </a:r>
            <a:r>
              <a:rPr lang="zh-CN" altLang="en-US" b="1" dirty="0">
                <a:solidFill>
                  <a:srgbClr val="1143CF"/>
                </a:solidFill>
              </a:rPr>
              <a:t>组织他人 偷越国（边）境罪</a:t>
            </a:r>
          </a:p>
        </p:txBody>
      </p:sp>
      <p:sp>
        <p:nvSpPr>
          <p:cNvPr id="24" name="TextBox 23"/>
          <p:cNvSpPr txBox="1"/>
          <p:nvPr/>
        </p:nvSpPr>
        <p:spPr>
          <a:xfrm>
            <a:off x="1857356" y="3857634"/>
            <a:ext cx="4680520" cy="369332"/>
          </a:xfrm>
          <a:prstGeom prst="rect">
            <a:avLst/>
          </a:prstGeom>
          <a:noFill/>
        </p:spPr>
        <p:txBody>
          <a:bodyPr wrap="square" rtlCol="0">
            <a:spAutoFit/>
          </a:bodyPr>
          <a:lstStyle/>
          <a:p>
            <a:r>
              <a:rPr lang="en-US" altLang="zh-CN" b="1" dirty="0"/>
              <a:t>7. </a:t>
            </a:r>
            <a:r>
              <a:rPr lang="zh-CN" altLang="en-US" b="1" dirty="0"/>
              <a:t>破坏界碑、界桩罪</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2000232" y="2143122"/>
            <a:ext cx="5286412" cy="584775"/>
          </a:xfrm>
          <a:prstGeom prst="rect">
            <a:avLst/>
          </a:prstGeom>
          <a:noFill/>
        </p:spPr>
        <p:txBody>
          <a:bodyPr wrap="square" rtlCol="0">
            <a:spAutoFit/>
          </a:bodyPr>
          <a:lstStyle/>
          <a:p>
            <a:pPr algn="ctr"/>
            <a:r>
              <a:rPr lang="en-US" altLang="zh-CN" sz="3200" b="1" dirty="0">
                <a:solidFill>
                  <a:srgbClr val="0070C0"/>
                </a:solidFill>
              </a:rPr>
              <a:t>1.1 </a:t>
            </a:r>
            <a:r>
              <a:rPr lang="zh-CN" altLang="en-US" sz="3200" b="1" dirty="0">
                <a:solidFill>
                  <a:srgbClr val="0070C0"/>
                </a:solidFill>
              </a:rPr>
              <a:t> 偷越国（边）境罪</a:t>
            </a:r>
          </a:p>
        </p:txBody>
      </p:sp>
      <p:sp>
        <p:nvSpPr>
          <p:cNvPr id="3" name="文本框 2"/>
          <p:cNvSpPr txBox="1"/>
          <p:nvPr/>
        </p:nvSpPr>
        <p:spPr>
          <a:xfrm>
            <a:off x="2555776" y="3219822"/>
            <a:ext cx="4583242" cy="923330"/>
          </a:xfrm>
          <a:prstGeom prst="rect">
            <a:avLst/>
          </a:prstGeom>
          <a:noFill/>
        </p:spPr>
        <p:txBody>
          <a:bodyPr wrap="square">
            <a:spAutoFit/>
          </a:bodyPr>
          <a:lstStyle/>
          <a:p>
            <a:r>
              <a:rPr lang="en-US" altLang="zh-CN" dirty="0"/>
              <a:t>《</a:t>
            </a:r>
            <a:r>
              <a:rPr lang="zh-CN" altLang="en-US" dirty="0"/>
              <a:t>最高人民法院、最高人民检察院关于办理妨害国</a:t>
            </a:r>
            <a:r>
              <a:rPr lang="en-US" altLang="zh-CN" dirty="0"/>
              <a:t>(</a:t>
            </a:r>
            <a:r>
              <a:rPr lang="zh-CN" altLang="en-US" dirty="0"/>
              <a:t>边</a:t>
            </a:r>
            <a:r>
              <a:rPr lang="en-US" altLang="zh-CN" dirty="0"/>
              <a:t>)</a:t>
            </a:r>
            <a:r>
              <a:rPr lang="zh-CN" altLang="en-US" dirty="0"/>
              <a:t>境管理刑事案件应用法律若干问题的解释</a:t>
            </a:r>
            <a:r>
              <a:rPr lang="en-US" altLang="zh-CN" dirty="0"/>
              <a:t>》</a:t>
            </a:r>
            <a:r>
              <a:rPr lang="zh-CN" altLang="en-US" dirty="0"/>
              <a:t>（</a:t>
            </a:r>
            <a:r>
              <a:rPr lang="en-US" altLang="zh-CN" dirty="0"/>
              <a:t>2012.12.20</a:t>
            </a:r>
            <a:r>
              <a:rPr lang="zh-CN" alt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Line 5"/>
          <p:cNvSpPr/>
          <p:nvPr/>
        </p:nvSpPr>
        <p:spPr>
          <a:xfrm>
            <a:off x="1358504" y="2246710"/>
            <a:ext cx="6210300" cy="0"/>
          </a:xfrm>
          <a:prstGeom prst="line">
            <a:avLst/>
          </a:prstGeom>
          <a:ln w="12700" cap="flat" cmpd="sng">
            <a:solidFill>
              <a:srgbClr val="346A6C"/>
            </a:solidFill>
            <a:prstDash val="solid"/>
            <a:round/>
            <a:headEnd type="none" w="med" len="med"/>
            <a:tailEnd type="triangle" w="med" len="med"/>
          </a:ln>
        </p:spPr>
      </p:sp>
      <p:sp>
        <p:nvSpPr>
          <p:cNvPr id="9220" name="Text Box 6"/>
          <p:cNvSpPr txBox="1"/>
          <p:nvPr/>
        </p:nvSpPr>
        <p:spPr>
          <a:xfrm>
            <a:off x="1255634" y="1878569"/>
            <a:ext cx="1053703" cy="398780"/>
          </a:xfrm>
          <a:prstGeom prst="rect">
            <a:avLst/>
          </a:prstGeom>
          <a:solidFill>
            <a:srgbClr val="346A6C"/>
          </a:solidFill>
          <a:ln w="9525" cap="flat" cmpd="sng">
            <a:solidFill>
              <a:srgbClr val="346A6C"/>
            </a:solidFill>
            <a:prstDash val="solid"/>
            <a:miter/>
            <a:headEnd type="none" w="med" len="med"/>
            <a:tailEnd type="none" w="med" len="med"/>
          </a:ln>
        </p:spPr>
        <p:txBody>
          <a:bodyPr anchor="t">
            <a:spAutoFit/>
          </a:bodyPr>
          <a:lstStyle/>
          <a:p>
            <a:pPr algn="ctr">
              <a:spcBef>
                <a:spcPct val="50000"/>
              </a:spcBef>
              <a:buFont typeface="Wingdings" panose="05000000000000000000" pitchFamily="2" charset="2"/>
              <a:buNone/>
            </a:pPr>
            <a:r>
              <a:rPr lang="en-US" altLang="zh-CN" sz="2000" dirty="0">
                <a:solidFill>
                  <a:schemeClr val="bg1"/>
                </a:solidFill>
                <a:latin typeface="Arial" panose="020B0604020202020204" pitchFamily="34" charset="0"/>
                <a:ea typeface="黑体" panose="02010609060101010101" charset="-122"/>
              </a:rPr>
              <a:t>1.1</a:t>
            </a:r>
            <a:endParaRPr lang="zh-CN" altLang="en-US" sz="2000" dirty="0">
              <a:solidFill>
                <a:schemeClr val="bg1"/>
              </a:solidFill>
              <a:latin typeface="Arial" panose="020B0604020202020204" pitchFamily="34" charset="0"/>
              <a:ea typeface="黑体" panose="02010609060101010101" charset="-122"/>
            </a:endParaRPr>
          </a:p>
        </p:txBody>
      </p:sp>
      <p:sp>
        <p:nvSpPr>
          <p:cNvPr id="3" name="文本框 2"/>
          <p:cNvSpPr txBox="1"/>
          <p:nvPr/>
        </p:nvSpPr>
        <p:spPr>
          <a:xfrm>
            <a:off x="3069589" y="1829019"/>
            <a:ext cx="4217055" cy="461665"/>
          </a:xfrm>
          <a:prstGeom prst="rect">
            <a:avLst/>
          </a:prstGeom>
          <a:noFill/>
        </p:spPr>
        <p:txBody>
          <a:bodyPr wrap="square" rtlCol="0">
            <a:spAutoFit/>
          </a:bodyPr>
          <a:lstStyle/>
          <a:p>
            <a:r>
              <a:rPr lang="zh-CN" altLang="en-US" sz="2400" b="1" dirty="0"/>
              <a:t>偷越国（边）境罪</a:t>
            </a:r>
          </a:p>
        </p:txBody>
      </p:sp>
      <p:sp>
        <p:nvSpPr>
          <p:cNvPr id="4" name="文本框 3"/>
          <p:cNvSpPr txBox="1"/>
          <p:nvPr/>
        </p:nvSpPr>
        <p:spPr>
          <a:xfrm>
            <a:off x="2775585" y="2387600"/>
            <a:ext cx="4126865" cy="400110"/>
          </a:xfrm>
          <a:prstGeom prst="rect">
            <a:avLst/>
          </a:prstGeom>
          <a:noFill/>
        </p:spPr>
        <p:txBody>
          <a:bodyPr wrap="square" rtlCol="0">
            <a:spAutoFit/>
          </a:bodyPr>
          <a:lstStyle/>
          <a:p>
            <a:r>
              <a:rPr lang="en-US" altLang="zh-CN" sz="2000" b="1" dirty="0">
                <a:solidFill>
                  <a:srgbClr val="1143CF"/>
                </a:solidFill>
              </a:rPr>
              <a:t>1.1.1 </a:t>
            </a:r>
            <a:r>
              <a:rPr lang="zh-CN" altLang="en-US" sz="2000" b="1" dirty="0">
                <a:solidFill>
                  <a:srgbClr val="1143CF"/>
                </a:solidFill>
              </a:rPr>
              <a:t>偷越国（边）境罪的概念</a:t>
            </a:r>
          </a:p>
        </p:txBody>
      </p:sp>
      <p:sp>
        <p:nvSpPr>
          <p:cNvPr id="6" name="文本框 5"/>
          <p:cNvSpPr txBox="1"/>
          <p:nvPr/>
        </p:nvSpPr>
        <p:spPr>
          <a:xfrm>
            <a:off x="2775584" y="2891155"/>
            <a:ext cx="4511059" cy="400110"/>
          </a:xfrm>
          <a:prstGeom prst="rect">
            <a:avLst/>
          </a:prstGeom>
          <a:noFill/>
        </p:spPr>
        <p:txBody>
          <a:bodyPr wrap="square" rtlCol="0">
            <a:spAutoFit/>
          </a:bodyPr>
          <a:lstStyle/>
          <a:p>
            <a:r>
              <a:rPr lang="en-US" altLang="zh-CN" sz="2000" b="1" dirty="0">
                <a:solidFill>
                  <a:srgbClr val="1143CF"/>
                </a:solidFill>
              </a:rPr>
              <a:t>1.1.2 </a:t>
            </a:r>
            <a:r>
              <a:rPr lang="zh-CN" altLang="en-US" sz="2000" b="1" dirty="0">
                <a:solidFill>
                  <a:srgbClr val="1143CF"/>
                </a:solidFill>
              </a:rPr>
              <a:t>偷越国（边）境罪的犯罪构成</a:t>
            </a:r>
          </a:p>
        </p:txBody>
      </p:sp>
      <p:sp>
        <p:nvSpPr>
          <p:cNvPr id="7" name="文本框 5"/>
          <p:cNvSpPr txBox="1"/>
          <p:nvPr/>
        </p:nvSpPr>
        <p:spPr>
          <a:xfrm>
            <a:off x="2786050" y="3357568"/>
            <a:ext cx="4511059" cy="400110"/>
          </a:xfrm>
          <a:prstGeom prst="rect">
            <a:avLst/>
          </a:prstGeom>
          <a:noFill/>
        </p:spPr>
        <p:txBody>
          <a:bodyPr wrap="square" rtlCol="0">
            <a:spAutoFit/>
          </a:bodyPr>
          <a:lstStyle/>
          <a:p>
            <a:r>
              <a:rPr lang="en-US" altLang="zh-CN" sz="2000" b="1" dirty="0">
                <a:solidFill>
                  <a:srgbClr val="1143CF"/>
                </a:solidFill>
              </a:rPr>
              <a:t>1.1.3 </a:t>
            </a:r>
            <a:r>
              <a:rPr lang="zh-CN" altLang="en-US" sz="2000" b="1" dirty="0">
                <a:solidFill>
                  <a:srgbClr val="1143CF"/>
                </a:solidFill>
              </a:rPr>
              <a:t>偷越国（边）境罪的罪数</a:t>
            </a:r>
          </a:p>
        </p:txBody>
      </p:sp>
      <p:sp>
        <p:nvSpPr>
          <p:cNvPr id="2" name="文本框 1"/>
          <p:cNvSpPr txBox="1"/>
          <p:nvPr/>
        </p:nvSpPr>
        <p:spPr>
          <a:xfrm>
            <a:off x="1610733" y="3891736"/>
            <a:ext cx="6840760" cy="830997"/>
          </a:xfrm>
          <a:prstGeom prst="rect">
            <a:avLst/>
          </a:prstGeom>
          <a:noFill/>
        </p:spPr>
        <p:txBody>
          <a:bodyPr wrap="square" rtlCol="0">
            <a:spAutoFit/>
          </a:bodyPr>
          <a:lstStyle/>
          <a:p>
            <a:r>
              <a:rPr lang="en-US" altLang="zh-CN" sz="1600" dirty="0">
                <a:hlinkClick r:id="rId3"/>
              </a:rPr>
              <a:t>https://tv.sohu.com/v/dXMvOTgzMTI3ODIvMzIxNzMwMjk0LnNodG1s.html?key=/v/dXMvOTgzMTI3ODIvMzIxNzMwMjk0LnNodG1s.html?vid=321730294&amp;vid=321730294</a:t>
            </a:r>
            <a:r>
              <a:rPr lang="en-US" altLang="zh-CN" sz="1600" dirty="0"/>
              <a:t> </a:t>
            </a:r>
            <a:endParaRPr lang="zh-CN" altLang="en-US" sz="1600" dirty="0"/>
          </a:p>
        </p:txBody>
      </p:sp>
    </p:spTree>
  </p:cSld>
  <p:clrMapOvr>
    <a:masterClrMapping/>
  </p:clrMapOvr>
  <p:transition>
    <p:blinds/>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1.1.1 </a:t>
            </a:r>
            <a:r>
              <a:rPr lang="zh-CN" altLang="en-US" sz="2000" b="1" dirty="0">
                <a:latin typeface="宋体" panose="02010600030101010101" pitchFamily="2" charset="-122"/>
                <a:ea typeface="宋体" panose="02010600030101010101" pitchFamily="2" charset="-122"/>
              </a:rPr>
              <a:t>偷越国（边）境罪的概念</a:t>
            </a:r>
          </a:p>
          <a:p>
            <a:endParaRPr lang="zh-CN" altLang="en-US" sz="2100" b="0" dirty="0">
              <a:latin typeface="宋体" panose="02010600030101010101" pitchFamily="2" charset="-122"/>
              <a:ea typeface="宋体" panose="02010600030101010101" pitchFamily="2" charset="-122"/>
            </a:endParaRPr>
          </a:p>
        </p:txBody>
      </p:sp>
      <p:sp>
        <p:nvSpPr>
          <p:cNvPr id="11265" name="Rectangle 2"/>
          <p:cNvSpPr>
            <a:spLocks noGrp="1"/>
          </p:cNvSpPr>
          <p:nvPr>
            <p:ph type="title"/>
          </p:nvPr>
        </p:nvSpPr>
        <p:spPr>
          <a:xfrm>
            <a:off x="4090988" y="76756"/>
            <a:ext cx="5029200" cy="432197"/>
          </a:xfrm>
        </p:spPr>
        <p:txBody>
          <a:bodyPr vert="horz" wrap="square" lIns="68580" tIns="34290" rIns="68580" bIns="34290" anchor="ctr"/>
          <a:lstStyle/>
          <a:p>
            <a:pPr algn="ctr"/>
            <a:r>
              <a:rPr lang="en-US" altLang="zh-CN" sz="2400" dirty="0"/>
              <a:t>1.1 </a:t>
            </a:r>
            <a:r>
              <a:rPr lang="zh-CN" altLang="en-US" sz="2400" dirty="0"/>
              <a:t>偷越国（边）境罪</a:t>
            </a:r>
            <a:endParaRPr lang="zh-CN" altLang="en-US" sz="2400" dirty="0">
              <a:effectLst/>
            </a:endParaRPr>
          </a:p>
        </p:txBody>
      </p:sp>
      <p:sp>
        <p:nvSpPr>
          <p:cNvPr id="2" name="文本框 1"/>
          <p:cNvSpPr txBox="1"/>
          <p:nvPr/>
        </p:nvSpPr>
        <p:spPr>
          <a:xfrm>
            <a:off x="683568" y="1419622"/>
            <a:ext cx="6336704" cy="400110"/>
          </a:xfrm>
          <a:prstGeom prst="rect">
            <a:avLst/>
          </a:prstGeom>
          <a:noFill/>
        </p:spPr>
        <p:txBody>
          <a:bodyPr wrap="square" rtlCol="0">
            <a:spAutoFit/>
          </a:bodyPr>
          <a:lstStyle/>
          <a:p>
            <a:r>
              <a:rPr lang="zh-CN" altLang="en-US" sz="2000" b="1" dirty="0">
                <a:solidFill>
                  <a:srgbClr val="1143CF"/>
                </a:solidFill>
                <a:latin typeface="宋体" panose="02010600030101010101" pitchFamily="2" charset="-122"/>
                <a:ea typeface="宋体" panose="02010600030101010101" pitchFamily="2" charset="-122"/>
              </a:rPr>
              <a:t>违反国（边）境管理法律法规，</a:t>
            </a:r>
          </a:p>
        </p:txBody>
      </p:sp>
      <p:sp>
        <p:nvSpPr>
          <p:cNvPr id="3" name="文本框 2"/>
          <p:cNvSpPr txBox="1"/>
          <p:nvPr/>
        </p:nvSpPr>
        <p:spPr>
          <a:xfrm>
            <a:off x="685508" y="2082557"/>
            <a:ext cx="5616624" cy="400110"/>
          </a:xfrm>
          <a:prstGeom prst="rect">
            <a:avLst/>
          </a:prstGeom>
          <a:noFill/>
        </p:spPr>
        <p:txBody>
          <a:bodyPr wrap="square" rtlCol="0">
            <a:spAutoFit/>
          </a:bodyPr>
          <a:lstStyle/>
          <a:p>
            <a:r>
              <a:rPr lang="zh-CN" altLang="en-US" sz="2000" b="1" dirty="0">
                <a:solidFill>
                  <a:srgbClr val="1143CF"/>
                </a:solidFill>
                <a:latin typeface="宋体" panose="02010600030101010101" pitchFamily="2" charset="-122"/>
                <a:ea typeface="宋体" panose="02010600030101010101" pitchFamily="2" charset="-122"/>
              </a:rPr>
              <a:t>偷越国（边）境、</a:t>
            </a:r>
          </a:p>
        </p:txBody>
      </p:sp>
      <p:sp>
        <p:nvSpPr>
          <p:cNvPr id="6" name="文本框 5"/>
          <p:cNvSpPr txBox="1"/>
          <p:nvPr/>
        </p:nvSpPr>
        <p:spPr>
          <a:xfrm>
            <a:off x="685508" y="2823778"/>
            <a:ext cx="5616624" cy="400110"/>
          </a:xfrm>
          <a:prstGeom prst="rect">
            <a:avLst/>
          </a:prstGeom>
          <a:noFill/>
        </p:spPr>
        <p:txBody>
          <a:bodyPr wrap="square" rtlCol="0">
            <a:spAutoFit/>
          </a:bodyPr>
          <a:lstStyle/>
          <a:p>
            <a:r>
              <a:rPr lang="zh-CN" altLang="en-US" sz="2000" b="1" dirty="0">
                <a:solidFill>
                  <a:srgbClr val="1143CF"/>
                </a:solidFill>
                <a:latin typeface="宋体" panose="02010600030101010101" pitchFamily="2" charset="-122"/>
                <a:ea typeface="宋体" panose="02010600030101010101" pitchFamily="2" charset="-122"/>
              </a:rPr>
              <a:t>情节严重的行为。</a:t>
            </a:r>
          </a:p>
        </p:txBody>
      </p:sp>
      <p:pic>
        <p:nvPicPr>
          <p:cNvPr id="9" name="图片 8" descr="偷越国（边）境.jpg"/>
          <p:cNvPicPr>
            <a:picLocks noChangeAspect="1"/>
          </p:cNvPicPr>
          <p:nvPr/>
        </p:nvPicPr>
        <p:blipFill>
          <a:blip r:embed="rId2"/>
          <a:stretch>
            <a:fillRect/>
          </a:stretch>
        </p:blipFill>
        <p:spPr>
          <a:xfrm>
            <a:off x="4929190" y="2143122"/>
            <a:ext cx="3810000" cy="2133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1.1.2 </a:t>
            </a:r>
            <a:r>
              <a:rPr lang="zh-CN" altLang="en-US" sz="2000" b="1" dirty="0">
                <a:latin typeface="宋体" panose="02010600030101010101" pitchFamily="2" charset="-122"/>
                <a:ea typeface="宋体" panose="02010600030101010101" pitchFamily="2" charset="-122"/>
              </a:rPr>
              <a:t>偷越国</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边）境罪的犯罪构成</a:t>
            </a:r>
          </a:p>
          <a:p>
            <a:endParaRPr lang="zh-CN" altLang="en-US" sz="2100" b="0" dirty="0">
              <a:latin typeface="宋体" panose="02010600030101010101" pitchFamily="2" charset="-122"/>
              <a:ea typeface="宋体" panose="02010600030101010101" pitchFamily="2" charset="-122"/>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7904" y="1899733"/>
            <a:ext cx="1584176" cy="1389400"/>
          </a:xfrm>
          <a:prstGeom prst="rect">
            <a:avLst/>
          </a:prstGeom>
        </p:spPr>
      </p:pic>
      <p:sp>
        <p:nvSpPr>
          <p:cNvPr id="10" name="文本框 9"/>
          <p:cNvSpPr txBox="1"/>
          <p:nvPr/>
        </p:nvSpPr>
        <p:spPr>
          <a:xfrm>
            <a:off x="1331640" y="1419623"/>
            <a:ext cx="2311666" cy="1200329"/>
          </a:xfrm>
          <a:prstGeom prst="rect">
            <a:avLst/>
          </a:prstGeom>
          <a:noFill/>
          <a:ln>
            <a:solidFill>
              <a:srgbClr val="0070C0"/>
            </a:solidFill>
          </a:ln>
        </p:spPr>
        <p:txBody>
          <a:bodyPr wrap="square" rtlCol="0">
            <a:spAutoFit/>
          </a:bodyPr>
          <a:lstStyle/>
          <a:p>
            <a:r>
              <a:rPr lang="zh-CN" altLang="en-US" b="1" dirty="0">
                <a:solidFill>
                  <a:srgbClr val="1143CF"/>
                </a:solidFill>
              </a:rPr>
              <a:t>客体：</a:t>
            </a:r>
            <a:endParaRPr lang="en-US" altLang="zh-CN" b="1" dirty="0">
              <a:solidFill>
                <a:srgbClr val="1143CF"/>
              </a:solidFill>
            </a:endParaRPr>
          </a:p>
          <a:p>
            <a:r>
              <a:rPr lang="zh-CN" altLang="en-US" b="1" dirty="0">
                <a:solidFill>
                  <a:srgbClr val="1143CF"/>
                </a:solidFill>
              </a:rPr>
              <a:t>国家对国（边）境正常的管理秩序</a:t>
            </a:r>
            <a:endParaRPr lang="en-US" altLang="zh-CN" b="1" dirty="0">
              <a:solidFill>
                <a:srgbClr val="1143CF"/>
              </a:solidFill>
            </a:endParaRPr>
          </a:p>
          <a:p>
            <a:endParaRPr lang="zh-CN" altLang="en-US" dirty="0"/>
          </a:p>
        </p:txBody>
      </p:sp>
      <p:sp>
        <p:nvSpPr>
          <p:cNvPr id="13" name="文本框 12"/>
          <p:cNvSpPr txBox="1"/>
          <p:nvPr/>
        </p:nvSpPr>
        <p:spPr>
          <a:xfrm>
            <a:off x="1357290" y="3143254"/>
            <a:ext cx="2232248" cy="1477328"/>
          </a:xfrm>
          <a:prstGeom prst="rect">
            <a:avLst/>
          </a:prstGeom>
          <a:noFill/>
          <a:ln>
            <a:solidFill>
              <a:srgbClr val="0070C0"/>
            </a:solidFill>
          </a:ln>
        </p:spPr>
        <p:txBody>
          <a:bodyPr wrap="square" rtlCol="0">
            <a:spAutoFit/>
          </a:bodyPr>
          <a:lstStyle/>
          <a:p>
            <a:r>
              <a:rPr lang="zh-CN" altLang="en-US" b="1" dirty="0">
                <a:solidFill>
                  <a:srgbClr val="1143CF"/>
                </a:solidFill>
              </a:rPr>
              <a:t>主体：</a:t>
            </a:r>
            <a:endParaRPr lang="en-US" altLang="zh-CN" b="1" dirty="0">
              <a:solidFill>
                <a:srgbClr val="1143CF"/>
              </a:solidFill>
            </a:endParaRPr>
          </a:p>
          <a:p>
            <a:r>
              <a:rPr lang="zh-CN" altLang="en-US" b="1" dirty="0">
                <a:solidFill>
                  <a:srgbClr val="1143CF"/>
                </a:solidFill>
              </a:rPr>
              <a:t>年满</a:t>
            </a:r>
            <a:r>
              <a:rPr lang="en-US" altLang="zh-CN" b="1" dirty="0">
                <a:solidFill>
                  <a:srgbClr val="1143CF"/>
                </a:solidFill>
              </a:rPr>
              <a:t>16</a:t>
            </a:r>
            <a:r>
              <a:rPr lang="zh-CN" altLang="en-US" b="1" dirty="0">
                <a:solidFill>
                  <a:srgbClr val="1143CF"/>
                </a:solidFill>
              </a:rPr>
              <a:t>周岁具有刑事责任能力的自然人</a:t>
            </a:r>
            <a:endParaRPr lang="en-US" altLang="zh-CN" b="1" dirty="0">
              <a:solidFill>
                <a:srgbClr val="1143CF"/>
              </a:solidFill>
            </a:endParaRPr>
          </a:p>
          <a:p>
            <a:endParaRPr lang="zh-CN" altLang="en-US" b="1" dirty="0">
              <a:solidFill>
                <a:srgbClr val="1143CF"/>
              </a:solidFill>
            </a:endParaRPr>
          </a:p>
        </p:txBody>
      </p:sp>
      <p:sp>
        <p:nvSpPr>
          <p:cNvPr id="14" name="文本框 13"/>
          <p:cNvSpPr txBox="1"/>
          <p:nvPr/>
        </p:nvSpPr>
        <p:spPr>
          <a:xfrm>
            <a:off x="5436096" y="1381343"/>
            <a:ext cx="2232248" cy="1200329"/>
          </a:xfrm>
          <a:prstGeom prst="rect">
            <a:avLst/>
          </a:prstGeom>
          <a:noFill/>
          <a:ln>
            <a:solidFill>
              <a:srgbClr val="0070C0"/>
            </a:solidFill>
          </a:ln>
        </p:spPr>
        <p:txBody>
          <a:bodyPr wrap="square" rtlCol="0">
            <a:spAutoFit/>
          </a:bodyPr>
          <a:lstStyle/>
          <a:p>
            <a:r>
              <a:rPr lang="zh-CN" altLang="en-US" b="1" dirty="0">
                <a:solidFill>
                  <a:srgbClr val="1143CF"/>
                </a:solidFill>
              </a:rPr>
              <a:t>主观方面：</a:t>
            </a:r>
            <a:endParaRPr lang="en-US" altLang="zh-CN" b="1" dirty="0">
              <a:solidFill>
                <a:srgbClr val="1143CF"/>
              </a:solidFill>
            </a:endParaRPr>
          </a:p>
          <a:p>
            <a:r>
              <a:rPr lang="zh-CN" altLang="en-US" b="1" dirty="0">
                <a:solidFill>
                  <a:srgbClr val="1143CF"/>
                </a:solidFill>
              </a:rPr>
              <a:t>直接故意</a:t>
            </a:r>
            <a:endParaRPr lang="en-US" altLang="zh-CN" b="1" dirty="0">
              <a:solidFill>
                <a:srgbClr val="1143CF"/>
              </a:solidFill>
            </a:endParaRPr>
          </a:p>
          <a:p>
            <a:endParaRPr lang="en-US" altLang="zh-CN" b="1" dirty="0">
              <a:solidFill>
                <a:srgbClr val="1143CF"/>
              </a:solidFill>
            </a:endParaRPr>
          </a:p>
          <a:p>
            <a:endParaRPr lang="zh-CN" altLang="en-US" dirty="0"/>
          </a:p>
        </p:txBody>
      </p:sp>
      <p:sp>
        <p:nvSpPr>
          <p:cNvPr id="15" name="文本框 14"/>
          <p:cNvSpPr txBox="1"/>
          <p:nvPr/>
        </p:nvSpPr>
        <p:spPr>
          <a:xfrm>
            <a:off x="5429256" y="3143254"/>
            <a:ext cx="2232248" cy="1477328"/>
          </a:xfrm>
          <a:prstGeom prst="rect">
            <a:avLst/>
          </a:prstGeom>
          <a:noFill/>
          <a:ln>
            <a:solidFill>
              <a:srgbClr val="0070C0"/>
            </a:solidFill>
          </a:ln>
        </p:spPr>
        <p:txBody>
          <a:bodyPr wrap="square" rtlCol="0">
            <a:spAutoFit/>
          </a:bodyPr>
          <a:lstStyle/>
          <a:p>
            <a:r>
              <a:rPr lang="zh-CN" altLang="en-US" b="1" dirty="0">
                <a:solidFill>
                  <a:srgbClr val="1143CF"/>
                </a:solidFill>
              </a:rPr>
              <a:t>客观方面：</a:t>
            </a:r>
            <a:endParaRPr lang="en-US" altLang="zh-CN" b="1" dirty="0">
              <a:solidFill>
                <a:srgbClr val="1143CF"/>
              </a:solidFill>
            </a:endParaRPr>
          </a:p>
          <a:p>
            <a:r>
              <a:rPr lang="zh-CN" altLang="zh-CN" b="1" dirty="0">
                <a:solidFill>
                  <a:srgbClr val="1143CF"/>
                </a:solidFill>
              </a:rPr>
              <a:t>违反国（边）境管理法规，偷越国（边）境，情节严重的行为。</a:t>
            </a:r>
            <a:endParaRPr lang="en-US" altLang="zh-CN" b="1" dirty="0">
              <a:solidFill>
                <a:srgbClr val="1143CF"/>
              </a:solidFill>
            </a:endParaRPr>
          </a:p>
        </p:txBody>
      </p:sp>
      <p:sp>
        <p:nvSpPr>
          <p:cNvPr id="12" name="Rectangle 2"/>
          <p:cNvSpPr>
            <a:spLocks noGrp="1"/>
          </p:cNvSpPr>
          <p:nvPr>
            <p:ph type="title"/>
          </p:nvPr>
        </p:nvSpPr>
        <p:spPr/>
        <p:txBody>
          <a:bodyPr vert="horz" wrap="square" lIns="68580" tIns="34290" rIns="68580" bIns="34290" anchor="ctr"/>
          <a:lstStyle/>
          <a:p>
            <a:r>
              <a:rPr lang="en-US" altLang="zh-CN" sz="2400" dirty="0"/>
              <a:t>1.1 </a:t>
            </a:r>
            <a:r>
              <a:rPr lang="zh-CN" altLang="en-US" sz="2400" dirty="0"/>
              <a:t>偷越国（边）境罪</a:t>
            </a:r>
            <a:endParaRPr lang="zh-CN" altLang="en-US" sz="2400"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p:spPr>
        <p:txBody>
          <a:bodyPr vert="horz" wrap="square" lIns="68580" tIns="34290" rIns="68580" bIns="34290" anchor="t"/>
          <a:lstStyle/>
          <a:p>
            <a:pPr algn="ctr"/>
            <a:r>
              <a:rPr lang="zh-CN" altLang="en-US" sz="2000" b="1" dirty="0">
                <a:latin typeface="宋体" panose="02010600030101010101" pitchFamily="2" charset="-122"/>
                <a:ea typeface="宋体" panose="02010600030101010101" pitchFamily="2" charset="-122"/>
              </a:rPr>
              <a:t>行为方式</a:t>
            </a:r>
          </a:p>
          <a:p>
            <a:endParaRPr lang="zh-CN" altLang="en-US" sz="2100" b="0" dirty="0">
              <a:latin typeface="宋体" panose="02010600030101010101" pitchFamily="2" charset="-122"/>
              <a:ea typeface="宋体" panose="02010600030101010101" pitchFamily="2" charset="-122"/>
            </a:endParaRPr>
          </a:p>
        </p:txBody>
      </p:sp>
      <p:sp>
        <p:nvSpPr>
          <p:cNvPr id="10" name="文本框 9"/>
          <p:cNvSpPr txBox="1"/>
          <p:nvPr/>
        </p:nvSpPr>
        <p:spPr>
          <a:xfrm>
            <a:off x="714348" y="1428742"/>
            <a:ext cx="6000792" cy="369332"/>
          </a:xfrm>
          <a:prstGeom prst="rect">
            <a:avLst/>
          </a:prstGeom>
          <a:noFill/>
          <a:ln>
            <a:solidFill>
              <a:schemeClr val="bg1"/>
            </a:solidFill>
          </a:ln>
        </p:spPr>
        <p:txBody>
          <a:bodyPr wrap="square" rtlCol="0">
            <a:spAutoFit/>
          </a:bodyPr>
          <a:lstStyle/>
          <a:p>
            <a:r>
              <a:rPr lang="en-US" altLang="zh-CN" b="1" dirty="0">
                <a:solidFill>
                  <a:srgbClr val="1143CF"/>
                </a:solidFill>
              </a:rPr>
              <a:t>1. </a:t>
            </a:r>
            <a:r>
              <a:rPr lang="zh-CN" altLang="en-US" b="1" dirty="0">
                <a:solidFill>
                  <a:srgbClr val="1143CF"/>
                </a:solidFill>
              </a:rPr>
              <a:t>没有出入境证件出入国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境或者逃避接受边防检查的</a:t>
            </a:r>
            <a:r>
              <a:rPr lang="en-US" b="1" dirty="0">
                <a:solidFill>
                  <a:srgbClr val="1143CF"/>
                </a:solidFill>
              </a:rPr>
              <a:t>;</a:t>
            </a:r>
            <a:endParaRPr lang="zh-CN" altLang="en-US" dirty="0"/>
          </a:p>
        </p:txBody>
      </p:sp>
      <p:sp>
        <p:nvSpPr>
          <p:cNvPr id="12" name="Rectangle 2"/>
          <p:cNvSpPr>
            <a:spLocks noGrp="1"/>
          </p:cNvSpPr>
          <p:nvPr>
            <p:ph type="title"/>
          </p:nvPr>
        </p:nvSpPr>
        <p:spPr/>
        <p:txBody>
          <a:bodyPr vert="horz" wrap="square" lIns="68580" tIns="34290" rIns="68580" bIns="34290" anchor="ctr"/>
          <a:lstStyle/>
          <a:p>
            <a:r>
              <a:rPr lang="en-US" altLang="zh-CN" sz="2400" dirty="0"/>
              <a:t>1.1 </a:t>
            </a:r>
            <a:r>
              <a:rPr lang="zh-CN" altLang="en-US" sz="2400" dirty="0"/>
              <a:t>偷越国（边）境罪</a:t>
            </a:r>
            <a:endParaRPr lang="zh-CN" altLang="en-US" sz="2400" dirty="0">
              <a:effectLst/>
            </a:endParaRPr>
          </a:p>
        </p:txBody>
      </p:sp>
      <p:sp>
        <p:nvSpPr>
          <p:cNvPr id="16" name="文本框 9"/>
          <p:cNvSpPr txBox="1"/>
          <p:nvPr/>
        </p:nvSpPr>
        <p:spPr>
          <a:xfrm>
            <a:off x="714348" y="2000246"/>
            <a:ext cx="6000792" cy="369332"/>
          </a:xfrm>
          <a:prstGeom prst="rect">
            <a:avLst/>
          </a:prstGeom>
          <a:noFill/>
          <a:ln>
            <a:solidFill>
              <a:schemeClr val="bg1"/>
            </a:solidFill>
          </a:ln>
        </p:spPr>
        <p:txBody>
          <a:bodyPr wrap="square" rtlCol="0">
            <a:spAutoFit/>
          </a:bodyPr>
          <a:lstStyle/>
          <a:p>
            <a:r>
              <a:rPr lang="en-US" altLang="zh-CN" b="1" dirty="0">
                <a:solidFill>
                  <a:srgbClr val="1143CF"/>
                </a:solidFill>
              </a:rPr>
              <a:t>2.</a:t>
            </a:r>
            <a:r>
              <a:rPr lang="zh-CN" altLang="en-US" b="1" dirty="0">
                <a:solidFill>
                  <a:srgbClr val="1143CF"/>
                </a:solidFill>
              </a:rPr>
              <a:t>使用伪造、变造、无效的出入境证件出入国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境的</a:t>
            </a:r>
            <a:r>
              <a:rPr lang="en-US" b="1" dirty="0">
                <a:solidFill>
                  <a:srgbClr val="1143CF"/>
                </a:solidFill>
              </a:rPr>
              <a:t>;</a:t>
            </a:r>
            <a:endParaRPr lang="zh-CN" altLang="en-US" b="1" dirty="0">
              <a:solidFill>
                <a:srgbClr val="1143CF"/>
              </a:solidFill>
            </a:endParaRPr>
          </a:p>
        </p:txBody>
      </p:sp>
      <p:sp>
        <p:nvSpPr>
          <p:cNvPr id="17" name="文本框 9"/>
          <p:cNvSpPr txBox="1"/>
          <p:nvPr/>
        </p:nvSpPr>
        <p:spPr>
          <a:xfrm>
            <a:off x="714348" y="2500312"/>
            <a:ext cx="6000792" cy="369332"/>
          </a:xfrm>
          <a:prstGeom prst="rect">
            <a:avLst/>
          </a:prstGeom>
          <a:noFill/>
          <a:ln>
            <a:solidFill>
              <a:schemeClr val="bg1"/>
            </a:solidFill>
          </a:ln>
        </p:spPr>
        <p:txBody>
          <a:bodyPr wrap="square" rtlCol="0">
            <a:spAutoFit/>
          </a:bodyPr>
          <a:lstStyle/>
          <a:p>
            <a:r>
              <a:rPr lang="en-US" altLang="zh-CN" b="1" dirty="0">
                <a:solidFill>
                  <a:srgbClr val="1143CF"/>
                </a:solidFill>
              </a:rPr>
              <a:t>3.</a:t>
            </a:r>
            <a:r>
              <a:rPr lang="zh-CN" altLang="en-US" b="1" dirty="0">
                <a:solidFill>
                  <a:srgbClr val="1143CF"/>
                </a:solidFill>
              </a:rPr>
              <a:t>使用他人出入境证件出入国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境的；</a:t>
            </a:r>
          </a:p>
        </p:txBody>
      </p:sp>
      <p:sp>
        <p:nvSpPr>
          <p:cNvPr id="18" name="文本框 9"/>
          <p:cNvSpPr txBox="1"/>
          <p:nvPr/>
        </p:nvSpPr>
        <p:spPr>
          <a:xfrm>
            <a:off x="714348" y="3143254"/>
            <a:ext cx="6000792" cy="646331"/>
          </a:xfrm>
          <a:prstGeom prst="rect">
            <a:avLst/>
          </a:prstGeom>
          <a:noFill/>
          <a:ln>
            <a:solidFill>
              <a:schemeClr val="bg1"/>
            </a:solidFill>
          </a:ln>
        </p:spPr>
        <p:txBody>
          <a:bodyPr wrap="square" rtlCol="0">
            <a:spAutoFit/>
          </a:bodyPr>
          <a:lstStyle/>
          <a:p>
            <a:r>
              <a:rPr lang="en-US" altLang="zh-CN" b="1" dirty="0">
                <a:solidFill>
                  <a:srgbClr val="1143CF"/>
                </a:solidFill>
              </a:rPr>
              <a:t>4.</a:t>
            </a:r>
            <a:r>
              <a:rPr lang="zh-CN" altLang="en-US" b="1" dirty="0">
                <a:solidFill>
                  <a:srgbClr val="1143CF"/>
                </a:solidFill>
              </a:rPr>
              <a:t>使用以虚假的出入境事由、隐瞒真实身份、冒用他人身份证件等方式骗取的出入境证件出入国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境的</a:t>
            </a:r>
            <a:r>
              <a:rPr lang="en-US" b="1" dirty="0">
                <a:solidFill>
                  <a:srgbClr val="1143CF"/>
                </a:solidFill>
              </a:rPr>
              <a:t>;</a:t>
            </a:r>
            <a:endParaRPr lang="zh-CN" altLang="en-US" b="1" dirty="0">
              <a:solidFill>
                <a:srgbClr val="1143CF"/>
              </a:solidFill>
            </a:endParaRPr>
          </a:p>
        </p:txBody>
      </p:sp>
      <p:sp>
        <p:nvSpPr>
          <p:cNvPr id="19" name="文本框 9"/>
          <p:cNvSpPr txBox="1"/>
          <p:nvPr/>
        </p:nvSpPr>
        <p:spPr>
          <a:xfrm>
            <a:off x="714348" y="3857634"/>
            <a:ext cx="6000792" cy="646331"/>
          </a:xfrm>
          <a:prstGeom prst="rect">
            <a:avLst/>
          </a:prstGeom>
          <a:noFill/>
          <a:ln>
            <a:solidFill>
              <a:schemeClr val="bg1"/>
            </a:solidFill>
          </a:ln>
        </p:spPr>
        <p:txBody>
          <a:bodyPr wrap="square" rtlCol="0">
            <a:spAutoFit/>
          </a:bodyPr>
          <a:lstStyle/>
          <a:p>
            <a:r>
              <a:rPr lang="en-US" altLang="zh-CN" b="1" dirty="0">
                <a:solidFill>
                  <a:srgbClr val="1143CF"/>
                </a:solidFill>
              </a:rPr>
              <a:t>5.</a:t>
            </a:r>
            <a:r>
              <a:rPr lang="zh-CN" altLang="en-US" b="1" dirty="0">
                <a:solidFill>
                  <a:srgbClr val="1143CF"/>
                </a:solidFill>
              </a:rPr>
              <a:t>采用其他方式非法出入国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境的。</a:t>
            </a:r>
            <a:r>
              <a:rPr lang="en-US" altLang="zh-CN" b="1" dirty="0">
                <a:solidFill>
                  <a:srgbClr val="1143CF"/>
                </a:solidFill>
              </a:rPr>
              <a:t>*</a:t>
            </a:r>
            <a:r>
              <a:rPr lang="zh-CN" altLang="en-US" b="1" dirty="0">
                <a:solidFill>
                  <a:srgbClr val="1143CF"/>
                </a:solidFill>
              </a:rPr>
              <a:t>（暴力、胁迫、贿赂等方式获取出入境证件）</a:t>
            </a:r>
          </a:p>
        </p:txBody>
      </p:sp>
      <p:sp>
        <p:nvSpPr>
          <p:cNvPr id="22" name="左大括号 21"/>
          <p:cNvSpPr/>
          <p:nvPr/>
        </p:nvSpPr>
        <p:spPr>
          <a:xfrm>
            <a:off x="357158" y="1428742"/>
            <a:ext cx="214314" cy="2857520"/>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b="1" dirty="0">
              <a:solidFill>
                <a:srgbClr val="1143CF"/>
              </a:solidFill>
            </a:endParaRPr>
          </a:p>
        </p:txBody>
      </p:sp>
      <p:sp>
        <p:nvSpPr>
          <p:cNvPr id="23" name="TextBox 22"/>
          <p:cNvSpPr txBox="1"/>
          <p:nvPr/>
        </p:nvSpPr>
        <p:spPr>
          <a:xfrm>
            <a:off x="7215206" y="1500180"/>
            <a:ext cx="1785950" cy="369332"/>
          </a:xfrm>
          <a:prstGeom prst="rect">
            <a:avLst/>
          </a:prstGeom>
          <a:noFill/>
          <a:ln>
            <a:solidFill>
              <a:srgbClr val="1143CF"/>
            </a:solidFill>
          </a:ln>
        </p:spPr>
        <p:txBody>
          <a:bodyPr wrap="square" rtlCol="0">
            <a:spAutoFit/>
          </a:bodyPr>
          <a:lstStyle/>
          <a:p>
            <a:r>
              <a:rPr lang="zh-CN" altLang="en-US" b="1" dirty="0">
                <a:solidFill>
                  <a:srgbClr val="C00000"/>
                </a:solidFill>
              </a:rPr>
              <a:t>无证、逃检</a:t>
            </a:r>
          </a:p>
        </p:txBody>
      </p:sp>
      <p:sp>
        <p:nvSpPr>
          <p:cNvPr id="24" name="TextBox 23"/>
          <p:cNvSpPr txBox="1"/>
          <p:nvPr/>
        </p:nvSpPr>
        <p:spPr>
          <a:xfrm>
            <a:off x="7215206" y="2071684"/>
            <a:ext cx="1800493" cy="369332"/>
          </a:xfrm>
          <a:prstGeom prst="rect">
            <a:avLst/>
          </a:prstGeom>
          <a:noFill/>
          <a:ln>
            <a:solidFill>
              <a:srgbClr val="1143CF"/>
            </a:solidFill>
          </a:ln>
        </p:spPr>
        <p:txBody>
          <a:bodyPr wrap="none" rtlCol="0">
            <a:spAutoFit/>
          </a:bodyPr>
          <a:lstStyle/>
          <a:p>
            <a:r>
              <a:rPr lang="zh-CN" altLang="en-US" b="1" dirty="0">
                <a:solidFill>
                  <a:srgbClr val="C00000"/>
                </a:solidFill>
              </a:rPr>
              <a:t>伪、变、无效证</a:t>
            </a:r>
          </a:p>
        </p:txBody>
      </p:sp>
      <p:sp>
        <p:nvSpPr>
          <p:cNvPr id="25" name="TextBox 24"/>
          <p:cNvSpPr txBox="1"/>
          <p:nvPr/>
        </p:nvSpPr>
        <p:spPr>
          <a:xfrm>
            <a:off x="7215206" y="2571750"/>
            <a:ext cx="877163" cy="369332"/>
          </a:xfrm>
          <a:prstGeom prst="rect">
            <a:avLst/>
          </a:prstGeom>
          <a:noFill/>
          <a:ln>
            <a:solidFill>
              <a:srgbClr val="1143CF"/>
            </a:solidFill>
          </a:ln>
        </p:spPr>
        <p:txBody>
          <a:bodyPr wrap="none" rtlCol="0">
            <a:spAutoFit/>
          </a:bodyPr>
          <a:lstStyle/>
          <a:p>
            <a:r>
              <a:rPr lang="zh-CN" altLang="en-US" b="1" dirty="0">
                <a:solidFill>
                  <a:srgbClr val="C00000"/>
                </a:solidFill>
              </a:rPr>
              <a:t>冒用证</a:t>
            </a:r>
          </a:p>
        </p:txBody>
      </p:sp>
      <p:sp>
        <p:nvSpPr>
          <p:cNvPr id="26" name="TextBox 25"/>
          <p:cNvSpPr txBox="1"/>
          <p:nvPr/>
        </p:nvSpPr>
        <p:spPr>
          <a:xfrm>
            <a:off x="7215206" y="3214692"/>
            <a:ext cx="646331" cy="369332"/>
          </a:xfrm>
          <a:prstGeom prst="rect">
            <a:avLst/>
          </a:prstGeom>
          <a:noFill/>
          <a:ln>
            <a:solidFill>
              <a:srgbClr val="1143CF"/>
            </a:solidFill>
          </a:ln>
        </p:spPr>
        <p:txBody>
          <a:bodyPr wrap="none" rtlCol="0">
            <a:spAutoFit/>
          </a:bodyPr>
          <a:lstStyle/>
          <a:p>
            <a:r>
              <a:rPr lang="zh-CN" altLang="en-US" b="1" dirty="0">
                <a:solidFill>
                  <a:srgbClr val="C00000"/>
                </a:solidFill>
              </a:rPr>
              <a:t>骗证</a:t>
            </a:r>
          </a:p>
        </p:txBody>
      </p:sp>
      <p:sp>
        <p:nvSpPr>
          <p:cNvPr id="27" name="TextBox 26"/>
          <p:cNvSpPr txBox="1"/>
          <p:nvPr/>
        </p:nvSpPr>
        <p:spPr>
          <a:xfrm>
            <a:off x="7215206" y="3857634"/>
            <a:ext cx="646331" cy="369332"/>
          </a:xfrm>
          <a:prstGeom prst="rect">
            <a:avLst/>
          </a:prstGeom>
          <a:noFill/>
          <a:ln>
            <a:solidFill>
              <a:srgbClr val="1143CF"/>
            </a:solidFill>
          </a:ln>
        </p:spPr>
        <p:txBody>
          <a:bodyPr wrap="none" rtlCol="0">
            <a:spAutoFit/>
          </a:bodyPr>
          <a:lstStyle/>
          <a:p>
            <a:r>
              <a:rPr lang="zh-CN" altLang="en-US" b="1" dirty="0">
                <a:solidFill>
                  <a:srgbClr val="C00000"/>
                </a:solidFill>
              </a:rPr>
              <a:t>其他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linds(horizontal)">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blinds(horizontal)">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blinds(horizontal)">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blinds(horizontal)">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linds(horizontal)">
                                      <p:cBhvr>
                                        <p:cTn id="5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17" grpId="0" animBg="1"/>
      <p:bldP spid="18" grpId="0" animBg="1"/>
      <p:bldP spid="19" grpId="0" animBg="1"/>
      <p:bldP spid="22" grpId="0" animBg="1"/>
      <p:bldP spid="23" grpId="0" animBg="1"/>
      <p:bldP spid="24" grpId="0" animBg="1"/>
      <p:bldP spid="25" grpId="0" animBg="1"/>
      <p:bldP spid="26"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857224" y="785800"/>
            <a:ext cx="6480572" cy="504056"/>
          </a:xfrm>
        </p:spPr>
        <p:txBody>
          <a:bodyPr vert="horz" wrap="square" lIns="68580" tIns="34290" rIns="68580" bIns="34290" anchor="t"/>
          <a:lstStyle/>
          <a:p>
            <a:pPr algn="ctr"/>
            <a:r>
              <a:rPr lang="zh-CN" altLang="en-US" b="1" dirty="0">
                <a:latin typeface="宋体" panose="02010600030101010101" pitchFamily="2" charset="-122"/>
                <a:ea typeface="宋体" panose="02010600030101010101" pitchFamily="2" charset="-122"/>
              </a:rPr>
              <a:t>情节严重</a:t>
            </a:r>
          </a:p>
          <a:p>
            <a:endParaRPr lang="zh-CN" altLang="en-US" sz="2100" b="0" dirty="0">
              <a:latin typeface="宋体" panose="02010600030101010101" pitchFamily="2" charset="-122"/>
              <a:ea typeface="宋体" panose="02010600030101010101" pitchFamily="2" charset="-122"/>
            </a:endParaRPr>
          </a:p>
        </p:txBody>
      </p:sp>
      <p:sp>
        <p:nvSpPr>
          <p:cNvPr id="10" name="文本框 9"/>
          <p:cNvSpPr txBox="1"/>
          <p:nvPr/>
        </p:nvSpPr>
        <p:spPr>
          <a:xfrm>
            <a:off x="714348" y="1428742"/>
            <a:ext cx="6000792" cy="369332"/>
          </a:xfrm>
          <a:prstGeom prst="rect">
            <a:avLst/>
          </a:prstGeom>
          <a:noFill/>
          <a:ln>
            <a:solidFill>
              <a:schemeClr val="bg1"/>
            </a:solidFill>
          </a:ln>
        </p:spPr>
        <p:txBody>
          <a:bodyPr wrap="square" rtlCol="0">
            <a:spAutoFit/>
          </a:bodyPr>
          <a:lstStyle/>
          <a:p>
            <a:r>
              <a:rPr lang="en-US" altLang="zh-CN" b="1" dirty="0">
                <a:solidFill>
                  <a:srgbClr val="1143CF"/>
                </a:solidFill>
              </a:rPr>
              <a:t>1. </a:t>
            </a:r>
            <a:r>
              <a:rPr lang="zh-CN" altLang="en-US" b="1" dirty="0">
                <a:solidFill>
                  <a:srgbClr val="1143CF"/>
                </a:solidFill>
              </a:rPr>
              <a:t>在境外实施损害</a:t>
            </a:r>
            <a:r>
              <a:rPr lang="zh-CN" altLang="en-US" b="1" dirty="0">
                <a:solidFill>
                  <a:srgbClr val="FF0000"/>
                </a:solidFill>
              </a:rPr>
              <a:t>国家利益</a:t>
            </a:r>
            <a:r>
              <a:rPr lang="zh-CN" altLang="en-US" b="1" dirty="0">
                <a:solidFill>
                  <a:srgbClr val="1143CF"/>
                </a:solidFill>
              </a:rPr>
              <a:t>行为的</a:t>
            </a:r>
            <a:r>
              <a:rPr lang="en-US" b="1" dirty="0">
                <a:solidFill>
                  <a:srgbClr val="1143CF"/>
                </a:solidFill>
              </a:rPr>
              <a:t>;</a:t>
            </a:r>
            <a:endParaRPr lang="zh-CN" altLang="en-US" b="1" dirty="0">
              <a:solidFill>
                <a:srgbClr val="1143CF"/>
              </a:solidFill>
            </a:endParaRPr>
          </a:p>
        </p:txBody>
      </p:sp>
      <p:sp>
        <p:nvSpPr>
          <p:cNvPr id="12" name="Rectangle 2"/>
          <p:cNvSpPr>
            <a:spLocks noGrp="1"/>
          </p:cNvSpPr>
          <p:nvPr>
            <p:ph type="title"/>
          </p:nvPr>
        </p:nvSpPr>
        <p:spPr/>
        <p:txBody>
          <a:bodyPr vert="horz" wrap="square" lIns="68580" tIns="34290" rIns="68580" bIns="34290" anchor="ctr"/>
          <a:lstStyle/>
          <a:p>
            <a:r>
              <a:rPr lang="en-US" altLang="zh-CN" sz="2400" dirty="0"/>
              <a:t>1.1 </a:t>
            </a:r>
            <a:r>
              <a:rPr lang="zh-CN" altLang="en-US" sz="2400" dirty="0"/>
              <a:t>偷越国（边）境罪</a:t>
            </a:r>
            <a:endParaRPr lang="zh-CN" altLang="en-US" sz="2400" dirty="0">
              <a:effectLst/>
            </a:endParaRPr>
          </a:p>
        </p:txBody>
      </p:sp>
      <p:sp>
        <p:nvSpPr>
          <p:cNvPr id="16" name="文本框 9"/>
          <p:cNvSpPr txBox="1"/>
          <p:nvPr/>
        </p:nvSpPr>
        <p:spPr>
          <a:xfrm>
            <a:off x="714348" y="2000246"/>
            <a:ext cx="6215106" cy="369332"/>
          </a:xfrm>
          <a:prstGeom prst="rect">
            <a:avLst/>
          </a:prstGeom>
          <a:noFill/>
          <a:ln>
            <a:solidFill>
              <a:schemeClr val="bg1"/>
            </a:solidFill>
          </a:ln>
        </p:spPr>
        <p:txBody>
          <a:bodyPr wrap="square" rtlCol="0">
            <a:spAutoFit/>
          </a:bodyPr>
          <a:lstStyle/>
          <a:p>
            <a:r>
              <a:rPr lang="en-US" altLang="zh-CN" b="1" dirty="0">
                <a:solidFill>
                  <a:srgbClr val="1143CF"/>
                </a:solidFill>
              </a:rPr>
              <a:t>2. </a:t>
            </a:r>
            <a:r>
              <a:rPr lang="zh-CN" altLang="en-US" b="1" dirty="0">
                <a:solidFill>
                  <a:srgbClr val="1143CF"/>
                </a:solidFill>
              </a:rPr>
              <a:t>偷越国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境三次以上或者三人以上</a:t>
            </a:r>
            <a:r>
              <a:rPr lang="zh-CN" altLang="en-US" b="1" dirty="0">
                <a:solidFill>
                  <a:srgbClr val="FF0000"/>
                </a:solidFill>
              </a:rPr>
              <a:t>结伙</a:t>
            </a:r>
            <a:r>
              <a:rPr lang="zh-CN" altLang="en-US" b="1" dirty="0">
                <a:solidFill>
                  <a:srgbClr val="1143CF"/>
                </a:solidFill>
              </a:rPr>
              <a:t>偷越国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境的</a:t>
            </a:r>
            <a:r>
              <a:rPr lang="en-US" b="1" dirty="0">
                <a:solidFill>
                  <a:srgbClr val="1143CF"/>
                </a:solidFill>
              </a:rPr>
              <a:t>;</a:t>
            </a:r>
            <a:endParaRPr lang="zh-CN" altLang="en-US" b="1" dirty="0">
              <a:solidFill>
                <a:srgbClr val="1143CF"/>
              </a:solidFill>
            </a:endParaRPr>
          </a:p>
        </p:txBody>
      </p:sp>
      <p:sp>
        <p:nvSpPr>
          <p:cNvPr id="17" name="文本框 9"/>
          <p:cNvSpPr txBox="1"/>
          <p:nvPr/>
        </p:nvSpPr>
        <p:spPr>
          <a:xfrm>
            <a:off x="714348" y="2500312"/>
            <a:ext cx="6000792" cy="369332"/>
          </a:xfrm>
          <a:prstGeom prst="rect">
            <a:avLst/>
          </a:prstGeom>
          <a:noFill/>
          <a:ln>
            <a:solidFill>
              <a:schemeClr val="bg1"/>
            </a:solidFill>
          </a:ln>
        </p:spPr>
        <p:txBody>
          <a:bodyPr wrap="square" rtlCol="0">
            <a:spAutoFit/>
          </a:bodyPr>
          <a:lstStyle/>
          <a:p>
            <a:r>
              <a:rPr lang="en-US" altLang="zh-CN" b="1" dirty="0">
                <a:solidFill>
                  <a:srgbClr val="1143CF"/>
                </a:solidFill>
              </a:rPr>
              <a:t>3. </a:t>
            </a:r>
            <a:r>
              <a:rPr lang="zh-CN" altLang="en-US" b="1" dirty="0">
                <a:solidFill>
                  <a:srgbClr val="1143CF"/>
                </a:solidFill>
              </a:rPr>
              <a:t>拉拢、引诱他人一起偷越国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境的</a:t>
            </a:r>
            <a:r>
              <a:rPr lang="en-US" b="1" dirty="0">
                <a:solidFill>
                  <a:srgbClr val="1143CF"/>
                </a:solidFill>
              </a:rPr>
              <a:t>;</a:t>
            </a:r>
            <a:endParaRPr lang="zh-CN" altLang="en-US" b="1" dirty="0">
              <a:solidFill>
                <a:srgbClr val="1143CF"/>
              </a:solidFill>
            </a:endParaRPr>
          </a:p>
        </p:txBody>
      </p:sp>
      <p:sp>
        <p:nvSpPr>
          <p:cNvPr id="18" name="文本框 9"/>
          <p:cNvSpPr txBox="1"/>
          <p:nvPr/>
        </p:nvSpPr>
        <p:spPr>
          <a:xfrm>
            <a:off x="714348" y="3000378"/>
            <a:ext cx="6000792" cy="369332"/>
          </a:xfrm>
          <a:prstGeom prst="rect">
            <a:avLst/>
          </a:prstGeom>
          <a:noFill/>
          <a:ln>
            <a:solidFill>
              <a:schemeClr val="bg1"/>
            </a:solidFill>
          </a:ln>
        </p:spPr>
        <p:txBody>
          <a:bodyPr wrap="square" rtlCol="0">
            <a:spAutoFit/>
          </a:bodyPr>
          <a:lstStyle/>
          <a:p>
            <a:r>
              <a:rPr lang="en-US" altLang="zh-CN" b="1" dirty="0">
                <a:solidFill>
                  <a:srgbClr val="1143CF"/>
                </a:solidFill>
              </a:rPr>
              <a:t>4. </a:t>
            </a:r>
            <a:r>
              <a:rPr lang="zh-CN" altLang="en-US" b="1" dirty="0">
                <a:solidFill>
                  <a:srgbClr val="FF0000"/>
                </a:solidFill>
              </a:rPr>
              <a:t>勾结境外</a:t>
            </a:r>
            <a:r>
              <a:rPr lang="zh-CN" altLang="en-US" b="1" dirty="0">
                <a:solidFill>
                  <a:srgbClr val="1143CF"/>
                </a:solidFill>
              </a:rPr>
              <a:t>组织、人员偷越国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境的</a:t>
            </a:r>
            <a:r>
              <a:rPr lang="en-US" b="1" dirty="0">
                <a:solidFill>
                  <a:srgbClr val="1143CF"/>
                </a:solidFill>
              </a:rPr>
              <a:t>;</a:t>
            </a:r>
            <a:endParaRPr lang="zh-CN" altLang="en-US" b="1" dirty="0">
              <a:solidFill>
                <a:srgbClr val="1143CF"/>
              </a:solidFill>
            </a:endParaRPr>
          </a:p>
        </p:txBody>
      </p:sp>
      <p:sp>
        <p:nvSpPr>
          <p:cNvPr id="19" name="文本框 9"/>
          <p:cNvSpPr txBox="1"/>
          <p:nvPr/>
        </p:nvSpPr>
        <p:spPr>
          <a:xfrm>
            <a:off x="714348" y="3571882"/>
            <a:ext cx="6000792" cy="369332"/>
          </a:xfrm>
          <a:prstGeom prst="rect">
            <a:avLst/>
          </a:prstGeom>
          <a:noFill/>
          <a:ln>
            <a:solidFill>
              <a:schemeClr val="bg1"/>
            </a:solidFill>
          </a:ln>
        </p:spPr>
        <p:txBody>
          <a:bodyPr wrap="square" rtlCol="0">
            <a:spAutoFit/>
          </a:bodyPr>
          <a:lstStyle/>
          <a:p>
            <a:r>
              <a:rPr lang="en-US" altLang="zh-CN" b="1" dirty="0">
                <a:solidFill>
                  <a:srgbClr val="1143CF"/>
                </a:solidFill>
              </a:rPr>
              <a:t>5. </a:t>
            </a:r>
            <a:r>
              <a:rPr lang="zh-CN" altLang="en-US" b="1" dirty="0">
                <a:solidFill>
                  <a:srgbClr val="1143CF"/>
                </a:solidFill>
              </a:rPr>
              <a:t>因偷越国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境被行政处罚后一年内又偷越国</a:t>
            </a:r>
            <a:r>
              <a:rPr lang="en-US" b="1" dirty="0">
                <a:solidFill>
                  <a:srgbClr val="1143CF"/>
                </a:solidFill>
              </a:rPr>
              <a:t>(</a:t>
            </a:r>
            <a:r>
              <a:rPr lang="zh-CN" altLang="en-US" b="1" dirty="0">
                <a:solidFill>
                  <a:srgbClr val="1143CF"/>
                </a:solidFill>
              </a:rPr>
              <a:t>边</a:t>
            </a:r>
            <a:r>
              <a:rPr lang="en-US" b="1" dirty="0">
                <a:solidFill>
                  <a:srgbClr val="1143CF"/>
                </a:solidFill>
              </a:rPr>
              <a:t>)</a:t>
            </a:r>
            <a:r>
              <a:rPr lang="zh-CN" altLang="en-US" b="1" dirty="0">
                <a:solidFill>
                  <a:srgbClr val="1143CF"/>
                </a:solidFill>
              </a:rPr>
              <a:t>境的</a:t>
            </a:r>
            <a:r>
              <a:rPr lang="en-US" b="1" dirty="0">
                <a:solidFill>
                  <a:srgbClr val="1143CF"/>
                </a:solidFill>
              </a:rPr>
              <a:t>;</a:t>
            </a:r>
            <a:endParaRPr lang="zh-CN" altLang="en-US" b="1" dirty="0">
              <a:solidFill>
                <a:srgbClr val="1143CF"/>
              </a:solidFill>
            </a:endParaRPr>
          </a:p>
        </p:txBody>
      </p:sp>
      <p:sp>
        <p:nvSpPr>
          <p:cNvPr id="21" name="文本框 9"/>
          <p:cNvSpPr txBox="1"/>
          <p:nvPr/>
        </p:nvSpPr>
        <p:spPr>
          <a:xfrm>
            <a:off x="714348" y="4143386"/>
            <a:ext cx="6000792" cy="369332"/>
          </a:xfrm>
          <a:prstGeom prst="rect">
            <a:avLst/>
          </a:prstGeom>
          <a:noFill/>
          <a:ln>
            <a:solidFill>
              <a:schemeClr val="bg1"/>
            </a:solidFill>
          </a:ln>
        </p:spPr>
        <p:txBody>
          <a:bodyPr wrap="square" rtlCol="0">
            <a:spAutoFit/>
          </a:bodyPr>
          <a:lstStyle/>
          <a:p>
            <a:r>
              <a:rPr lang="en-US" altLang="zh-CN" b="1" dirty="0">
                <a:solidFill>
                  <a:srgbClr val="1143CF"/>
                </a:solidFill>
              </a:rPr>
              <a:t>6. </a:t>
            </a:r>
            <a:r>
              <a:rPr lang="zh-CN" altLang="en-US" b="1" dirty="0">
                <a:solidFill>
                  <a:srgbClr val="1143CF"/>
                </a:solidFill>
              </a:rPr>
              <a:t>其他情节严重的情形 。</a:t>
            </a:r>
          </a:p>
        </p:txBody>
      </p:sp>
      <p:sp>
        <p:nvSpPr>
          <p:cNvPr id="28" name="TextBox 27"/>
          <p:cNvSpPr txBox="1"/>
          <p:nvPr/>
        </p:nvSpPr>
        <p:spPr>
          <a:xfrm>
            <a:off x="7000892" y="3500444"/>
            <a:ext cx="2000264" cy="646331"/>
          </a:xfrm>
          <a:prstGeom prst="rect">
            <a:avLst/>
          </a:prstGeom>
          <a:noFill/>
          <a:ln>
            <a:solidFill>
              <a:schemeClr val="tx1"/>
            </a:solidFill>
          </a:ln>
        </p:spPr>
        <p:txBody>
          <a:bodyPr wrap="square" rtlCol="0">
            <a:spAutoFit/>
          </a:bodyPr>
          <a:lstStyle/>
          <a:p>
            <a:r>
              <a:rPr lang="zh-CN" altLang="en-US" b="1" dirty="0">
                <a:solidFill>
                  <a:srgbClr val="1143CF"/>
                </a:solidFill>
              </a:rPr>
              <a:t>将再犯可能性作为不法内容对待</a:t>
            </a:r>
          </a:p>
        </p:txBody>
      </p:sp>
      <p:sp>
        <p:nvSpPr>
          <p:cNvPr id="29" name="TextBox 28"/>
          <p:cNvSpPr txBox="1"/>
          <p:nvPr/>
        </p:nvSpPr>
        <p:spPr>
          <a:xfrm>
            <a:off x="7000892" y="3000378"/>
            <a:ext cx="1107996" cy="369332"/>
          </a:xfrm>
          <a:prstGeom prst="rect">
            <a:avLst/>
          </a:prstGeom>
          <a:noFill/>
          <a:ln>
            <a:solidFill>
              <a:schemeClr val="tx1"/>
            </a:solidFill>
          </a:ln>
        </p:spPr>
        <p:txBody>
          <a:bodyPr wrap="none" rtlCol="0">
            <a:spAutoFit/>
          </a:bodyPr>
          <a:lstStyle/>
          <a:p>
            <a:r>
              <a:rPr lang="zh-CN" altLang="en-US" b="1" dirty="0">
                <a:solidFill>
                  <a:srgbClr val="1143CF"/>
                </a:solidFill>
              </a:rPr>
              <a:t>扩大解释</a:t>
            </a:r>
          </a:p>
        </p:txBody>
      </p:sp>
      <p:sp>
        <p:nvSpPr>
          <p:cNvPr id="30" name="TextBox 29"/>
          <p:cNvSpPr txBox="1"/>
          <p:nvPr/>
        </p:nvSpPr>
        <p:spPr>
          <a:xfrm>
            <a:off x="7000892" y="2071684"/>
            <a:ext cx="1107996" cy="369332"/>
          </a:xfrm>
          <a:prstGeom prst="rect">
            <a:avLst/>
          </a:prstGeom>
          <a:noFill/>
          <a:ln>
            <a:solidFill>
              <a:schemeClr val="tx1"/>
            </a:solidFill>
          </a:ln>
        </p:spPr>
        <p:txBody>
          <a:bodyPr wrap="none" rtlCol="0">
            <a:spAutoFit/>
          </a:bodyPr>
          <a:lstStyle/>
          <a:p>
            <a:r>
              <a:rPr lang="zh-CN" altLang="en-US" b="1" dirty="0">
                <a:solidFill>
                  <a:srgbClr val="1143CF"/>
                </a:solidFill>
              </a:rPr>
              <a:t>共同犯罪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linds(horizontal)">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blinds(horizontal)">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blinds(horizontal)">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17" grpId="0" animBg="1"/>
      <p:bldP spid="18" grpId="0" animBg="1"/>
      <p:bldP spid="19" grpId="0" animBg="1"/>
      <p:bldP spid="21" grpId="0" animBg="1"/>
      <p:bldP spid="28" grpId="0" animBg="1"/>
      <p:bldP spid="29" grpId="0" animBg="1"/>
      <p:bldP spid="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mn-ea"/>
              </a:rPr>
              <a:t>1.1.3 </a:t>
            </a:r>
            <a:r>
              <a:rPr lang="zh-CN" altLang="en-US" sz="2000" b="1" dirty="0">
                <a:latin typeface="+mn-ea"/>
              </a:rPr>
              <a:t>偷越国（边）境罪的罪数</a:t>
            </a:r>
          </a:p>
          <a:p>
            <a:endParaRPr lang="zh-CN" altLang="en-US" sz="2100" b="0" dirty="0">
              <a:latin typeface="宋体" panose="02010600030101010101" pitchFamily="2" charset="-122"/>
              <a:ea typeface="宋体" panose="02010600030101010101" pitchFamily="2" charset="-122"/>
            </a:endParaRPr>
          </a:p>
        </p:txBody>
      </p:sp>
      <p:sp>
        <p:nvSpPr>
          <p:cNvPr id="11265" name="Rectangle 2"/>
          <p:cNvSpPr>
            <a:spLocks noGrp="1"/>
          </p:cNvSpPr>
          <p:nvPr>
            <p:ph type="title"/>
          </p:nvPr>
        </p:nvSpPr>
        <p:spPr>
          <a:xfrm>
            <a:off x="4090988" y="76756"/>
            <a:ext cx="5029200" cy="432197"/>
          </a:xfrm>
        </p:spPr>
        <p:txBody>
          <a:bodyPr vert="horz" wrap="square" lIns="68580" tIns="34290" rIns="68580" bIns="34290" anchor="ctr"/>
          <a:lstStyle/>
          <a:p>
            <a:pPr algn="ctr"/>
            <a:r>
              <a:rPr lang="en-US" altLang="zh-CN" sz="2400" dirty="0"/>
              <a:t>1.1 </a:t>
            </a:r>
            <a:r>
              <a:rPr lang="zh-CN" altLang="en-US" sz="2400" dirty="0"/>
              <a:t>偷越国（边）境罪</a:t>
            </a:r>
            <a:endParaRPr lang="zh-CN" altLang="en-US" sz="2400" dirty="0">
              <a:effectLst/>
            </a:endParaRPr>
          </a:p>
        </p:txBody>
      </p:sp>
      <p:sp>
        <p:nvSpPr>
          <p:cNvPr id="2" name="文本框 1"/>
          <p:cNvSpPr txBox="1"/>
          <p:nvPr/>
        </p:nvSpPr>
        <p:spPr>
          <a:xfrm>
            <a:off x="683568" y="1419622"/>
            <a:ext cx="6960266" cy="400110"/>
          </a:xfrm>
          <a:prstGeom prst="rect">
            <a:avLst/>
          </a:prstGeom>
          <a:noFill/>
        </p:spPr>
        <p:txBody>
          <a:bodyPr wrap="square" rtlCol="0">
            <a:spAutoFit/>
          </a:bodyPr>
          <a:lstStyle/>
          <a:p>
            <a:r>
              <a:rPr lang="zh-CN" altLang="en-US" sz="2000" b="1" dirty="0">
                <a:solidFill>
                  <a:srgbClr val="1143CF"/>
                </a:solidFill>
                <a:latin typeface="+mn-ea"/>
                <a:ea typeface="+mn-ea"/>
              </a:rPr>
              <a:t>问题</a:t>
            </a:r>
            <a:r>
              <a:rPr lang="en-US" altLang="zh-CN" sz="2000" b="1" dirty="0">
                <a:solidFill>
                  <a:srgbClr val="1143CF"/>
                </a:solidFill>
                <a:latin typeface="+mn-ea"/>
                <a:ea typeface="+mn-ea"/>
              </a:rPr>
              <a:t>1</a:t>
            </a:r>
            <a:r>
              <a:rPr lang="zh-CN" altLang="en-US" sz="2000" b="1" dirty="0">
                <a:solidFill>
                  <a:srgbClr val="1143CF"/>
                </a:solidFill>
                <a:latin typeface="+mn-ea"/>
                <a:ea typeface="+mn-ea"/>
              </a:rPr>
              <a:t>：走私犯罪人偷越国（边）境的，应该如何认定犯罪？</a:t>
            </a:r>
          </a:p>
        </p:txBody>
      </p:sp>
      <p:sp>
        <p:nvSpPr>
          <p:cNvPr id="3" name="文本框 2"/>
          <p:cNvSpPr txBox="1"/>
          <p:nvPr/>
        </p:nvSpPr>
        <p:spPr>
          <a:xfrm>
            <a:off x="657817" y="3104232"/>
            <a:ext cx="7000924" cy="707886"/>
          </a:xfrm>
          <a:prstGeom prst="rect">
            <a:avLst/>
          </a:prstGeom>
          <a:noFill/>
        </p:spPr>
        <p:txBody>
          <a:bodyPr wrap="square" rtlCol="0">
            <a:spAutoFit/>
          </a:bodyPr>
          <a:lstStyle/>
          <a:p>
            <a:r>
              <a:rPr lang="zh-CN" altLang="en-US" sz="2000" b="1" dirty="0">
                <a:solidFill>
                  <a:srgbClr val="C00000"/>
                </a:solidFill>
                <a:latin typeface="宋体" panose="02010600030101010101" pitchFamily="2" charset="-122"/>
                <a:ea typeface="宋体" panose="02010600030101010101" pitchFamily="2" charset="-122"/>
              </a:rPr>
              <a:t>张明楷：走私犯罪人偷越国（边）境的，是走私罪与偷越国（边）境罪的想象竞合，从一重罪处罚。</a:t>
            </a:r>
          </a:p>
        </p:txBody>
      </p:sp>
      <p:sp>
        <p:nvSpPr>
          <p:cNvPr id="4" name="文本框 3">
            <a:extLst>
              <a:ext uri="{FF2B5EF4-FFF2-40B4-BE49-F238E27FC236}">
                <a16:creationId xmlns:a16="http://schemas.microsoft.com/office/drawing/2014/main" id="{4DCED1E0-B4EF-8280-C950-7DAFA37CFDC1}"/>
              </a:ext>
            </a:extLst>
          </p:cNvPr>
          <p:cNvSpPr txBox="1"/>
          <p:nvPr/>
        </p:nvSpPr>
        <p:spPr>
          <a:xfrm>
            <a:off x="590526" y="1986220"/>
            <a:ext cx="7000924" cy="1015663"/>
          </a:xfrm>
          <a:prstGeom prst="rect">
            <a:avLst/>
          </a:prstGeom>
          <a:noFill/>
        </p:spPr>
        <p:txBody>
          <a:bodyPr wrap="square" rtlCol="0">
            <a:spAutoFit/>
          </a:bodyPr>
          <a:lstStyle/>
          <a:p>
            <a:r>
              <a:rPr lang="zh-CN" altLang="en-US" sz="2000" b="1" dirty="0">
                <a:solidFill>
                  <a:srgbClr val="C00000"/>
                </a:solidFill>
                <a:latin typeface="宋体" panose="02010600030101010101" pitchFamily="2" charset="-122"/>
                <a:ea typeface="宋体" panose="02010600030101010101" pitchFamily="2" charset="-122"/>
              </a:rPr>
              <a:t>走私武器、弹药罪，行为之一：未经国务院或国务院授权的部门批准，不经过设立海关的地点，非法运输、携带武器、弹药进出国（边）境。</a:t>
            </a:r>
          </a:p>
        </p:txBody>
      </p:sp>
      <p:sp>
        <p:nvSpPr>
          <p:cNvPr id="5" name="文本框 4">
            <a:extLst>
              <a:ext uri="{FF2B5EF4-FFF2-40B4-BE49-F238E27FC236}">
                <a16:creationId xmlns:a16="http://schemas.microsoft.com/office/drawing/2014/main" id="{F1D3706E-661D-266B-3A5D-47973FBA98FB}"/>
              </a:ext>
            </a:extLst>
          </p:cNvPr>
          <p:cNvSpPr txBox="1"/>
          <p:nvPr/>
        </p:nvSpPr>
        <p:spPr>
          <a:xfrm>
            <a:off x="657817" y="3914467"/>
            <a:ext cx="7000924" cy="707886"/>
          </a:xfrm>
          <a:prstGeom prst="rect">
            <a:avLst/>
          </a:prstGeom>
          <a:noFill/>
        </p:spPr>
        <p:txBody>
          <a:bodyPr wrap="square" rtlCol="0">
            <a:spAutoFit/>
          </a:bodyPr>
          <a:lstStyle/>
          <a:p>
            <a:r>
              <a:rPr lang="zh-CN" altLang="en-US" sz="2000" b="1" dirty="0">
                <a:solidFill>
                  <a:srgbClr val="C00000"/>
                </a:solidFill>
                <a:latin typeface="宋体" panose="02010600030101010101" pitchFamily="2" charset="-122"/>
                <a:ea typeface="宋体" panose="02010600030101010101" pitchFamily="2" charset="-122"/>
              </a:rPr>
              <a:t>俞瑶：走私犯罪人偷越国（边）境的，是走私罪与偷越国（边）境罪存在牵连关系，按牵连犯从一重罪处罚。</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DC33D-6952-60CF-E534-ABA20D022404}"/>
            </a:ext>
          </a:extLst>
        </p:cNvPr>
        <p:cNvGrpSpPr/>
        <p:nvPr/>
      </p:nvGrpSpPr>
      <p:grpSpPr>
        <a:xfrm>
          <a:off x="0" y="0"/>
          <a:ext cx="0" cy="0"/>
          <a:chOff x="0" y="0"/>
          <a:chExt cx="0" cy="0"/>
        </a:xfrm>
      </p:grpSpPr>
      <p:sp>
        <p:nvSpPr>
          <p:cNvPr id="421891" name="Rectangle 3">
            <a:extLst>
              <a:ext uri="{FF2B5EF4-FFF2-40B4-BE49-F238E27FC236}">
                <a16:creationId xmlns:a16="http://schemas.microsoft.com/office/drawing/2014/main" id="{1A21D176-0464-9FE9-83D4-B5F9F0CD6FE8}"/>
              </a:ext>
            </a:extLst>
          </p:cNvPr>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mn-ea"/>
              </a:rPr>
              <a:t>1.1.3 </a:t>
            </a:r>
            <a:r>
              <a:rPr lang="zh-CN" altLang="en-US" sz="2000" b="1" dirty="0">
                <a:latin typeface="+mn-ea"/>
              </a:rPr>
              <a:t>偷越国（边）境罪的罪数</a:t>
            </a:r>
          </a:p>
          <a:p>
            <a:endParaRPr lang="zh-CN" altLang="en-US" sz="2100" b="0" dirty="0">
              <a:latin typeface="宋体" panose="02010600030101010101" pitchFamily="2" charset="-122"/>
              <a:ea typeface="宋体" panose="02010600030101010101" pitchFamily="2" charset="-122"/>
            </a:endParaRPr>
          </a:p>
        </p:txBody>
      </p:sp>
      <p:sp>
        <p:nvSpPr>
          <p:cNvPr id="11265" name="Rectangle 2">
            <a:extLst>
              <a:ext uri="{FF2B5EF4-FFF2-40B4-BE49-F238E27FC236}">
                <a16:creationId xmlns:a16="http://schemas.microsoft.com/office/drawing/2014/main" id="{29126128-FB53-E4B5-176B-246A8BA69C3A}"/>
              </a:ext>
            </a:extLst>
          </p:cNvPr>
          <p:cNvSpPr>
            <a:spLocks noGrp="1"/>
          </p:cNvSpPr>
          <p:nvPr>
            <p:ph type="title"/>
          </p:nvPr>
        </p:nvSpPr>
        <p:spPr>
          <a:xfrm>
            <a:off x="4090988" y="76756"/>
            <a:ext cx="5029200" cy="432197"/>
          </a:xfrm>
        </p:spPr>
        <p:txBody>
          <a:bodyPr vert="horz" wrap="square" lIns="68580" tIns="34290" rIns="68580" bIns="34290" anchor="ctr"/>
          <a:lstStyle/>
          <a:p>
            <a:pPr algn="ctr"/>
            <a:r>
              <a:rPr lang="en-US" altLang="zh-CN" sz="2400" dirty="0"/>
              <a:t>1.1 </a:t>
            </a:r>
            <a:r>
              <a:rPr lang="zh-CN" altLang="en-US" sz="2400" dirty="0"/>
              <a:t>偷越国（边）境罪</a:t>
            </a:r>
            <a:endParaRPr lang="zh-CN" altLang="en-US" sz="2400" dirty="0">
              <a:effectLst/>
            </a:endParaRPr>
          </a:p>
        </p:txBody>
      </p:sp>
      <p:sp>
        <p:nvSpPr>
          <p:cNvPr id="6" name="文本框 5">
            <a:extLst>
              <a:ext uri="{FF2B5EF4-FFF2-40B4-BE49-F238E27FC236}">
                <a16:creationId xmlns:a16="http://schemas.microsoft.com/office/drawing/2014/main" id="{7FEE3EA8-76F5-DD3C-10AF-4795F4028AF8}"/>
              </a:ext>
            </a:extLst>
          </p:cNvPr>
          <p:cNvSpPr txBox="1"/>
          <p:nvPr/>
        </p:nvSpPr>
        <p:spPr>
          <a:xfrm>
            <a:off x="815995" y="1543416"/>
            <a:ext cx="6786610" cy="707886"/>
          </a:xfrm>
          <a:prstGeom prst="rect">
            <a:avLst/>
          </a:prstGeom>
          <a:noFill/>
        </p:spPr>
        <p:txBody>
          <a:bodyPr wrap="square" rtlCol="0">
            <a:spAutoFit/>
          </a:bodyPr>
          <a:lstStyle/>
          <a:p>
            <a:r>
              <a:rPr lang="zh-CN" altLang="en-US" sz="2000" b="1" dirty="0">
                <a:solidFill>
                  <a:srgbClr val="1143CF"/>
                </a:solidFill>
                <a:latin typeface="+mn-ea"/>
                <a:ea typeface="+mn-ea"/>
              </a:rPr>
              <a:t>问题</a:t>
            </a:r>
            <a:r>
              <a:rPr lang="en-US" altLang="zh-CN" sz="2000" b="1" dirty="0">
                <a:solidFill>
                  <a:srgbClr val="1143CF"/>
                </a:solidFill>
                <a:latin typeface="+mn-ea"/>
                <a:ea typeface="+mn-ea"/>
              </a:rPr>
              <a:t>2</a:t>
            </a:r>
            <a:r>
              <a:rPr lang="zh-CN" altLang="en-US" sz="2000" b="1" dirty="0">
                <a:solidFill>
                  <a:srgbClr val="1143CF"/>
                </a:solidFill>
                <a:latin typeface="+mn-ea"/>
                <a:ea typeface="+mn-ea"/>
              </a:rPr>
              <a:t>：国家机关工作人员或者掌握国家秘密的国家工作人员偷越国（边）境叛逃的，应该如何认定犯罪？</a:t>
            </a:r>
          </a:p>
        </p:txBody>
      </p:sp>
      <p:sp>
        <p:nvSpPr>
          <p:cNvPr id="8" name="文本框 2">
            <a:extLst>
              <a:ext uri="{FF2B5EF4-FFF2-40B4-BE49-F238E27FC236}">
                <a16:creationId xmlns:a16="http://schemas.microsoft.com/office/drawing/2014/main" id="{FBD361E7-2684-F8EE-35DC-B945EE4BFF78}"/>
              </a:ext>
            </a:extLst>
          </p:cNvPr>
          <p:cNvSpPr txBox="1"/>
          <p:nvPr/>
        </p:nvSpPr>
        <p:spPr>
          <a:xfrm>
            <a:off x="785786" y="3000378"/>
            <a:ext cx="7000924" cy="400110"/>
          </a:xfrm>
          <a:prstGeom prst="rect">
            <a:avLst/>
          </a:prstGeom>
          <a:noFill/>
        </p:spPr>
        <p:txBody>
          <a:bodyPr wrap="square" rtlCol="0">
            <a:spAutoFit/>
          </a:bodyPr>
          <a:lstStyle/>
          <a:p>
            <a:r>
              <a:rPr lang="zh-CN" altLang="en-US" sz="2000" b="1" dirty="0">
                <a:solidFill>
                  <a:srgbClr val="C00000"/>
                </a:solidFill>
                <a:latin typeface="宋体" panose="02010600030101010101" pitchFamily="2" charset="-122"/>
                <a:ea typeface="宋体" panose="02010600030101010101" pitchFamily="2" charset="-122"/>
              </a:rPr>
              <a:t>叛逃罪。</a:t>
            </a:r>
          </a:p>
        </p:txBody>
      </p:sp>
      <p:sp>
        <p:nvSpPr>
          <p:cNvPr id="11" name="文本框 10">
            <a:extLst>
              <a:ext uri="{FF2B5EF4-FFF2-40B4-BE49-F238E27FC236}">
                <a16:creationId xmlns:a16="http://schemas.microsoft.com/office/drawing/2014/main" id="{6B7062D2-830B-9B20-DDA2-AA0B2DBB0C2A}"/>
              </a:ext>
            </a:extLst>
          </p:cNvPr>
          <p:cNvSpPr txBox="1"/>
          <p:nvPr/>
        </p:nvSpPr>
        <p:spPr>
          <a:xfrm>
            <a:off x="2411760" y="2661824"/>
            <a:ext cx="6336704" cy="1477328"/>
          </a:xfrm>
          <a:prstGeom prst="rect">
            <a:avLst/>
          </a:prstGeom>
          <a:noFill/>
          <a:ln>
            <a:solidFill>
              <a:schemeClr val="accent1"/>
            </a:solidFill>
          </a:ln>
        </p:spPr>
        <p:txBody>
          <a:bodyPr wrap="square">
            <a:spAutoFit/>
          </a:bodyPr>
          <a:lstStyle/>
          <a:p>
            <a:r>
              <a:rPr lang="zh-CN" altLang="en-US" b="1" dirty="0"/>
              <a:t>第一百零九条　</a:t>
            </a:r>
            <a:r>
              <a:rPr lang="zh-CN" altLang="en-US" dirty="0"/>
              <a:t>国家机关工作人员在履行公务期间</a:t>
            </a:r>
            <a:r>
              <a:rPr lang="en-US" altLang="zh-CN" dirty="0"/>
              <a:t>,</a:t>
            </a:r>
            <a:r>
              <a:rPr lang="zh-CN" altLang="en-US" dirty="0"/>
              <a:t>擅离岗位</a:t>
            </a:r>
            <a:r>
              <a:rPr lang="en-US" altLang="zh-CN" dirty="0"/>
              <a:t>,</a:t>
            </a:r>
            <a:r>
              <a:rPr lang="zh-CN" altLang="en-US" dirty="0"/>
              <a:t>叛逃境外或者在境外叛逃</a:t>
            </a:r>
            <a:r>
              <a:rPr lang="en-US" altLang="zh-CN" dirty="0"/>
              <a:t>,</a:t>
            </a:r>
            <a:r>
              <a:rPr lang="zh-CN" altLang="en-US" dirty="0"/>
              <a:t>危害中华人民共和国国家安全的</a:t>
            </a:r>
            <a:r>
              <a:rPr lang="en-US" altLang="zh-CN" dirty="0"/>
              <a:t>,</a:t>
            </a:r>
            <a:r>
              <a:rPr lang="zh-CN" altLang="en-US" dirty="0"/>
              <a:t>处五年以下有期徒刑、拘役、管制或者剥夺政治权利</a:t>
            </a:r>
            <a:r>
              <a:rPr lang="en-US" altLang="zh-CN" dirty="0"/>
              <a:t>;</a:t>
            </a:r>
            <a:r>
              <a:rPr lang="zh-CN" altLang="en-US" dirty="0"/>
              <a:t>情节严重的</a:t>
            </a:r>
            <a:r>
              <a:rPr lang="en-US" altLang="zh-CN" dirty="0"/>
              <a:t>,</a:t>
            </a:r>
            <a:r>
              <a:rPr lang="zh-CN" altLang="en-US" dirty="0"/>
              <a:t>处五年以上十年以下有期徒刑。掌握国家秘密的国家工作人员犯前款罪的</a:t>
            </a:r>
            <a:r>
              <a:rPr lang="en-US" altLang="zh-CN" dirty="0"/>
              <a:t>,</a:t>
            </a:r>
            <a:r>
              <a:rPr lang="zh-CN" altLang="en-US" dirty="0"/>
              <a:t>依照前款的规定从重处罚。</a:t>
            </a:r>
          </a:p>
        </p:txBody>
      </p:sp>
    </p:spTree>
    <p:extLst>
      <p:ext uri="{BB962C8B-B14F-4D97-AF65-F5344CB8AC3E}">
        <p14:creationId xmlns:p14="http://schemas.microsoft.com/office/powerpoint/2010/main" val="332370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1707654"/>
            <a:ext cx="8496944" cy="1323439"/>
          </a:xfrm>
          <a:prstGeom prst="rect">
            <a:avLst/>
          </a:prstGeom>
          <a:noFill/>
        </p:spPr>
        <p:txBody>
          <a:bodyPr wrap="square" rtlCol="0">
            <a:spAutoFit/>
          </a:bodyPr>
          <a:lstStyle/>
          <a:p>
            <a:pPr algn="just"/>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偷越国（边）境罪</a:t>
            </a:r>
            <a:r>
              <a:rPr lang="en-US" altLang="zh-CN" sz="2000" b="1"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违反国（边）境管理法规，偷越国（边）境，情节严重的，处一年以下有期徒刑、拘役或者管制，并处罚金；</a:t>
            </a:r>
            <a:r>
              <a:rPr lang="zh-CN" altLang="en-US" sz="2000" dirty="0">
                <a:solidFill>
                  <a:srgbClr val="FF0000"/>
                </a:solidFill>
                <a:latin typeface="宋体" panose="02010600030101010101" pitchFamily="2" charset="-122"/>
                <a:ea typeface="宋体" panose="02010600030101010101" pitchFamily="2" charset="-122"/>
              </a:rPr>
              <a:t>为参加恐怖活动组织、接受恐怖活动培训或者实施恐怖活动，</a:t>
            </a:r>
            <a:r>
              <a:rPr lang="zh-CN" altLang="en-US" sz="2000" dirty="0">
                <a:latin typeface="宋体" panose="02010600030101010101" pitchFamily="2" charset="-122"/>
                <a:ea typeface="宋体" panose="02010600030101010101" pitchFamily="2" charset="-122"/>
              </a:rPr>
              <a:t>偷越国（边）境的，处一年以上三年以下有期徒刑，并处罚金。</a:t>
            </a:r>
          </a:p>
        </p:txBody>
      </p:sp>
      <p:sp>
        <p:nvSpPr>
          <p:cNvPr id="3" name="文本框 2"/>
          <p:cNvSpPr txBox="1"/>
          <p:nvPr/>
        </p:nvSpPr>
        <p:spPr>
          <a:xfrm>
            <a:off x="323528" y="987574"/>
            <a:ext cx="1152128" cy="523220"/>
          </a:xfrm>
          <a:prstGeom prst="rect">
            <a:avLst/>
          </a:prstGeom>
          <a:noFill/>
        </p:spPr>
        <p:txBody>
          <a:bodyPr wrap="square" rtlCol="0">
            <a:spAutoFit/>
          </a:bodyPr>
          <a:lstStyle/>
          <a:p>
            <a:r>
              <a:rPr lang="zh-CN" altLang="en-US" sz="2800" dirty="0"/>
              <a:t>刑罚</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5786" y="765047"/>
            <a:ext cx="774571" cy="369332"/>
          </a:xfrm>
          <a:prstGeom prst="rect">
            <a:avLst/>
          </a:prstGeom>
          <a:noFill/>
        </p:spPr>
        <p:txBody>
          <a:bodyPr wrap="none" rtlCol="0">
            <a:spAutoFit/>
          </a:bodyPr>
          <a:lstStyle/>
          <a:p>
            <a:r>
              <a:rPr lang="zh-CN" altLang="en-US" b="1" dirty="0"/>
              <a:t>案例</a:t>
            </a:r>
            <a:r>
              <a:rPr lang="en-US" altLang="zh-CN" b="1" dirty="0"/>
              <a:t>1</a:t>
            </a:r>
            <a:endParaRPr lang="zh-CN" altLang="en-US" b="1" dirty="0"/>
          </a:p>
        </p:txBody>
      </p:sp>
      <p:sp>
        <p:nvSpPr>
          <p:cNvPr id="4" name="文本框 9"/>
          <p:cNvSpPr txBox="1"/>
          <p:nvPr/>
        </p:nvSpPr>
        <p:spPr>
          <a:xfrm>
            <a:off x="785786" y="1285866"/>
            <a:ext cx="7643866" cy="2554545"/>
          </a:xfrm>
          <a:prstGeom prst="rect">
            <a:avLst/>
          </a:prstGeom>
          <a:noFill/>
          <a:ln>
            <a:solidFill>
              <a:schemeClr val="tx1"/>
            </a:solidFill>
          </a:ln>
        </p:spPr>
        <p:txBody>
          <a:bodyPr wrap="square" rtlCol="0">
            <a:spAutoFit/>
          </a:bodyPr>
          <a:lstStyle/>
          <a:p>
            <a:pPr algn="just"/>
            <a:r>
              <a:rPr lang="zh-CN" altLang="en-US" sz="2000" b="1" dirty="0"/>
              <a:t>被告人</a:t>
            </a:r>
            <a:r>
              <a:rPr lang="en-US" altLang="zh-CN" sz="2000" b="1" dirty="0"/>
              <a:t>COJOCARU</a:t>
            </a:r>
            <a:r>
              <a:rPr lang="zh-CN" altLang="en-US" sz="2000" b="1" dirty="0"/>
              <a:t>（摩尔多瓦共和国籍）为来</a:t>
            </a:r>
            <a:r>
              <a:rPr lang="zh-CN" altLang="en-US" sz="2000" b="1" dirty="0">
                <a:solidFill>
                  <a:srgbClr val="C00000"/>
                </a:solidFill>
              </a:rPr>
              <a:t>中国工作</a:t>
            </a:r>
            <a:r>
              <a:rPr lang="zh-CN" altLang="en-US" sz="2000" b="1" dirty="0"/>
              <a:t>，于</a:t>
            </a:r>
            <a:r>
              <a:rPr lang="en-US" altLang="zh-CN" sz="2000" b="1" dirty="0"/>
              <a:t>2013</a:t>
            </a:r>
            <a:r>
              <a:rPr lang="zh-CN" altLang="en-US" sz="2000" b="1" dirty="0"/>
              <a:t>年</a:t>
            </a:r>
            <a:r>
              <a:rPr lang="en-US" altLang="zh-CN" sz="2000" b="1" dirty="0"/>
              <a:t>11</a:t>
            </a:r>
            <a:r>
              <a:rPr lang="zh-CN" altLang="en-US" sz="2000" b="1" dirty="0"/>
              <a:t>月</a:t>
            </a:r>
            <a:r>
              <a:rPr lang="en-US" altLang="zh-CN" sz="2000" b="1" dirty="0"/>
              <a:t>10</a:t>
            </a:r>
            <a:r>
              <a:rPr lang="zh-CN" altLang="en-US" sz="2000" b="1" dirty="0"/>
              <a:t>日持</a:t>
            </a:r>
            <a:r>
              <a:rPr lang="zh-CN" altLang="en-US" sz="2000" b="1" dirty="0">
                <a:solidFill>
                  <a:srgbClr val="C00000"/>
                </a:solidFill>
              </a:rPr>
              <a:t>旅游签证</a:t>
            </a:r>
            <a:r>
              <a:rPr lang="zh-CN" altLang="en-US" sz="2000" b="1" dirty="0"/>
              <a:t>从北京入境，后来到本市南岸区美心洋人街非法从事舞蹈表演工作。</a:t>
            </a:r>
            <a:r>
              <a:rPr lang="en-US" altLang="zh-CN" sz="2000" b="1" dirty="0"/>
              <a:t>2014</a:t>
            </a:r>
            <a:r>
              <a:rPr lang="zh-CN" altLang="en-US" sz="2000" b="1" dirty="0"/>
              <a:t>年</a:t>
            </a:r>
            <a:r>
              <a:rPr lang="en-US" altLang="zh-CN" sz="2000" b="1" dirty="0"/>
              <a:t>1</a:t>
            </a:r>
            <a:r>
              <a:rPr lang="zh-CN" altLang="en-US" sz="2000" b="1" dirty="0"/>
              <a:t>月至</a:t>
            </a:r>
            <a:r>
              <a:rPr lang="en-US" altLang="zh-CN" sz="2000" b="1" dirty="0"/>
              <a:t>3</a:t>
            </a:r>
            <a:r>
              <a:rPr lang="zh-CN" altLang="en-US" sz="2000" b="1" dirty="0"/>
              <a:t>月，因签证到期，被告人</a:t>
            </a:r>
            <a:r>
              <a:rPr lang="en-US" altLang="zh-CN" sz="2000" b="1" dirty="0"/>
              <a:t>COJOCARU</a:t>
            </a:r>
            <a:r>
              <a:rPr lang="zh-CN" altLang="en-US" sz="2000" b="1" dirty="0"/>
              <a:t>在李某某（另案处理）的组织下，先后</a:t>
            </a:r>
            <a:r>
              <a:rPr lang="zh-CN" altLang="en-US" sz="2000" b="1" dirty="0">
                <a:solidFill>
                  <a:srgbClr val="C00000"/>
                </a:solidFill>
              </a:rPr>
              <a:t>三次</a:t>
            </a:r>
            <a:r>
              <a:rPr lang="zh-CN" altLang="en-US" sz="2000" b="1" dirty="0"/>
              <a:t>从深圳出境前往澳门，并在澳门口岸签证机关骗取团体旅游签证后，再次从深圳入境。被告人</a:t>
            </a:r>
            <a:r>
              <a:rPr lang="en-US" altLang="zh-CN" sz="2000" b="1" dirty="0"/>
              <a:t>COJOCARU</a:t>
            </a:r>
            <a:r>
              <a:rPr lang="zh-CN" altLang="en-US" sz="2000" b="1" dirty="0"/>
              <a:t>于</a:t>
            </a:r>
            <a:r>
              <a:rPr lang="en-US" altLang="zh-CN" sz="2000" b="1" dirty="0"/>
              <a:t>2015</a:t>
            </a:r>
            <a:r>
              <a:rPr lang="zh-CN" altLang="en-US" sz="2000" b="1" dirty="0"/>
              <a:t>年</a:t>
            </a:r>
            <a:r>
              <a:rPr lang="en-US" altLang="zh-CN" sz="2000" b="1" dirty="0"/>
              <a:t>4</a:t>
            </a:r>
            <a:r>
              <a:rPr lang="zh-CN" altLang="en-US" sz="2000" b="1" dirty="0"/>
              <a:t>月</a:t>
            </a:r>
            <a:r>
              <a:rPr lang="en-US" altLang="zh-CN" sz="2000" b="1" dirty="0"/>
              <a:t>3</a:t>
            </a:r>
            <a:r>
              <a:rPr lang="zh-CN" altLang="en-US" sz="2000" b="1" dirty="0"/>
              <a:t>日主动到公安机关</a:t>
            </a:r>
            <a:r>
              <a:rPr lang="zh-CN" altLang="en-US" sz="2000" b="1" dirty="0">
                <a:solidFill>
                  <a:srgbClr val="C00000"/>
                </a:solidFill>
              </a:rPr>
              <a:t>投案</a:t>
            </a:r>
            <a:r>
              <a:rPr lang="zh-CN" altLang="en-US" sz="2000" b="1" dirty="0"/>
              <a:t>，如实供述了上述事实，并协助公安机关</a:t>
            </a:r>
            <a:r>
              <a:rPr lang="zh-CN" altLang="en-US" sz="2000" b="1" dirty="0">
                <a:solidFill>
                  <a:srgbClr val="C00000"/>
                </a:solidFill>
              </a:rPr>
              <a:t>抓获了其他四名</a:t>
            </a:r>
            <a:r>
              <a:rPr lang="zh-CN" altLang="en-US" sz="2000" b="1" dirty="0"/>
              <a:t>涉嫌偷越国（边）境的犯罪嫌疑人。 </a:t>
            </a:r>
            <a:endParaRPr lang="zh-CN" altLang="en-US" sz="2000" b="1" dirty="0">
              <a:solidFill>
                <a:srgbClr val="1143CF"/>
              </a:solidFill>
              <a:latin typeface="+mn-ea"/>
              <a:ea typeface="+mn-ea"/>
            </a:endParaRPr>
          </a:p>
        </p:txBody>
      </p:sp>
      <p:sp>
        <p:nvSpPr>
          <p:cNvPr id="5" name="TextBox 4"/>
          <p:cNvSpPr txBox="1"/>
          <p:nvPr/>
        </p:nvSpPr>
        <p:spPr>
          <a:xfrm>
            <a:off x="714348" y="4143386"/>
            <a:ext cx="8182048" cy="400110"/>
          </a:xfrm>
          <a:prstGeom prst="rect">
            <a:avLst/>
          </a:prstGeom>
          <a:noFill/>
        </p:spPr>
        <p:txBody>
          <a:bodyPr wrap="none" rtlCol="0">
            <a:spAutoFit/>
          </a:bodyPr>
          <a:lstStyle/>
          <a:p>
            <a:r>
              <a:rPr lang="zh-CN" altLang="en-US" sz="2000" dirty="0"/>
              <a:t>重庆市渝中区人民法院（</a:t>
            </a:r>
            <a:r>
              <a:rPr lang="en-US" altLang="zh-CN" sz="2000" dirty="0"/>
              <a:t>2015</a:t>
            </a:r>
            <a:r>
              <a:rPr lang="zh-CN" altLang="en-US" sz="2000" dirty="0"/>
              <a:t>）中区法刑初字第</a:t>
            </a:r>
            <a:r>
              <a:rPr lang="en-US" altLang="zh-CN" sz="2000" dirty="0"/>
              <a:t>00996</a:t>
            </a:r>
            <a:r>
              <a:rPr lang="zh-CN" altLang="en-US" sz="2000" dirty="0"/>
              <a:t>号</a:t>
            </a:r>
            <a:r>
              <a:rPr lang="zh-CN" altLang="en-US" sz="2000" dirty="0">
                <a:latin typeface="+mn-ea"/>
                <a:ea typeface="+mn-ea"/>
              </a:rPr>
              <a:t>刑 事 判 决 书</a:t>
            </a:r>
          </a:p>
        </p:txBody>
      </p:sp>
    </p:spTree>
    <p:extLst>
      <p:ext uri="{BB962C8B-B14F-4D97-AF65-F5344CB8AC3E}">
        <p14:creationId xmlns:p14="http://schemas.microsoft.com/office/powerpoint/2010/main" val="171171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842962"/>
            <a:ext cx="8352730" cy="3745011"/>
          </a:xfrm>
        </p:spPr>
        <p:txBody>
          <a:bodyPr/>
          <a:lstStyle/>
          <a:p>
            <a:pPr algn="just"/>
            <a:r>
              <a:rPr lang="en-US" altLang="zh-CN" dirty="0">
                <a:solidFill>
                  <a:srgbClr val="FF0000"/>
                </a:solidFill>
              </a:rPr>
              <a:t> </a:t>
            </a:r>
            <a:r>
              <a:rPr lang="zh-CN" altLang="en-US" dirty="0">
                <a:solidFill>
                  <a:srgbClr val="FF0000"/>
                </a:solidFill>
              </a:rPr>
              <a:t>自首：</a:t>
            </a:r>
            <a:r>
              <a:rPr lang="zh-CN" altLang="en-US" sz="2400" dirty="0"/>
              <a:t>第六十七条　犯罪以后自动投案</a:t>
            </a:r>
            <a:r>
              <a:rPr lang="en-US" altLang="zh-CN" sz="2400" dirty="0"/>
              <a:t>,</a:t>
            </a:r>
            <a:r>
              <a:rPr lang="zh-CN" altLang="en-US" sz="2400" dirty="0"/>
              <a:t>如实供述自己的罪行的</a:t>
            </a:r>
            <a:r>
              <a:rPr lang="en-US" altLang="zh-CN" sz="2400" dirty="0"/>
              <a:t>,</a:t>
            </a:r>
            <a:r>
              <a:rPr lang="zh-CN" altLang="en-US" sz="2400" dirty="0"/>
              <a:t>是自首。对于自首的犯罪分子</a:t>
            </a:r>
            <a:r>
              <a:rPr lang="en-US" altLang="zh-CN" sz="2400" dirty="0"/>
              <a:t>,</a:t>
            </a:r>
            <a:r>
              <a:rPr lang="zh-CN" altLang="en-US" sz="2400" dirty="0"/>
              <a:t>可以从轻或者减轻处罚。其中</a:t>
            </a:r>
            <a:r>
              <a:rPr lang="en-US" altLang="zh-CN" sz="2400" dirty="0"/>
              <a:t>,</a:t>
            </a:r>
            <a:r>
              <a:rPr lang="zh-CN" altLang="en-US" sz="2400" dirty="0"/>
              <a:t>犯罪较轻的</a:t>
            </a:r>
            <a:r>
              <a:rPr lang="en-US" altLang="zh-CN" sz="2400" dirty="0"/>
              <a:t>,</a:t>
            </a:r>
            <a:r>
              <a:rPr lang="zh-CN" altLang="en-US" sz="2400" dirty="0"/>
              <a:t>可以免除处罚。</a:t>
            </a:r>
            <a:endParaRPr lang="en-US" altLang="zh-CN" sz="2400" dirty="0"/>
          </a:p>
          <a:p>
            <a:r>
              <a:rPr lang="en-US" altLang="zh-CN" dirty="0">
                <a:solidFill>
                  <a:srgbClr val="FF0000"/>
                </a:solidFill>
              </a:rPr>
              <a:t> </a:t>
            </a:r>
            <a:r>
              <a:rPr lang="zh-CN" altLang="en-US" dirty="0">
                <a:solidFill>
                  <a:srgbClr val="FF0000"/>
                </a:solidFill>
              </a:rPr>
              <a:t>立功：</a:t>
            </a:r>
            <a:r>
              <a:rPr lang="zh-CN" altLang="en-US" sz="2400" dirty="0"/>
              <a:t>第六十八条　犯罪分子有揭发他人犯罪行为</a:t>
            </a:r>
            <a:r>
              <a:rPr lang="en-US" altLang="zh-CN" sz="2400" dirty="0"/>
              <a:t>,</a:t>
            </a:r>
            <a:r>
              <a:rPr lang="zh-CN" altLang="en-US" sz="2400" dirty="0"/>
              <a:t>查证属实的</a:t>
            </a:r>
            <a:r>
              <a:rPr lang="en-US" altLang="zh-CN" sz="2400" dirty="0"/>
              <a:t>,</a:t>
            </a:r>
            <a:r>
              <a:rPr lang="zh-CN" altLang="en-US" sz="2400" dirty="0"/>
              <a:t>或者提供重要线索</a:t>
            </a:r>
            <a:r>
              <a:rPr lang="en-US" altLang="zh-CN" sz="2400" dirty="0"/>
              <a:t>,</a:t>
            </a:r>
            <a:r>
              <a:rPr lang="zh-CN" altLang="en-US" sz="2400" dirty="0"/>
              <a:t>从而得以侦破其他案件等立功表现的</a:t>
            </a:r>
            <a:r>
              <a:rPr lang="en-US" altLang="zh-CN" sz="2400" dirty="0"/>
              <a:t>,</a:t>
            </a:r>
            <a:r>
              <a:rPr lang="zh-CN" altLang="en-US" sz="2400" dirty="0"/>
              <a:t>可以从轻或者减轻处罚</a:t>
            </a:r>
            <a:r>
              <a:rPr lang="en-US" altLang="zh-CN" sz="2400" dirty="0"/>
              <a:t>;</a:t>
            </a:r>
            <a:r>
              <a:rPr lang="zh-CN" altLang="en-US" sz="2400" dirty="0"/>
              <a:t>有重大立功表现的</a:t>
            </a:r>
            <a:r>
              <a:rPr lang="en-US" altLang="zh-CN" sz="2400" dirty="0"/>
              <a:t>,</a:t>
            </a:r>
            <a:r>
              <a:rPr lang="zh-CN" altLang="en-US" sz="2400" dirty="0"/>
              <a:t>可以减轻或者免除处罚。</a:t>
            </a:r>
          </a:p>
          <a:p>
            <a:r>
              <a:rPr lang="zh-CN" altLang="en-US" sz="2400" dirty="0"/>
              <a:t>犯罪后自首又有重大立功表现的</a:t>
            </a:r>
            <a:r>
              <a:rPr lang="en-US" altLang="zh-CN" sz="2400" dirty="0"/>
              <a:t>,</a:t>
            </a:r>
            <a:r>
              <a:rPr lang="zh-CN" altLang="en-US" sz="2400" dirty="0"/>
              <a:t>应当减轻或者免除处罚。</a:t>
            </a:r>
          </a:p>
        </p:txBody>
      </p:sp>
    </p:spTree>
    <p:extLst>
      <p:ext uri="{BB962C8B-B14F-4D97-AF65-F5344CB8AC3E}">
        <p14:creationId xmlns:p14="http://schemas.microsoft.com/office/powerpoint/2010/main" val="2585781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1785918" y="2143122"/>
            <a:ext cx="6143668" cy="584775"/>
          </a:xfrm>
          <a:prstGeom prst="rect">
            <a:avLst/>
          </a:prstGeom>
          <a:noFill/>
        </p:spPr>
        <p:txBody>
          <a:bodyPr wrap="square" rtlCol="0">
            <a:spAutoFit/>
          </a:bodyPr>
          <a:lstStyle/>
          <a:p>
            <a:pPr algn="ctr"/>
            <a:r>
              <a:rPr lang="en-US" altLang="zh-CN" sz="3200" b="1" dirty="0">
                <a:solidFill>
                  <a:srgbClr val="0070C0"/>
                </a:solidFill>
              </a:rPr>
              <a:t>1.2 </a:t>
            </a:r>
            <a:r>
              <a:rPr lang="zh-CN" altLang="en-US" sz="3200" b="1" dirty="0">
                <a:solidFill>
                  <a:srgbClr val="0070C0"/>
                </a:solidFill>
              </a:rPr>
              <a:t> 组织他人偷越国（边）境罪</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Line 5"/>
          <p:cNvSpPr/>
          <p:nvPr/>
        </p:nvSpPr>
        <p:spPr>
          <a:xfrm>
            <a:off x="1358504" y="2246710"/>
            <a:ext cx="6210300" cy="0"/>
          </a:xfrm>
          <a:prstGeom prst="line">
            <a:avLst/>
          </a:prstGeom>
          <a:ln w="12700" cap="flat" cmpd="sng">
            <a:solidFill>
              <a:srgbClr val="346A6C"/>
            </a:solidFill>
            <a:prstDash val="solid"/>
            <a:round/>
            <a:headEnd type="none" w="med" len="med"/>
            <a:tailEnd type="triangle" w="med" len="med"/>
          </a:ln>
        </p:spPr>
      </p:sp>
      <p:sp>
        <p:nvSpPr>
          <p:cNvPr id="9220" name="Text Box 6"/>
          <p:cNvSpPr txBox="1"/>
          <p:nvPr/>
        </p:nvSpPr>
        <p:spPr>
          <a:xfrm>
            <a:off x="1255634" y="1878569"/>
            <a:ext cx="1053703" cy="398780"/>
          </a:xfrm>
          <a:prstGeom prst="rect">
            <a:avLst/>
          </a:prstGeom>
          <a:solidFill>
            <a:srgbClr val="346A6C"/>
          </a:solidFill>
          <a:ln w="9525" cap="flat" cmpd="sng">
            <a:solidFill>
              <a:srgbClr val="346A6C"/>
            </a:solidFill>
            <a:prstDash val="solid"/>
            <a:miter/>
            <a:headEnd type="none" w="med" len="med"/>
            <a:tailEnd type="none" w="med" len="med"/>
          </a:ln>
        </p:spPr>
        <p:txBody>
          <a:bodyPr anchor="t">
            <a:spAutoFit/>
          </a:bodyPr>
          <a:lstStyle/>
          <a:p>
            <a:pPr algn="ctr">
              <a:spcBef>
                <a:spcPct val="50000"/>
              </a:spcBef>
              <a:buFont typeface="Wingdings" panose="05000000000000000000" pitchFamily="2" charset="2"/>
              <a:buNone/>
            </a:pPr>
            <a:r>
              <a:rPr lang="en-US" altLang="zh-CN" sz="2000" dirty="0">
                <a:solidFill>
                  <a:schemeClr val="bg1"/>
                </a:solidFill>
                <a:latin typeface="Arial" panose="020B0604020202020204" pitchFamily="34" charset="0"/>
                <a:ea typeface="黑体" panose="02010609060101010101" charset="-122"/>
              </a:rPr>
              <a:t>1.2</a:t>
            </a:r>
            <a:endParaRPr lang="zh-CN" altLang="en-US" sz="2000" dirty="0">
              <a:solidFill>
                <a:schemeClr val="bg1"/>
              </a:solidFill>
              <a:latin typeface="Arial" panose="020B0604020202020204" pitchFamily="34" charset="0"/>
              <a:ea typeface="黑体" panose="02010609060101010101" charset="-122"/>
            </a:endParaRPr>
          </a:p>
        </p:txBody>
      </p:sp>
      <p:sp>
        <p:nvSpPr>
          <p:cNvPr id="3" name="文本框 2"/>
          <p:cNvSpPr txBox="1"/>
          <p:nvPr/>
        </p:nvSpPr>
        <p:spPr>
          <a:xfrm>
            <a:off x="2643174" y="1785932"/>
            <a:ext cx="5357850" cy="461665"/>
          </a:xfrm>
          <a:prstGeom prst="rect">
            <a:avLst/>
          </a:prstGeom>
          <a:noFill/>
        </p:spPr>
        <p:txBody>
          <a:bodyPr wrap="square" rtlCol="0">
            <a:spAutoFit/>
          </a:bodyPr>
          <a:lstStyle/>
          <a:p>
            <a:r>
              <a:rPr lang="zh-CN" altLang="en-US" sz="2400" b="1" dirty="0"/>
              <a:t>组织他人偷越国（边）境罪</a:t>
            </a:r>
          </a:p>
        </p:txBody>
      </p:sp>
      <p:sp>
        <p:nvSpPr>
          <p:cNvPr id="4" name="文本框 3"/>
          <p:cNvSpPr txBox="1"/>
          <p:nvPr/>
        </p:nvSpPr>
        <p:spPr>
          <a:xfrm>
            <a:off x="2775585" y="2387600"/>
            <a:ext cx="5011125" cy="400110"/>
          </a:xfrm>
          <a:prstGeom prst="rect">
            <a:avLst/>
          </a:prstGeom>
          <a:noFill/>
        </p:spPr>
        <p:txBody>
          <a:bodyPr wrap="square" rtlCol="0">
            <a:spAutoFit/>
          </a:bodyPr>
          <a:lstStyle/>
          <a:p>
            <a:r>
              <a:rPr lang="en-US" altLang="zh-CN" sz="2000" b="1" dirty="0">
                <a:solidFill>
                  <a:srgbClr val="1143CF"/>
                </a:solidFill>
              </a:rPr>
              <a:t>1.2.1 </a:t>
            </a:r>
            <a:r>
              <a:rPr lang="zh-CN" altLang="en-US" sz="2000" b="1" dirty="0">
                <a:solidFill>
                  <a:srgbClr val="1143CF"/>
                </a:solidFill>
              </a:rPr>
              <a:t>组织他人偷越国（边）境罪的概念</a:t>
            </a:r>
          </a:p>
        </p:txBody>
      </p:sp>
      <p:sp>
        <p:nvSpPr>
          <p:cNvPr id="6" name="文本框 5"/>
          <p:cNvSpPr txBox="1"/>
          <p:nvPr/>
        </p:nvSpPr>
        <p:spPr>
          <a:xfrm>
            <a:off x="2775584" y="2891155"/>
            <a:ext cx="5654068" cy="400110"/>
          </a:xfrm>
          <a:prstGeom prst="rect">
            <a:avLst/>
          </a:prstGeom>
          <a:noFill/>
        </p:spPr>
        <p:txBody>
          <a:bodyPr wrap="square" rtlCol="0">
            <a:spAutoFit/>
          </a:bodyPr>
          <a:lstStyle/>
          <a:p>
            <a:r>
              <a:rPr lang="en-US" altLang="zh-CN" sz="2000" b="1" dirty="0">
                <a:solidFill>
                  <a:srgbClr val="1143CF"/>
                </a:solidFill>
              </a:rPr>
              <a:t>1.2.2 </a:t>
            </a:r>
            <a:r>
              <a:rPr lang="zh-CN" altLang="en-US" sz="2000" b="1" dirty="0">
                <a:solidFill>
                  <a:srgbClr val="1143CF"/>
                </a:solidFill>
              </a:rPr>
              <a:t>组织他人偷越国（边）境罪的犯罪构成</a:t>
            </a:r>
          </a:p>
        </p:txBody>
      </p:sp>
      <p:sp>
        <p:nvSpPr>
          <p:cNvPr id="8" name="文本框 5"/>
          <p:cNvSpPr txBox="1"/>
          <p:nvPr/>
        </p:nvSpPr>
        <p:spPr>
          <a:xfrm>
            <a:off x="2786050" y="3429006"/>
            <a:ext cx="5654068" cy="400110"/>
          </a:xfrm>
          <a:prstGeom prst="rect">
            <a:avLst/>
          </a:prstGeom>
          <a:noFill/>
        </p:spPr>
        <p:txBody>
          <a:bodyPr wrap="square" rtlCol="0">
            <a:spAutoFit/>
          </a:bodyPr>
          <a:lstStyle/>
          <a:p>
            <a:r>
              <a:rPr lang="en-US" altLang="zh-CN" sz="2000" b="1" dirty="0">
                <a:solidFill>
                  <a:srgbClr val="1143CF"/>
                </a:solidFill>
              </a:rPr>
              <a:t>1.2.3 </a:t>
            </a:r>
            <a:r>
              <a:rPr lang="zh-CN" altLang="en-US" sz="2000" b="1" dirty="0">
                <a:solidFill>
                  <a:srgbClr val="1143CF"/>
                </a:solidFill>
              </a:rPr>
              <a:t>组织他人偷越国（边）境罪的加重犯</a:t>
            </a:r>
          </a:p>
        </p:txBody>
      </p:sp>
      <p:sp>
        <p:nvSpPr>
          <p:cNvPr id="9" name="文本框 5"/>
          <p:cNvSpPr txBox="1"/>
          <p:nvPr/>
        </p:nvSpPr>
        <p:spPr>
          <a:xfrm>
            <a:off x="2786050" y="3857634"/>
            <a:ext cx="5654068" cy="400110"/>
          </a:xfrm>
          <a:prstGeom prst="rect">
            <a:avLst/>
          </a:prstGeom>
          <a:noFill/>
        </p:spPr>
        <p:txBody>
          <a:bodyPr wrap="square" rtlCol="0">
            <a:spAutoFit/>
          </a:bodyPr>
          <a:lstStyle/>
          <a:p>
            <a:r>
              <a:rPr lang="en-US" altLang="zh-CN" sz="2000" b="1" dirty="0">
                <a:solidFill>
                  <a:srgbClr val="1143CF"/>
                </a:solidFill>
              </a:rPr>
              <a:t>1.2.4 </a:t>
            </a:r>
            <a:r>
              <a:rPr lang="zh-CN" altLang="en-US" sz="2000" b="1" dirty="0">
                <a:solidFill>
                  <a:srgbClr val="1143CF"/>
                </a:solidFill>
              </a:rPr>
              <a:t>组织他人偷越国（边）境罪的罪数</a:t>
            </a:r>
          </a:p>
        </p:txBody>
      </p:sp>
    </p:spTree>
  </p:cSld>
  <p:clrMapOvr>
    <a:masterClrMapping/>
  </p:clrMapOvr>
  <p:transition>
    <p:blinds/>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1.2.1 </a:t>
            </a:r>
            <a:r>
              <a:rPr lang="zh-CN" altLang="en-US" sz="2000" b="1" dirty="0">
                <a:latin typeface="宋体" panose="02010600030101010101" pitchFamily="2" charset="-122"/>
                <a:ea typeface="宋体" panose="02010600030101010101" pitchFamily="2" charset="-122"/>
              </a:rPr>
              <a:t>组织他人偷越国（边）境罪的概念</a:t>
            </a:r>
          </a:p>
          <a:p>
            <a:endParaRPr lang="zh-CN" altLang="en-US" sz="2100" b="0" dirty="0">
              <a:latin typeface="宋体" panose="02010600030101010101" pitchFamily="2" charset="-122"/>
              <a:ea typeface="宋体" panose="02010600030101010101" pitchFamily="2" charset="-122"/>
            </a:endParaRPr>
          </a:p>
        </p:txBody>
      </p:sp>
      <p:sp>
        <p:nvSpPr>
          <p:cNvPr id="11265" name="Rectangle 2"/>
          <p:cNvSpPr>
            <a:spLocks noGrp="1"/>
          </p:cNvSpPr>
          <p:nvPr>
            <p:ph type="title"/>
          </p:nvPr>
        </p:nvSpPr>
        <p:spPr>
          <a:xfrm>
            <a:off x="4090988" y="76756"/>
            <a:ext cx="5029200" cy="432197"/>
          </a:xfrm>
        </p:spPr>
        <p:txBody>
          <a:bodyPr vert="horz" wrap="square" lIns="68580" tIns="34290" rIns="68580" bIns="34290" anchor="ctr"/>
          <a:lstStyle/>
          <a:p>
            <a:pPr algn="ctr"/>
            <a:r>
              <a:rPr lang="en-US" altLang="zh-CN" sz="2400" dirty="0"/>
              <a:t>1.2 </a:t>
            </a:r>
            <a:r>
              <a:rPr lang="zh-CN" altLang="en-US" sz="2400" dirty="0"/>
              <a:t>组织他人偷越国（边）境罪</a:t>
            </a:r>
            <a:endParaRPr lang="zh-CN" altLang="en-US" sz="2400" dirty="0">
              <a:effectLst/>
            </a:endParaRPr>
          </a:p>
        </p:txBody>
      </p:sp>
      <p:sp>
        <p:nvSpPr>
          <p:cNvPr id="3" name="文本框 2"/>
          <p:cNvSpPr txBox="1"/>
          <p:nvPr/>
        </p:nvSpPr>
        <p:spPr>
          <a:xfrm>
            <a:off x="406367" y="1538203"/>
            <a:ext cx="5173745" cy="1323439"/>
          </a:xfrm>
          <a:prstGeom prst="rect">
            <a:avLst/>
          </a:prstGeom>
          <a:noFill/>
        </p:spPr>
        <p:txBody>
          <a:bodyPr wrap="square" rtlCol="0">
            <a:spAutoFit/>
          </a:bodyPr>
          <a:lstStyle/>
          <a:p>
            <a:r>
              <a:rPr lang="zh-CN" altLang="en-US" sz="2000" b="1" dirty="0">
                <a:solidFill>
                  <a:srgbClr val="1143CF"/>
                </a:solidFill>
                <a:latin typeface="宋体" panose="02010600030101010101" pitchFamily="2" charset="-122"/>
                <a:ea typeface="宋体" panose="02010600030101010101" pitchFamily="2" charset="-122"/>
              </a:rPr>
              <a:t>组织他人偷越国（边）境罪是指领导、策划、指挥他人偷越国（边）境或者在首要分子的指挥下，实施拉拢、引诱、介绍他人偷越国（边）境等行为的犯罪。</a:t>
            </a:r>
          </a:p>
        </p:txBody>
      </p:sp>
      <p:pic>
        <p:nvPicPr>
          <p:cNvPr id="11" name="图片 10" descr="偷渡缅甸人.jpg"/>
          <p:cNvPicPr>
            <a:picLocks noChangeAspect="1"/>
          </p:cNvPicPr>
          <p:nvPr/>
        </p:nvPicPr>
        <p:blipFill>
          <a:blip r:embed="rId2"/>
          <a:stretch>
            <a:fillRect/>
          </a:stretch>
        </p:blipFill>
        <p:spPr>
          <a:xfrm>
            <a:off x="5929322" y="1386659"/>
            <a:ext cx="2714644" cy="135732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1.2.2 </a:t>
            </a:r>
            <a:r>
              <a:rPr lang="zh-CN" altLang="en-US" sz="2000" b="1" dirty="0">
                <a:latin typeface="宋体" panose="02010600030101010101" pitchFamily="2" charset="-122"/>
                <a:ea typeface="宋体" panose="02010600030101010101" pitchFamily="2" charset="-122"/>
              </a:rPr>
              <a:t>组织他人偷越国</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边）境罪的犯罪构成</a:t>
            </a:r>
          </a:p>
          <a:p>
            <a:endParaRPr lang="zh-CN" altLang="en-US" sz="2100" b="0" dirty="0">
              <a:latin typeface="宋体" panose="02010600030101010101" pitchFamily="2" charset="-122"/>
              <a:ea typeface="宋体" panose="02010600030101010101" pitchFamily="2" charset="-122"/>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7904" y="1899733"/>
            <a:ext cx="1584176" cy="1389400"/>
          </a:xfrm>
          <a:prstGeom prst="rect">
            <a:avLst/>
          </a:prstGeom>
        </p:spPr>
      </p:pic>
      <p:sp>
        <p:nvSpPr>
          <p:cNvPr id="10" name="文本框 9"/>
          <p:cNvSpPr txBox="1"/>
          <p:nvPr/>
        </p:nvSpPr>
        <p:spPr>
          <a:xfrm>
            <a:off x="1331640" y="1419623"/>
            <a:ext cx="2311666" cy="1200329"/>
          </a:xfrm>
          <a:prstGeom prst="rect">
            <a:avLst/>
          </a:prstGeom>
          <a:noFill/>
          <a:ln>
            <a:solidFill>
              <a:srgbClr val="0070C0"/>
            </a:solidFill>
          </a:ln>
        </p:spPr>
        <p:txBody>
          <a:bodyPr wrap="square" rtlCol="0">
            <a:spAutoFit/>
          </a:bodyPr>
          <a:lstStyle/>
          <a:p>
            <a:r>
              <a:rPr lang="zh-CN" altLang="en-US" b="1" dirty="0">
                <a:solidFill>
                  <a:srgbClr val="1143CF"/>
                </a:solidFill>
              </a:rPr>
              <a:t>客体：</a:t>
            </a:r>
            <a:endParaRPr lang="en-US" altLang="zh-CN" b="1" dirty="0">
              <a:solidFill>
                <a:srgbClr val="1143CF"/>
              </a:solidFill>
            </a:endParaRPr>
          </a:p>
          <a:p>
            <a:r>
              <a:rPr lang="zh-CN" altLang="en-US" b="1" dirty="0">
                <a:solidFill>
                  <a:srgbClr val="1143CF"/>
                </a:solidFill>
              </a:rPr>
              <a:t>国家对国（边）境正常的管理秩序</a:t>
            </a:r>
            <a:endParaRPr lang="en-US" altLang="zh-CN" b="1" dirty="0">
              <a:solidFill>
                <a:srgbClr val="1143CF"/>
              </a:solidFill>
            </a:endParaRPr>
          </a:p>
          <a:p>
            <a:endParaRPr lang="zh-CN" altLang="en-US" dirty="0"/>
          </a:p>
        </p:txBody>
      </p:sp>
      <p:sp>
        <p:nvSpPr>
          <p:cNvPr id="13" name="文本框 12"/>
          <p:cNvSpPr txBox="1"/>
          <p:nvPr/>
        </p:nvSpPr>
        <p:spPr>
          <a:xfrm>
            <a:off x="1357290" y="3143254"/>
            <a:ext cx="2232248" cy="1477328"/>
          </a:xfrm>
          <a:prstGeom prst="rect">
            <a:avLst/>
          </a:prstGeom>
          <a:noFill/>
          <a:ln>
            <a:solidFill>
              <a:srgbClr val="0070C0"/>
            </a:solidFill>
          </a:ln>
        </p:spPr>
        <p:txBody>
          <a:bodyPr wrap="square" rtlCol="0">
            <a:spAutoFit/>
          </a:bodyPr>
          <a:lstStyle/>
          <a:p>
            <a:r>
              <a:rPr lang="zh-CN" altLang="en-US" b="1" dirty="0">
                <a:solidFill>
                  <a:srgbClr val="1143CF"/>
                </a:solidFill>
              </a:rPr>
              <a:t>主体：</a:t>
            </a:r>
            <a:endParaRPr lang="en-US" altLang="zh-CN" b="1" dirty="0">
              <a:solidFill>
                <a:srgbClr val="1143CF"/>
              </a:solidFill>
            </a:endParaRPr>
          </a:p>
          <a:p>
            <a:r>
              <a:rPr lang="zh-CN" altLang="en-US" b="1" dirty="0">
                <a:solidFill>
                  <a:srgbClr val="1143CF"/>
                </a:solidFill>
              </a:rPr>
              <a:t>年满</a:t>
            </a:r>
            <a:r>
              <a:rPr lang="en-US" altLang="zh-CN" b="1" dirty="0">
                <a:solidFill>
                  <a:srgbClr val="1143CF"/>
                </a:solidFill>
              </a:rPr>
              <a:t>16</a:t>
            </a:r>
            <a:r>
              <a:rPr lang="zh-CN" altLang="en-US" b="1" dirty="0">
                <a:solidFill>
                  <a:srgbClr val="1143CF"/>
                </a:solidFill>
              </a:rPr>
              <a:t>周岁具有刑事责任能力的自然人</a:t>
            </a:r>
            <a:endParaRPr lang="en-US" altLang="zh-CN" b="1" dirty="0">
              <a:solidFill>
                <a:srgbClr val="1143CF"/>
              </a:solidFill>
            </a:endParaRPr>
          </a:p>
          <a:p>
            <a:endParaRPr lang="zh-CN" altLang="en-US" b="1" dirty="0">
              <a:solidFill>
                <a:srgbClr val="1143CF"/>
              </a:solidFill>
            </a:endParaRPr>
          </a:p>
        </p:txBody>
      </p:sp>
      <p:sp>
        <p:nvSpPr>
          <p:cNvPr id="14" name="文本框 13"/>
          <p:cNvSpPr txBox="1"/>
          <p:nvPr/>
        </p:nvSpPr>
        <p:spPr>
          <a:xfrm>
            <a:off x="5436096" y="1381343"/>
            <a:ext cx="2232248" cy="1200329"/>
          </a:xfrm>
          <a:prstGeom prst="rect">
            <a:avLst/>
          </a:prstGeom>
          <a:noFill/>
          <a:ln>
            <a:solidFill>
              <a:srgbClr val="0070C0"/>
            </a:solidFill>
          </a:ln>
        </p:spPr>
        <p:txBody>
          <a:bodyPr wrap="square" rtlCol="0">
            <a:spAutoFit/>
          </a:bodyPr>
          <a:lstStyle/>
          <a:p>
            <a:r>
              <a:rPr lang="zh-CN" altLang="en-US" b="1" dirty="0">
                <a:solidFill>
                  <a:srgbClr val="1143CF"/>
                </a:solidFill>
              </a:rPr>
              <a:t>主观方面：</a:t>
            </a:r>
            <a:endParaRPr lang="en-US" altLang="zh-CN" b="1" dirty="0">
              <a:solidFill>
                <a:srgbClr val="1143CF"/>
              </a:solidFill>
            </a:endParaRPr>
          </a:p>
          <a:p>
            <a:r>
              <a:rPr lang="zh-CN" altLang="en-US" b="1" dirty="0">
                <a:solidFill>
                  <a:srgbClr val="1143CF"/>
                </a:solidFill>
              </a:rPr>
              <a:t>直接故意，动机与目的不影响本罪的成立</a:t>
            </a:r>
            <a:endParaRPr lang="zh-CN" altLang="en-US" dirty="0"/>
          </a:p>
        </p:txBody>
      </p:sp>
      <p:sp>
        <p:nvSpPr>
          <p:cNvPr id="15" name="文本框 14"/>
          <p:cNvSpPr txBox="1"/>
          <p:nvPr/>
        </p:nvSpPr>
        <p:spPr>
          <a:xfrm>
            <a:off x="5429256" y="3143254"/>
            <a:ext cx="2232248" cy="1200329"/>
          </a:xfrm>
          <a:prstGeom prst="rect">
            <a:avLst/>
          </a:prstGeom>
          <a:noFill/>
          <a:ln>
            <a:solidFill>
              <a:srgbClr val="0070C0"/>
            </a:solidFill>
          </a:ln>
        </p:spPr>
        <p:txBody>
          <a:bodyPr wrap="square" rtlCol="0">
            <a:spAutoFit/>
          </a:bodyPr>
          <a:lstStyle/>
          <a:p>
            <a:r>
              <a:rPr lang="zh-CN" altLang="en-US" b="1" dirty="0">
                <a:solidFill>
                  <a:srgbClr val="1143CF"/>
                </a:solidFill>
              </a:rPr>
              <a:t>客观方面：</a:t>
            </a:r>
            <a:endParaRPr lang="en-US" altLang="zh-CN" b="1" dirty="0">
              <a:solidFill>
                <a:srgbClr val="1143CF"/>
              </a:solidFill>
            </a:endParaRPr>
          </a:p>
          <a:p>
            <a:r>
              <a:rPr lang="zh-CN" altLang="en-US" b="1" dirty="0">
                <a:solidFill>
                  <a:srgbClr val="1143CF"/>
                </a:solidFill>
              </a:rPr>
              <a:t>实施了非法组织他人出入国（边）境的行为</a:t>
            </a:r>
            <a:endParaRPr lang="en-US" altLang="zh-CN" b="1" dirty="0">
              <a:solidFill>
                <a:srgbClr val="1143CF"/>
              </a:solidFill>
            </a:endParaRPr>
          </a:p>
        </p:txBody>
      </p:sp>
      <p:sp>
        <p:nvSpPr>
          <p:cNvPr id="12" name="Rectangle 2"/>
          <p:cNvSpPr>
            <a:spLocks noGrp="1"/>
          </p:cNvSpPr>
          <p:nvPr>
            <p:ph type="title"/>
          </p:nvPr>
        </p:nvSpPr>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p:spPr>
        <p:txBody>
          <a:bodyPr vert="horz" wrap="square" lIns="68580" tIns="34290" rIns="68580" bIns="34290" anchor="t"/>
          <a:lstStyle/>
          <a:p>
            <a:pPr algn="ctr"/>
            <a:r>
              <a:rPr lang="zh-CN" altLang="en-US" sz="2000" b="1" dirty="0">
                <a:latin typeface="宋体" panose="02010600030101010101" pitchFamily="2" charset="-122"/>
                <a:ea typeface="宋体" panose="02010600030101010101" pitchFamily="2" charset="-122"/>
              </a:rPr>
              <a:t>行为方式</a:t>
            </a:r>
          </a:p>
          <a:p>
            <a:endParaRPr lang="zh-CN" altLang="en-US" sz="2100" b="0" dirty="0">
              <a:latin typeface="宋体" panose="02010600030101010101" pitchFamily="2" charset="-122"/>
              <a:ea typeface="宋体" panose="02010600030101010101" pitchFamily="2" charset="-122"/>
            </a:endParaRPr>
          </a:p>
        </p:txBody>
      </p:sp>
      <p:sp>
        <p:nvSpPr>
          <p:cNvPr id="10" name="文本框 9"/>
          <p:cNvSpPr txBox="1"/>
          <p:nvPr/>
        </p:nvSpPr>
        <p:spPr>
          <a:xfrm>
            <a:off x="714348" y="1428742"/>
            <a:ext cx="6000792" cy="400110"/>
          </a:xfrm>
          <a:prstGeom prst="rect">
            <a:avLst/>
          </a:prstGeom>
          <a:noFill/>
          <a:ln>
            <a:solidFill>
              <a:schemeClr val="bg1"/>
            </a:solidFill>
          </a:ln>
        </p:spPr>
        <p:txBody>
          <a:bodyPr wrap="square" rtlCol="0">
            <a:spAutoFit/>
          </a:bodyPr>
          <a:lstStyle/>
          <a:p>
            <a:r>
              <a:rPr lang="en-US" altLang="zh-CN" sz="2000" b="1" dirty="0">
                <a:solidFill>
                  <a:srgbClr val="1143CF"/>
                </a:solidFill>
              </a:rPr>
              <a:t>1</a:t>
            </a:r>
            <a:r>
              <a:rPr lang="en-US" altLang="zh-CN" sz="2000" b="1" dirty="0">
                <a:solidFill>
                  <a:srgbClr val="1143CF"/>
                </a:solidFill>
                <a:latin typeface="+mn-ea"/>
                <a:ea typeface="+mn-ea"/>
              </a:rPr>
              <a:t>. </a:t>
            </a:r>
            <a:r>
              <a:rPr lang="zh-CN" altLang="en-US" sz="2000" b="1" dirty="0">
                <a:solidFill>
                  <a:srgbClr val="1143CF"/>
                </a:solidFill>
                <a:latin typeface="+mn-ea"/>
                <a:ea typeface="+mn-ea"/>
              </a:rPr>
              <a:t>领导、策划、指挥他人偷越国</a:t>
            </a:r>
            <a:r>
              <a:rPr lang="en-US" sz="2000" b="1" dirty="0">
                <a:solidFill>
                  <a:srgbClr val="1143CF"/>
                </a:solidFill>
                <a:latin typeface="+mn-ea"/>
                <a:ea typeface="+mn-ea"/>
              </a:rPr>
              <a:t>(</a:t>
            </a:r>
            <a:r>
              <a:rPr lang="zh-CN" altLang="en-US" sz="2000" b="1" dirty="0">
                <a:solidFill>
                  <a:srgbClr val="1143CF"/>
                </a:solidFill>
                <a:latin typeface="+mn-ea"/>
                <a:ea typeface="+mn-ea"/>
              </a:rPr>
              <a:t>边</a:t>
            </a:r>
            <a:r>
              <a:rPr lang="en-US" sz="2000" b="1" dirty="0">
                <a:solidFill>
                  <a:srgbClr val="1143CF"/>
                </a:solidFill>
                <a:latin typeface="+mn-ea"/>
                <a:ea typeface="+mn-ea"/>
              </a:rPr>
              <a:t>)</a:t>
            </a:r>
            <a:r>
              <a:rPr lang="zh-CN" altLang="en-US" sz="2000" b="1" dirty="0">
                <a:solidFill>
                  <a:srgbClr val="1143CF"/>
                </a:solidFill>
                <a:latin typeface="+mn-ea"/>
                <a:ea typeface="+mn-ea"/>
              </a:rPr>
              <a:t>境的行为</a:t>
            </a:r>
          </a:p>
        </p:txBody>
      </p:sp>
      <p:sp>
        <p:nvSpPr>
          <p:cNvPr id="12" name="Rectangle 2"/>
          <p:cNvSpPr>
            <a:spLocks noGrp="1"/>
          </p:cNvSpPr>
          <p:nvPr>
            <p:ph type="title"/>
          </p:nvPr>
        </p:nvSpPr>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
        <p:nvSpPr>
          <p:cNvPr id="16" name="文本框 9"/>
          <p:cNvSpPr txBox="1"/>
          <p:nvPr/>
        </p:nvSpPr>
        <p:spPr>
          <a:xfrm>
            <a:off x="714348" y="2285998"/>
            <a:ext cx="5857916" cy="707886"/>
          </a:xfrm>
          <a:prstGeom prst="rect">
            <a:avLst/>
          </a:prstGeom>
          <a:noFill/>
          <a:ln>
            <a:solidFill>
              <a:schemeClr val="bg1"/>
            </a:solidFill>
          </a:ln>
        </p:spPr>
        <p:txBody>
          <a:bodyPr wrap="square" rtlCol="0">
            <a:spAutoFit/>
          </a:bodyPr>
          <a:lstStyle/>
          <a:p>
            <a:r>
              <a:rPr lang="en-US" altLang="zh-CN" sz="2000" b="1" dirty="0">
                <a:solidFill>
                  <a:srgbClr val="1143CF"/>
                </a:solidFill>
              </a:rPr>
              <a:t>2. </a:t>
            </a:r>
            <a:r>
              <a:rPr lang="zh-CN" altLang="en-US" sz="2000" b="1" dirty="0">
                <a:solidFill>
                  <a:srgbClr val="1143CF"/>
                </a:solidFill>
              </a:rPr>
              <a:t>在首要分子指挥下，实施拉拢、引诱、介绍他人偷越国</a:t>
            </a:r>
            <a:r>
              <a:rPr lang="en-US" sz="2000" b="1" dirty="0">
                <a:solidFill>
                  <a:srgbClr val="1143CF"/>
                </a:solidFill>
              </a:rPr>
              <a:t>(</a:t>
            </a:r>
            <a:r>
              <a:rPr lang="zh-CN" altLang="en-US" sz="2000" b="1" dirty="0">
                <a:solidFill>
                  <a:srgbClr val="1143CF"/>
                </a:solidFill>
              </a:rPr>
              <a:t>边</a:t>
            </a:r>
            <a:r>
              <a:rPr lang="en-US" sz="2000" b="1" dirty="0">
                <a:solidFill>
                  <a:srgbClr val="1143CF"/>
                </a:solidFill>
              </a:rPr>
              <a:t>)</a:t>
            </a:r>
            <a:r>
              <a:rPr lang="zh-CN" altLang="en-US" sz="2000" b="1" dirty="0">
                <a:solidFill>
                  <a:srgbClr val="1143CF"/>
                </a:solidFill>
              </a:rPr>
              <a:t>境等行为 </a:t>
            </a:r>
          </a:p>
        </p:txBody>
      </p:sp>
      <p:sp>
        <p:nvSpPr>
          <p:cNvPr id="20" name="TextBox 19"/>
          <p:cNvSpPr txBox="1"/>
          <p:nvPr/>
        </p:nvSpPr>
        <p:spPr>
          <a:xfrm>
            <a:off x="6858016" y="1285866"/>
            <a:ext cx="2143139" cy="1477328"/>
          </a:xfrm>
          <a:prstGeom prst="rect">
            <a:avLst/>
          </a:prstGeom>
          <a:noFill/>
          <a:ln>
            <a:solidFill>
              <a:schemeClr val="tx1"/>
            </a:solidFill>
          </a:ln>
        </p:spPr>
        <p:txBody>
          <a:bodyPr wrap="square" rtlCol="0">
            <a:spAutoFit/>
          </a:bodyPr>
          <a:lstStyle/>
          <a:p>
            <a:r>
              <a:rPr lang="zh-CN" altLang="en-US" b="1" dirty="0"/>
              <a:t>学界：司法解释对“组织”解释过于宽泛。应否将“组织”限定为集团性、职业性的组织行为？</a:t>
            </a:r>
          </a:p>
        </p:txBody>
      </p:sp>
      <p:sp>
        <p:nvSpPr>
          <p:cNvPr id="21" name="文本框 9"/>
          <p:cNvSpPr txBox="1"/>
          <p:nvPr/>
        </p:nvSpPr>
        <p:spPr>
          <a:xfrm>
            <a:off x="714348" y="3429006"/>
            <a:ext cx="5357850" cy="400110"/>
          </a:xfrm>
          <a:prstGeom prst="rect">
            <a:avLst/>
          </a:prstGeom>
          <a:noFill/>
          <a:ln>
            <a:solidFill>
              <a:schemeClr val="tx1"/>
            </a:solidFill>
          </a:ln>
        </p:spPr>
        <p:txBody>
          <a:bodyPr wrap="square" rtlCol="0">
            <a:spAutoFit/>
          </a:bodyPr>
          <a:lstStyle/>
          <a:p>
            <a:r>
              <a:rPr lang="zh-CN" altLang="en-US" sz="2000" b="1" dirty="0"/>
              <a:t>问题</a:t>
            </a:r>
            <a:r>
              <a:rPr lang="en-US" altLang="zh-CN" sz="2000" b="1" dirty="0"/>
              <a:t>3</a:t>
            </a:r>
            <a:r>
              <a:rPr lang="zh-CN" altLang="en-US" sz="2000" b="1" dirty="0"/>
              <a:t>：司法解释“组织”行为是否过于宽泛？ </a:t>
            </a:r>
          </a:p>
        </p:txBody>
      </p:sp>
      <p:cxnSp>
        <p:nvCxnSpPr>
          <p:cNvPr id="29" name="直接箭头连接符 28"/>
          <p:cNvCxnSpPr/>
          <p:nvPr/>
        </p:nvCxnSpPr>
        <p:spPr>
          <a:xfrm rot="5400000" flipH="1" flipV="1">
            <a:off x="5679289" y="2464593"/>
            <a:ext cx="1214446" cy="100013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linds(horizont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142976" y="1714494"/>
            <a:ext cx="1008112" cy="830997"/>
          </a:xfrm>
          <a:prstGeom prst="rect">
            <a:avLst/>
          </a:prstGeom>
          <a:noFill/>
          <a:ln>
            <a:solidFill>
              <a:srgbClr val="1143CF"/>
            </a:solidFill>
          </a:ln>
        </p:spPr>
        <p:txBody>
          <a:bodyPr wrap="square" rtlCol="0">
            <a:spAutoFit/>
          </a:bodyPr>
          <a:lstStyle/>
          <a:p>
            <a:pPr algn="ctr"/>
            <a:r>
              <a:rPr lang="zh-CN" altLang="en-US" sz="2400" dirty="0">
                <a:solidFill>
                  <a:srgbClr val="1143CF"/>
                </a:solidFill>
              </a:rPr>
              <a:t>即遂标准</a:t>
            </a:r>
          </a:p>
        </p:txBody>
      </p:sp>
      <p:sp>
        <p:nvSpPr>
          <p:cNvPr id="13" name="TextBox 18"/>
          <p:cNvSpPr txBox="1"/>
          <p:nvPr/>
        </p:nvSpPr>
        <p:spPr>
          <a:xfrm>
            <a:off x="1142976" y="3357568"/>
            <a:ext cx="1008112" cy="461665"/>
          </a:xfrm>
          <a:prstGeom prst="rect">
            <a:avLst/>
          </a:prstGeom>
          <a:noFill/>
          <a:ln>
            <a:solidFill>
              <a:srgbClr val="1143CF"/>
            </a:solidFill>
          </a:ln>
        </p:spPr>
        <p:txBody>
          <a:bodyPr wrap="square" rtlCol="0">
            <a:spAutoFit/>
          </a:bodyPr>
          <a:lstStyle/>
          <a:p>
            <a:pPr algn="ctr"/>
            <a:r>
              <a:rPr lang="zh-CN" altLang="en-US" sz="2400" dirty="0">
                <a:solidFill>
                  <a:srgbClr val="1143CF"/>
                </a:solidFill>
              </a:rPr>
              <a:t>未遂</a:t>
            </a:r>
          </a:p>
        </p:txBody>
      </p:sp>
      <p:sp>
        <p:nvSpPr>
          <p:cNvPr id="2" name="文本框 1"/>
          <p:cNvSpPr txBox="1"/>
          <p:nvPr/>
        </p:nvSpPr>
        <p:spPr>
          <a:xfrm>
            <a:off x="2571736" y="1357304"/>
            <a:ext cx="936104" cy="369332"/>
          </a:xfrm>
          <a:prstGeom prst="rect">
            <a:avLst/>
          </a:prstGeom>
          <a:noFill/>
        </p:spPr>
        <p:txBody>
          <a:bodyPr wrap="square" rtlCol="0">
            <a:spAutoFit/>
          </a:bodyPr>
          <a:lstStyle/>
          <a:p>
            <a:r>
              <a:rPr lang="zh-CN" altLang="en-US" dirty="0">
                <a:solidFill>
                  <a:srgbClr val="1143CF"/>
                </a:solidFill>
              </a:rPr>
              <a:t>行为说</a:t>
            </a:r>
          </a:p>
        </p:txBody>
      </p:sp>
      <p:sp>
        <p:nvSpPr>
          <p:cNvPr id="4" name="文本框 3"/>
          <p:cNvSpPr txBox="1"/>
          <p:nvPr/>
        </p:nvSpPr>
        <p:spPr>
          <a:xfrm>
            <a:off x="4000496" y="1285866"/>
            <a:ext cx="5000660" cy="646331"/>
          </a:xfrm>
          <a:prstGeom prst="rect">
            <a:avLst/>
          </a:prstGeom>
          <a:noFill/>
        </p:spPr>
        <p:txBody>
          <a:bodyPr wrap="square" rtlCol="0">
            <a:spAutoFit/>
          </a:bodyPr>
          <a:lstStyle/>
          <a:p>
            <a:r>
              <a:rPr lang="zh-CN" altLang="en-US" dirty="0">
                <a:solidFill>
                  <a:srgbClr val="1143CF"/>
                </a:solidFill>
              </a:rPr>
              <a:t>① 领导、策划、指挥他人偷越国（边）境行为；</a:t>
            </a:r>
            <a:endParaRPr lang="en-US" altLang="zh-CN" dirty="0">
              <a:solidFill>
                <a:srgbClr val="1143CF"/>
              </a:solidFill>
            </a:endParaRPr>
          </a:p>
          <a:p>
            <a:r>
              <a:rPr lang="zh-CN" altLang="en-US" dirty="0">
                <a:solidFill>
                  <a:srgbClr val="1143CF"/>
                </a:solidFill>
              </a:rPr>
              <a:t>② 拉拢、引诱、介绍他人偷越国（边）境行为。</a:t>
            </a:r>
          </a:p>
        </p:txBody>
      </p:sp>
      <p:sp>
        <p:nvSpPr>
          <p:cNvPr id="6" name="文本框 5"/>
          <p:cNvSpPr txBox="1"/>
          <p:nvPr/>
        </p:nvSpPr>
        <p:spPr>
          <a:xfrm>
            <a:off x="2643174" y="2285998"/>
            <a:ext cx="1008112" cy="369332"/>
          </a:xfrm>
          <a:prstGeom prst="rect">
            <a:avLst/>
          </a:prstGeom>
          <a:noFill/>
        </p:spPr>
        <p:txBody>
          <a:bodyPr wrap="square" rtlCol="0">
            <a:spAutoFit/>
          </a:bodyPr>
          <a:lstStyle/>
          <a:p>
            <a:r>
              <a:rPr lang="zh-CN" altLang="en-US" dirty="0">
                <a:solidFill>
                  <a:srgbClr val="1143CF"/>
                </a:solidFill>
              </a:rPr>
              <a:t>结果说</a:t>
            </a:r>
          </a:p>
        </p:txBody>
      </p:sp>
      <p:sp>
        <p:nvSpPr>
          <p:cNvPr id="16" name="文本框 15"/>
          <p:cNvSpPr txBox="1"/>
          <p:nvPr/>
        </p:nvSpPr>
        <p:spPr>
          <a:xfrm>
            <a:off x="4143372" y="2285998"/>
            <a:ext cx="4464496" cy="369332"/>
          </a:xfrm>
          <a:prstGeom prst="rect">
            <a:avLst/>
          </a:prstGeom>
          <a:noFill/>
        </p:spPr>
        <p:txBody>
          <a:bodyPr wrap="square" rtlCol="0">
            <a:spAutoFit/>
          </a:bodyPr>
          <a:lstStyle/>
          <a:p>
            <a:r>
              <a:rPr lang="zh-CN" altLang="en-US" dirty="0">
                <a:solidFill>
                  <a:srgbClr val="1143CF"/>
                </a:solidFill>
              </a:rPr>
              <a:t>被组织者偷越了国（边）境</a:t>
            </a:r>
          </a:p>
        </p:txBody>
      </p:sp>
      <p:sp>
        <p:nvSpPr>
          <p:cNvPr id="20" name="左大括号 19"/>
          <p:cNvSpPr/>
          <p:nvPr/>
        </p:nvSpPr>
        <p:spPr>
          <a:xfrm>
            <a:off x="2285984" y="1571618"/>
            <a:ext cx="180020" cy="1008112"/>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21" name="文本框 20"/>
          <p:cNvSpPr txBox="1"/>
          <p:nvPr/>
        </p:nvSpPr>
        <p:spPr>
          <a:xfrm>
            <a:off x="2643174" y="3143254"/>
            <a:ext cx="6336704" cy="1477328"/>
          </a:xfrm>
          <a:prstGeom prst="rect">
            <a:avLst/>
          </a:prstGeom>
          <a:noFill/>
          <a:ln>
            <a:solidFill>
              <a:schemeClr val="tx1"/>
            </a:solidFill>
          </a:ln>
        </p:spPr>
        <p:txBody>
          <a:bodyPr wrap="square" rtlCol="0">
            <a:spAutoFit/>
          </a:bodyPr>
          <a:lstStyle/>
          <a:p>
            <a:r>
              <a:rPr lang="zh-CN" altLang="zh-CN" dirty="0">
                <a:solidFill>
                  <a:srgbClr val="1143CF"/>
                </a:solidFill>
              </a:rPr>
              <a:t>以组织他人偷越国</a:t>
            </a:r>
            <a:r>
              <a:rPr lang="en-US" altLang="zh-CN" dirty="0">
                <a:solidFill>
                  <a:srgbClr val="1143CF"/>
                </a:solidFill>
              </a:rPr>
              <a:t>(</a:t>
            </a:r>
            <a:r>
              <a:rPr lang="zh-CN" altLang="zh-CN" dirty="0">
                <a:solidFill>
                  <a:srgbClr val="1143CF"/>
                </a:solidFill>
              </a:rPr>
              <a:t>边</a:t>
            </a:r>
            <a:r>
              <a:rPr lang="en-US" altLang="zh-CN" dirty="0">
                <a:solidFill>
                  <a:srgbClr val="1143CF"/>
                </a:solidFill>
              </a:rPr>
              <a:t>)</a:t>
            </a:r>
            <a:r>
              <a:rPr lang="zh-CN" altLang="zh-CN" dirty="0">
                <a:solidFill>
                  <a:srgbClr val="1143CF"/>
                </a:solidFill>
              </a:rPr>
              <a:t>境为目的，招募、拉拢、引诱、介绍、培训偷越国</a:t>
            </a:r>
            <a:r>
              <a:rPr lang="en-US" altLang="zh-CN" dirty="0">
                <a:solidFill>
                  <a:srgbClr val="1143CF"/>
                </a:solidFill>
              </a:rPr>
              <a:t>(</a:t>
            </a:r>
            <a:r>
              <a:rPr lang="zh-CN" altLang="zh-CN" dirty="0">
                <a:solidFill>
                  <a:srgbClr val="1143CF"/>
                </a:solidFill>
              </a:rPr>
              <a:t>边</a:t>
            </a:r>
            <a:r>
              <a:rPr lang="en-US" altLang="zh-CN" dirty="0">
                <a:solidFill>
                  <a:srgbClr val="1143CF"/>
                </a:solidFill>
              </a:rPr>
              <a:t>)</a:t>
            </a:r>
            <a:r>
              <a:rPr lang="zh-CN" altLang="zh-CN" dirty="0">
                <a:solidFill>
                  <a:srgbClr val="1143CF"/>
                </a:solidFill>
              </a:rPr>
              <a:t>境人员，策划、安排偷越国</a:t>
            </a:r>
            <a:r>
              <a:rPr lang="en-US" altLang="zh-CN" dirty="0">
                <a:solidFill>
                  <a:srgbClr val="1143CF"/>
                </a:solidFill>
              </a:rPr>
              <a:t>(</a:t>
            </a:r>
            <a:r>
              <a:rPr lang="zh-CN" altLang="zh-CN" dirty="0">
                <a:solidFill>
                  <a:srgbClr val="1143CF"/>
                </a:solidFill>
              </a:rPr>
              <a:t>边</a:t>
            </a:r>
            <a:r>
              <a:rPr lang="en-US" altLang="zh-CN" dirty="0">
                <a:solidFill>
                  <a:srgbClr val="1143CF"/>
                </a:solidFill>
              </a:rPr>
              <a:t>)</a:t>
            </a:r>
            <a:r>
              <a:rPr lang="zh-CN" altLang="zh-CN" dirty="0">
                <a:solidFill>
                  <a:srgbClr val="1143CF"/>
                </a:solidFill>
              </a:rPr>
              <a:t>境行为，</a:t>
            </a:r>
            <a:r>
              <a:rPr lang="zh-CN" altLang="zh-CN" b="1" dirty="0">
                <a:solidFill>
                  <a:srgbClr val="C00000"/>
                </a:solidFill>
              </a:rPr>
              <a:t>在他人偷越国</a:t>
            </a:r>
            <a:r>
              <a:rPr lang="en-US" altLang="zh-CN" b="1" dirty="0">
                <a:solidFill>
                  <a:srgbClr val="C00000"/>
                </a:solidFill>
              </a:rPr>
              <a:t>(</a:t>
            </a:r>
            <a:r>
              <a:rPr lang="zh-CN" altLang="zh-CN" b="1" dirty="0">
                <a:solidFill>
                  <a:srgbClr val="C00000"/>
                </a:solidFill>
              </a:rPr>
              <a:t>边</a:t>
            </a:r>
            <a:r>
              <a:rPr lang="en-US" altLang="zh-CN" b="1" dirty="0">
                <a:solidFill>
                  <a:srgbClr val="C00000"/>
                </a:solidFill>
              </a:rPr>
              <a:t>)</a:t>
            </a:r>
            <a:r>
              <a:rPr lang="zh-CN" altLang="zh-CN" b="1" dirty="0">
                <a:solidFill>
                  <a:srgbClr val="C00000"/>
                </a:solidFill>
              </a:rPr>
              <a:t>境之前或者偷越国</a:t>
            </a:r>
            <a:r>
              <a:rPr lang="en-US" altLang="zh-CN" b="1" dirty="0">
                <a:solidFill>
                  <a:srgbClr val="C00000"/>
                </a:solidFill>
              </a:rPr>
              <a:t>(</a:t>
            </a:r>
            <a:r>
              <a:rPr lang="zh-CN" altLang="zh-CN" b="1" dirty="0">
                <a:solidFill>
                  <a:srgbClr val="C00000"/>
                </a:solidFill>
              </a:rPr>
              <a:t>边</a:t>
            </a:r>
            <a:r>
              <a:rPr lang="en-US" altLang="zh-CN" b="1" dirty="0">
                <a:solidFill>
                  <a:srgbClr val="C00000"/>
                </a:solidFill>
              </a:rPr>
              <a:t>)</a:t>
            </a:r>
            <a:r>
              <a:rPr lang="zh-CN" altLang="zh-CN" b="1" dirty="0">
                <a:solidFill>
                  <a:srgbClr val="C00000"/>
                </a:solidFill>
              </a:rPr>
              <a:t>境过程中被查获的，</a:t>
            </a:r>
            <a:r>
              <a:rPr lang="zh-CN" altLang="zh-CN" dirty="0">
                <a:solidFill>
                  <a:srgbClr val="1143CF"/>
                </a:solidFill>
              </a:rPr>
              <a:t>应当以组织他人偷越国</a:t>
            </a:r>
            <a:r>
              <a:rPr lang="en-US" altLang="zh-CN" dirty="0">
                <a:solidFill>
                  <a:srgbClr val="1143CF"/>
                </a:solidFill>
              </a:rPr>
              <a:t>(</a:t>
            </a:r>
            <a:r>
              <a:rPr lang="zh-CN" altLang="zh-CN" dirty="0">
                <a:solidFill>
                  <a:srgbClr val="1143CF"/>
                </a:solidFill>
              </a:rPr>
              <a:t>边</a:t>
            </a:r>
            <a:r>
              <a:rPr lang="en-US" altLang="zh-CN" dirty="0">
                <a:solidFill>
                  <a:srgbClr val="1143CF"/>
                </a:solidFill>
              </a:rPr>
              <a:t>)</a:t>
            </a:r>
            <a:r>
              <a:rPr lang="zh-CN" altLang="zh-CN" dirty="0">
                <a:solidFill>
                  <a:srgbClr val="1143CF"/>
                </a:solidFill>
              </a:rPr>
              <a:t>境罪</a:t>
            </a:r>
            <a:r>
              <a:rPr lang="en-US" altLang="zh-CN" dirty="0">
                <a:solidFill>
                  <a:srgbClr val="1143CF"/>
                </a:solidFill>
              </a:rPr>
              <a:t>(</a:t>
            </a:r>
            <a:r>
              <a:rPr lang="zh-CN" altLang="zh-CN" dirty="0">
                <a:solidFill>
                  <a:srgbClr val="1143CF"/>
                </a:solidFill>
              </a:rPr>
              <a:t>未遂</a:t>
            </a:r>
            <a:r>
              <a:rPr lang="en-US" altLang="zh-CN" dirty="0">
                <a:solidFill>
                  <a:srgbClr val="1143CF"/>
                </a:solidFill>
              </a:rPr>
              <a:t>)</a:t>
            </a:r>
            <a:r>
              <a:rPr lang="zh-CN" altLang="zh-CN" dirty="0">
                <a:solidFill>
                  <a:srgbClr val="1143CF"/>
                </a:solidFill>
              </a:rPr>
              <a:t>论处</a:t>
            </a:r>
            <a:r>
              <a:rPr lang="zh-CN" altLang="en-US" dirty="0">
                <a:solidFill>
                  <a:srgbClr val="1143CF"/>
                </a:solidFill>
              </a:rPr>
              <a:t>。</a:t>
            </a:r>
            <a:endParaRPr lang="en-US" altLang="zh-CN" dirty="0">
              <a:solidFill>
                <a:srgbClr val="1143CF"/>
              </a:solidFill>
            </a:endParaRPr>
          </a:p>
          <a:p>
            <a:r>
              <a:rPr lang="en-US" altLang="zh-CN" dirty="0">
                <a:solidFill>
                  <a:srgbClr val="1143CF"/>
                </a:solidFill>
              </a:rPr>
              <a:t>         </a:t>
            </a:r>
            <a:r>
              <a:rPr lang="zh-CN" altLang="en-US" dirty="0">
                <a:solidFill>
                  <a:srgbClr val="1143CF"/>
                </a:solidFill>
              </a:rPr>
              <a:t>（司法解释第</a:t>
            </a:r>
            <a:r>
              <a:rPr lang="en-US" altLang="zh-CN" dirty="0">
                <a:solidFill>
                  <a:srgbClr val="1143CF"/>
                </a:solidFill>
              </a:rPr>
              <a:t>1</a:t>
            </a:r>
            <a:r>
              <a:rPr lang="zh-CN" altLang="en-US" dirty="0">
                <a:solidFill>
                  <a:srgbClr val="1143CF"/>
                </a:solidFill>
              </a:rPr>
              <a:t>条第</a:t>
            </a:r>
            <a:r>
              <a:rPr lang="en-US" altLang="zh-CN" dirty="0">
                <a:solidFill>
                  <a:srgbClr val="1143CF"/>
                </a:solidFill>
              </a:rPr>
              <a:t>3</a:t>
            </a:r>
            <a:r>
              <a:rPr lang="zh-CN" altLang="en-US" dirty="0">
                <a:solidFill>
                  <a:srgbClr val="1143CF"/>
                </a:solidFill>
              </a:rPr>
              <a:t>款）</a:t>
            </a:r>
          </a:p>
        </p:txBody>
      </p:sp>
      <p:sp>
        <p:nvSpPr>
          <p:cNvPr id="12" name="Rectangle 2"/>
          <p:cNvSpPr>
            <a:spLocks noGrp="1"/>
          </p:cNvSpPr>
          <p:nvPr>
            <p:ph type="title"/>
          </p:nvPr>
        </p:nvSpPr>
        <p:spPr>
          <a:xfrm>
            <a:off x="611188" y="88900"/>
            <a:ext cx="8075612" cy="539750"/>
          </a:xfrm>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
        <p:nvSpPr>
          <p:cNvPr id="14" name="文本框 9"/>
          <p:cNvSpPr txBox="1"/>
          <p:nvPr/>
        </p:nvSpPr>
        <p:spPr>
          <a:xfrm>
            <a:off x="214282" y="714362"/>
            <a:ext cx="5072098" cy="400110"/>
          </a:xfrm>
          <a:prstGeom prst="rect">
            <a:avLst/>
          </a:prstGeom>
          <a:noFill/>
          <a:ln>
            <a:solidFill>
              <a:schemeClr val="tx1"/>
            </a:solidFill>
          </a:ln>
        </p:spPr>
        <p:txBody>
          <a:bodyPr wrap="square" rtlCol="0">
            <a:spAutoFit/>
          </a:bodyPr>
          <a:lstStyle/>
          <a:p>
            <a:r>
              <a:rPr lang="zh-CN" altLang="en-US" sz="2000" b="1" dirty="0">
                <a:solidFill>
                  <a:srgbClr val="1143CF"/>
                </a:solidFill>
              </a:rPr>
              <a:t>问题</a:t>
            </a:r>
            <a:r>
              <a:rPr lang="en-US" altLang="zh-CN" sz="2000" b="1" dirty="0">
                <a:solidFill>
                  <a:srgbClr val="1143CF"/>
                </a:solidFill>
              </a:rPr>
              <a:t>4</a:t>
            </a:r>
            <a:r>
              <a:rPr lang="zh-CN" altLang="en-US" sz="2000" b="1" dirty="0">
                <a:solidFill>
                  <a:srgbClr val="1143CF"/>
                </a:solidFill>
              </a:rPr>
              <a:t>：本罪的既遂标准？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 grpId="0"/>
      <p:bldP spid="16" grpId="0"/>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1.2.3 </a:t>
            </a:r>
            <a:r>
              <a:rPr lang="zh-CN" altLang="en-US" sz="2000" b="1" dirty="0">
                <a:latin typeface="宋体" panose="02010600030101010101" pitchFamily="2" charset="-122"/>
                <a:ea typeface="宋体" panose="02010600030101010101" pitchFamily="2" charset="-122"/>
              </a:rPr>
              <a:t>组织他人偷越国</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边）境罪的加重犯</a:t>
            </a:r>
          </a:p>
          <a:p>
            <a:endParaRPr lang="zh-CN" altLang="en-US" sz="2100" b="0" dirty="0">
              <a:latin typeface="宋体" panose="02010600030101010101" pitchFamily="2" charset="-122"/>
              <a:ea typeface="宋体" panose="02010600030101010101" pitchFamily="2" charset="-122"/>
            </a:endParaRPr>
          </a:p>
        </p:txBody>
      </p:sp>
      <p:sp>
        <p:nvSpPr>
          <p:cNvPr id="12" name="Rectangle 2"/>
          <p:cNvSpPr>
            <a:spLocks noGrp="1"/>
          </p:cNvSpPr>
          <p:nvPr>
            <p:ph type="title"/>
          </p:nvPr>
        </p:nvSpPr>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
        <p:nvSpPr>
          <p:cNvPr id="11" name="矩形 10"/>
          <p:cNvSpPr/>
          <p:nvPr/>
        </p:nvSpPr>
        <p:spPr>
          <a:xfrm>
            <a:off x="785786" y="1500180"/>
            <a:ext cx="7572428" cy="923330"/>
          </a:xfrm>
          <a:prstGeom prst="rect">
            <a:avLst/>
          </a:prstGeom>
        </p:spPr>
        <p:txBody>
          <a:bodyPr wrap="square">
            <a:spAutoFit/>
          </a:bodyPr>
          <a:lstStyle/>
          <a:p>
            <a:r>
              <a:rPr lang="zh-CN" altLang="en-US" dirty="0"/>
              <a:t>第三百一十八条    组织他人偷越国（边）境的，处二年以上七年以下有期徒刑，并处罚金；有下列情形之一的，处七年以上有期徒刑或者无期徒刑，并处罚金或者没收财产：　</a:t>
            </a:r>
          </a:p>
        </p:txBody>
      </p:sp>
      <p:sp>
        <p:nvSpPr>
          <p:cNvPr id="16" name="矩形 15"/>
          <p:cNvSpPr/>
          <p:nvPr/>
        </p:nvSpPr>
        <p:spPr>
          <a:xfrm>
            <a:off x="785786" y="2571750"/>
            <a:ext cx="8215370" cy="2308324"/>
          </a:xfrm>
          <a:prstGeom prst="rect">
            <a:avLst/>
          </a:prstGeom>
        </p:spPr>
        <p:txBody>
          <a:bodyPr wrap="square">
            <a:spAutoFit/>
          </a:bodyPr>
          <a:lstStyle/>
          <a:p>
            <a:r>
              <a:rPr lang="zh-CN" altLang="en-US" b="1" dirty="0">
                <a:solidFill>
                  <a:srgbClr val="1143CF"/>
                </a:solidFill>
              </a:rPr>
              <a:t>（一） 组织他人偷越国（边）境集团的首要分子；</a:t>
            </a:r>
            <a:endParaRPr lang="en-US" altLang="zh-CN" b="1" dirty="0">
              <a:solidFill>
                <a:srgbClr val="1143CF"/>
              </a:solidFill>
            </a:endParaRPr>
          </a:p>
          <a:p>
            <a:r>
              <a:rPr lang="zh-CN" altLang="en-US" b="1" dirty="0">
                <a:solidFill>
                  <a:srgbClr val="1143CF"/>
                </a:solidFill>
              </a:rPr>
              <a:t>（二）</a:t>
            </a:r>
            <a:r>
              <a:rPr lang="zh-CN" altLang="en-US" b="1" dirty="0">
                <a:solidFill>
                  <a:srgbClr val="C00000"/>
                </a:solidFill>
              </a:rPr>
              <a:t>多次（</a:t>
            </a:r>
            <a:r>
              <a:rPr lang="en-US" altLang="zh-CN" b="1" dirty="0">
                <a:solidFill>
                  <a:srgbClr val="C00000"/>
                </a:solidFill>
              </a:rPr>
              <a:t>3</a:t>
            </a:r>
            <a:r>
              <a:rPr lang="zh-CN" altLang="en-US" b="1" dirty="0">
                <a:solidFill>
                  <a:srgbClr val="C00000"/>
                </a:solidFill>
              </a:rPr>
              <a:t>）</a:t>
            </a:r>
            <a:r>
              <a:rPr lang="zh-CN" altLang="en-US" b="1" dirty="0">
                <a:solidFill>
                  <a:srgbClr val="1143CF"/>
                </a:solidFill>
              </a:rPr>
              <a:t>组织他人偷越国（边）境或者组织他人偷越国（边）境人数</a:t>
            </a:r>
            <a:r>
              <a:rPr lang="zh-CN" altLang="en-US" b="1" dirty="0">
                <a:solidFill>
                  <a:srgbClr val="C00000"/>
                </a:solidFill>
              </a:rPr>
              <a:t>众多（</a:t>
            </a:r>
            <a:r>
              <a:rPr lang="en-US" altLang="zh-CN" b="1" dirty="0">
                <a:solidFill>
                  <a:srgbClr val="C00000"/>
                </a:solidFill>
              </a:rPr>
              <a:t>10</a:t>
            </a:r>
            <a:r>
              <a:rPr lang="zh-CN" altLang="en-US" b="1" dirty="0">
                <a:solidFill>
                  <a:srgbClr val="C00000"/>
                </a:solidFill>
              </a:rPr>
              <a:t>人以上）</a:t>
            </a:r>
            <a:r>
              <a:rPr lang="zh-CN" altLang="en-US" b="1" dirty="0">
                <a:solidFill>
                  <a:srgbClr val="1143CF"/>
                </a:solidFill>
              </a:rPr>
              <a:t>的；</a:t>
            </a:r>
            <a:br>
              <a:rPr lang="zh-CN" altLang="en-US" b="1" dirty="0">
                <a:solidFill>
                  <a:srgbClr val="1143CF"/>
                </a:solidFill>
              </a:rPr>
            </a:br>
            <a:r>
              <a:rPr lang="zh-CN" altLang="en-US" b="1" dirty="0">
                <a:solidFill>
                  <a:srgbClr val="1143CF"/>
                </a:solidFill>
              </a:rPr>
              <a:t>（三）造成被组织人重伤、死亡的；</a:t>
            </a:r>
            <a:br>
              <a:rPr lang="zh-CN" altLang="en-US" b="1" dirty="0">
                <a:solidFill>
                  <a:srgbClr val="1143CF"/>
                </a:solidFill>
              </a:rPr>
            </a:br>
            <a:r>
              <a:rPr lang="zh-CN" altLang="en-US" b="1" dirty="0">
                <a:solidFill>
                  <a:srgbClr val="1143CF"/>
                </a:solidFill>
              </a:rPr>
              <a:t>（四）剥夺或者限制被组织人人身自由的；</a:t>
            </a:r>
            <a:endParaRPr lang="en-US" altLang="zh-CN" b="1" dirty="0">
              <a:solidFill>
                <a:srgbClr val="1143CF"/>
              </a:solidFill>
            </a:endParaRPr>
          </a:p>
          <a:p>
            <a:r>
              <a:rPr lang="zh-CN" altLang="en-US" b="1" dirty="0">
                <a:solidFill>
                  <a:srgbClr val="1143CF"/>
                </a:solidFill>
              </a:rPr>
              <a:t>（五）以暴力、威胁方法抗拒检查的；</a:t>
            </a:r>
            <a:br>
              <a:rPr lang="zh-CN" altLang="en-US" b="1" dirty="0">
                <a:solidFill>
                  <a:srgbClr val="1143CF"/>
                </a:solidFill>
              </a:rPr>
            </a:br>
            <a:r>
              <a:rPr lang="zh-CN" altLang="en-US" b="1" dirty="0">
                <a:solidFill>
                  <a:srgbClr val="1143CF"/>
                </a:solidFill>
              </a:rPr>
              <a:t>（六）违法所得数额</a:t>
            </a:r>
            <a:r>
              <a:rPr lang="zh-CN" altLang="en-US" b="1" dirty="0">
                <a:solidFill>
                  <a:srgbClr val="C00000"/>
                </a:solidFill>
              </a:rPr>
              <a:t>巨大</a:t>
            </a:r>
            <a:r>
              <a:rPr lang="zh-CN" altLang="en-US" b="1" dirty="0">
                <a:solidFill>
                  <a:srgbClr val="1143CF"/>
                </a:solidFill>
              </a:rPr>
              <a:t>的</a:t>
            </a:r>
            <a:r>
              <a:rPr lang="zh-CN" altLang="en-US" b="1" dirty="0">
                <a:solidFill>
                  <a:srgbClr val="FF0000"/>
                </a:solidFill>
              </a:rPr>
              <a:t>（</a:t>
            </a:r>
            <a:r>
              <a:rPr lang="en-US" altLang="zh-CN" b="1" dirty="0">
                <a:solidFill>
                  <a:srgbClr val="FF0000"/>
                </a:solidFill>
              </a:rPr>
              <a:t>20</a:t>
            </a:r>
            <a:r>
              <a:rPr lang="zh-CN" altLang="en-US" b="1" dirty="0">
                <a:solidFill>
                  <a:srgbClr val="FF0000"/>
                </a:solidFill>
              </a:rPr>
              <a:t>万元以上）</a:t>
            </a:r>
            <a:r>
              <a:rPr lang="zh-CN" altLang="en-US" b="1" dirty="0">
                <a:solidFill>
                  <a:srgbClr val="1143CF"/>
                </a:solidFill>
              </a:rPr>
              <a:t>；</a:t>
            </a:r>
            <a:endParaRPr lang="en-US" altLang="zh-CN" b="1" dirty="0">
              <a:solidFill>
                <a:srgbClr val="1143CF"/>
              </a:solidFill>
            </a:endParaRPr>
          </a:p>
          <a:p>
            <a:r>
              <a:rPr lang="zh-CN" altLang="en-US" b="1" dirty="0">
                <a:solidFill>
                  <a:srgbClr val="1143CF"/>
                </a:solidFill>
              </a:rPr>
              <a:t>（七）有其他特别严重情节的。</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251520" y="843558"/>
            <a:ext cx="6049366" cy="677108"/>
          </a:xfrm>
          <a:prstGeom prst="rect">
            <a:avLst/>
          </a:prstGeom>
          <a:noFill/>
        </p:spPr>
        <p:txBody>
          <a:bodyPr wrap="square" rtlCol="0">
            <a:spAutoFit/>
          </a:bodyPr>
          <a:lstStyle/>
          <a:p>
            <a:r>
              <a:rPr lang="zh-CN" altLang="en-US" dirty="0"/>
              <a:t>　　</a:t>
            </a:r>
            <a:r>
              <a:rPr lang="zh-CN" altLang="en-US" sz="2000" b="1" dirty="0"/>
              <a:t>（一）组织他人偷越国（边）境集团的首要分子</a:t>
            </a:r>
            <a:r>
              <a:rPr lang="zh-CN" altLang="en-US" sz="2000" b="1" dirty="0">
                <a:solidFill>
                  <a:srgbClr val="1143CF"/>
                </a:solidFill>
              </a:rPr>
              <a:t>；</a:t>
            </a:r>
            <a:br>
              <a:rPr lang="zh-CN" altLang="en-US" dirty="0"/>
            </a:br>
            <a:r>
              <a:rPr lang="zh-CN" altLang="en-US" dirty="0"/>
              <a:t>　　</a:t>
            </a:r>
          </a:p>
        </p:txBody>
      </p:sp>
      <p:sp>
        <p:nvSpPr>
          <p:cNvPr id="2" name="文本框 1"/>
          <p:cNvSpPr txBox="1"/>
          <p:nvPr/>
        </p:nvSpPr>
        <p:spPr>
          <a:xfrm>
            <a:off x="919928" y="1261426"/>
            <a:ext cx="3816424" cy="400110"/>
          </a:xfrm>
          <a:prstGeom prst="rect">
            <a:avLst/>
          </a:prstGeom>
          <a:noFill/>
        </p:spPr>
        <p:txBody>
          <a:bodyPr wrap="square" rtlCol="0">
            <a:spAutoFit/>
          </a:bodyPr>
          <a:lstStyle/>
          <a:p>
            <a:r>
              <a:rPr lang="en-US" altLang="zh-CN" sz="2000" b="1" dirty="0"/>
              <a:t>1. </a:t>
            </a:r>
            <a:r>
              <a:rPr lang="zh-CN" altLang="en-US" sz="2000" b="1" dirty="0"/>
              <a:t>犯罪集团</a:t>
            </a:r>
          </a:p>
        </p:txBody>
      </p:sp>
      <p:sp>
        <p:nvSpPr>
          <p:cNvPr id="3" name="文本框 2"/>
          <p:cNvSpPr txBox="1"/>
          <p:nvPr/>
        </p:nvSpPr>
        <p:spPr>
          <a:xfrm>
            <a:off x="919928" y="1630758"/>
            <a:ext cx="7848872" cy="707886"/>
          </a:xfrm>
          <a:prstGeom prst="rect">
            <a:avLst/>
          </a:prstGeom>
          <a:noFill/>
        </p:spPr>
        <p:txBody>
          <a:bodyPr wrap="square" rtlCol="0">
            <a:spAutoFit/>
          </a:bodyPr>
          <a:lstStyle/>
          <a:p>
            <a:r>
              <a:rPr lang="zh-CN" altLang="en-US" sz="2000" b="1" dirty="0">
                <a:solidFill>
                  <a:srgbClr val="1143CF"/>
                </a:solidFill>
              </a:rPr>
              <a:t>刑法第</a:t>
            </a:r>
            <a:r>
              <a:rPr lang="en-US" altLang="zh-CN" sz="2000" b="1" dirty="0">
                <a:solidFill>
                  <a:srgbClr val="1143CF"/>
                </a:solidFill>
              </a:rPr>
              <a:t>26</a:t>
            </a:r>
            <a:r>
              <a:rPr lang="zh-CN" altLang="en-US" sz="2000" b="1" dirty="0">
                <a:solidFill>
                  <a:srgbClr val="1143CF"/>
                </a:solidFill>
              </a:rPr>
              <a:t>条第</a:t>
            </a:r>
            <a:r>
              <a:rPr lang="en-US" altLang="zh-CN" sz="2000" b="1" dirty="0">
                <a:solidFill>
                  <a:srgbClr val="1143CF"/>
                </a:solidFill>
              </a:rPr>
              <a:t>2</a:t>
            </a:r>
            <a:r>
              <a:rPr lang="zh-CN" altLang="en-US" sz="2000" b="1" dirty="0">
                <a:solidFill>
                  <a:srgbClr val="1143CF"/>
                </a:solidFill>
              </a:rPr>
              <a:t>款规定：“三人以上为共同实施犯罪而组成的较为固定的犯罪组织，是犯罪集团。”</a:t>
            </a:r>
          </a:p>
        </p:txBody>
      </p:sp>
      <p:sp>
        <p:nvSpPr>
          <p:cNvPr id="4" name="文本框 3"/>
          <p:cNvSpPr txBox="1"/>
          <p:nvPr/>
        </p:nvSpPr>
        <p:spPr>
          <a:xfrm>
            <a:off x="941652" y="2360614"/>
            <a:ext cx="7864836" cy="369332"/>
          </a:xfrm>
          <a:prstGeom prst="rect">
            <a:avLst/>
          </a:prstGeom>
          <a:noFill/>
        </p:spPr>
        <p:txBody>
          <a:bodyPr wrap="square" rtlCol="0">
            <a:spAutoFit/>
          </a:bodyPr>
          <a:lstStyle/>
          <a:p>
            <a:r>
              <a:rPr lang="zh-CN" altLang="en-US" b="1" dirty="0">
                <a:solidFill>
                  <a:srgbClr val="1143CF"/>
                </a:solidFill>
              </a:rPr>
              <a:t>特征：（</a:t>
            </a:r>
            <a:r>
              <a:rPr lang="en-US" altLang="zh-CN" b="1" dirty="0">
                <a:solidFill>
                  <a:srgbClr val="1143CF"/>
                </a:solidFill>
              </a:rPr>
              <a:t>1</a:t>
            </a:r>
            <a:r>
              <a:rPr lang="zh-CN" altLang="en-US" b="1" dirty="0">
                <a:solidFill>
                  <a:srgbClr val="1143CF"/>
                </a:solidFill>
              </a:rPr>
              <a:t>）三人或三人以上；</a:t>
            </a:r>
          </a:p>
        </p:txBody>
      </p:sp>
      <p:sp>
        <p:nvSpPr>
          <p:cNvPr id="8" name="文本框 7"/>
          <p:cNvSpPr txBox="1"/>
          <p:nvPr/>
        </p:nvSpPr>
        <p:spPr>
          <a:xfrm>
            <a:off x="919928" y="2779933"/>
            <a:ext cx="7864836" cy="369332"/>
          </a:xfrm>
          <a:prstGeom prst="rect">
            <a:avLst/>
          </a:prstGeom>
          <a:noFill/>
        </p:spPr>
        <p:txBody>
          <a:bodyPr wrap="square" rtlCol="0">
            <a:spAutoFit/>
          </a:bodyPr>
          <a:lstStyle/>
          <a:p>
            <a:r>
              <a:rPr lang="zh-CN" altLang="en-US" dirty="0"/>
              <a:t>           </a:t>
            </a:r>
            <a:r>
              <a:rPr lang="zh-CN" altLang="en-US" b="1" dirty="0">
                <a:solidFill>
                  <a:srgbClr val="1143CF"/>
                </a:solidFill>
              </a:rPr>
              <a:t>（</a:t>
            </a:r>
            <a:r>
              <a:rPr lang="en-US" altLang="zh-CN" b="1" dirty="0">
                <a:solidFill>
                  <a:srgbClr val="1143CF"/>
                </a:solidFill>
              </a:rPr>
              <a:t>2</a:t>
            </a:r>
            <a:r>
              <a:rPr lang="zh-CN" altLang="en-US" b="1" dirty="0">
                <a:solidFill>
                  <a:srgbClr val="1143CF"/>
                </a:solidFill>
              </a:rPr>
              <a:t>）犯罪组织比较固定；有首要分子；</a:t>
            </a:r>
          </a:p>
        </p:txBody>
      </p:sp>
      <p:sp>
        <p:nvSpPr>
          <p:cNvPr id="9" name="文本框 8"/>
          <p:cNvSpPr txBox="1"/>
          <p:nvPr/>
        </p:nvSpPr>
        <p:spPr>
          <a:xfrm>
            <a:off x="919928" y="3149265"/>
            <a:ext cx="7864836" cy="369332"/>
          </a:xfrm>
          <a:prstGeom prst="rect">
            <a:avLst/>
          </a:prstGeom>
          <a:noFill/>
        </p:spPr>
        <p:txBody>
          <a:bodyPr wrap="square" rtlCol="0">
            <a:spAutoFit/>
          </a:bodyPr>
          <a:lstStyle/>
          <a:p>
            <a:r>
              <a:rPr lang="zh-CN" altLang="en-US" dirty="0"/>
              <a:t>           </a:t>
            </a:r>
            <a:r>
              <a:rPr lang="zh-CN" altLang="en-US" b="1" dirty="0">
                <a:solidFill>
                  <a:srgbClr val="1143CF"/>
                </a:solidFill>
              </a:rPr>
              <a:t>（</a:t>
            </a:r>
            <a:r>
              <a:rPr lang="en-US" altLang="zh-CN" b="1" dirty="0">
                <a:solidFill>
                  <a:srgbClr val="1143CF"/>
                </a:solidFill>
              </a:rPr>
              <a:t>3</a:t>
            </a:r>
            <a:r>
              <a:rPr lang="zh-CN" altLang="en-US" b="1" dirty="0">
                <a:solidFill>
                  <a:srgbClr val="1143CF"/>
                </a:solidFill>
              </a:rPr>
              <a:t>）有预谋、有计划地实施犯罪活动。</a:t>
            </a:r>
          </a:p>
        </p:txBody>
      </p:sp>
      <p:sp>
        <p:nvSpPr>
          <p:cNvPr id="10" name="Rectangle 2"/>
          <p:cNvSpPr>
            <a:spLocks noGrp="1"/>
          </p:cNvSpPr>
          <p:nvPr>
            <p:ph type="title"/>
          </p:nvPr>
        </p:nvSpPr>
        <p:spPr>
          <a:xfrm>
            <a:off x="611188" y="88900"/>
            <a:ext cx="8075612" cy="539750"/>
          </a:xfrm>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927910" y="830473"/>
            <a:ext cx="3816424" cy="400110"/>
          </a:xfrm>
          <a:prstGeom prst="rect">
            <a:avLst/>
          </a:prstGeom>
          <a:noFill/>
        </p:spPr>
        <p:txBody>
          <a:bodyPr wrap="square" rtlCol="0">
            <a:spAutoFit/>
          </a:bodyPr>
          <a:lstStyle/>
          <a:p>
            <a:r>
              <a:rPr lang="en-US" altLang="zh-CN" sz="2000" b="1" dirty="0"/>
              <a:t>2. </a:t>
            </a:r>
            <a:r>
              <a:rPr lang="zh-CN" altLang="en-US" sz="2000" b="1" dirty="0"/>
              <a:t>首要分子</a:t>
            </a:r>
          </a:p>
        </p:txBody>
      </p:sp>
      <p:sp>
        <p:nvSpPr>
          <p:cNvPr id="13" name="文本框 12"/>
          <p:cNvSpPr txBox="1"/>
          <p:nvPr/>
        </p:nvSpPr>
        <p:spPr>
          <a:xfrm>
            <a:off x="879908" y="1419622"/>
            <a:ext cx="7848872" cy="400110"/>
          </a:xfrm>
          <a:prstGeom prst="rect">
            <a:avLst/>
          </a:prstGeom>
          <a:noFill/>
        </p:spPr>
        <p:txBody>
          <a:bodyPr wrap="square" rtlCol="0">
            <a:spAutoFit/>
          </a:bodyPr>
          <a:lstStyle/>
          <a:p>
            <a:r>
              <a:rPr lang="zh-CN" altLang="en-US" sz="2000" b="1" dirty="0">
                <a:solidFill>
                  <a:srgbClr val="1143CF"/>
                </a:solidFill>
              </a:rPr>
              <a:t>是指在犯罪集团中起组织、策划、指挥作用的犯罪分子。</a:t>
            </a:r>
          </a:p>
        </p:txBody>
      </p:sp>
      <p:sp>
        <p:nvSpPr>
          <p:cNvPr id="10" name="文本框 9"/>
          <p:cNvSpPr txBox="1"/>
          <p:nvPr/>
        </p:nvSpPr>
        <p:spPr>
          <a:xfrm>
            <a:off x="1277676" y="2066352"/>
            <a:ext cx="7843112" cy="400110"/>
          </a:xfrm>
          <a:prstGeom prst="rect">
            <a:avLst/>
          </a:prstGeom>
          <a:noFill/>
        </p:spPr>
        <p:txBody>
          <a:bodyPr wrap="square" rtlCol="0">
            <a:spAutoFit/>
          </a:bodyPr>
          <a:lstStyle/>
          <a:p>
            <a:r>
              <a:rPr lang="zh-CN" altLang="en-US" sz="2000" b="1" dirty="0">
                <a:solidFill>
                  <a:srgbClr val="1143CF"/>
                </a:solidFill>
              </a:rPr>
              <a:t>（</a:t>
            </a:r>
            <a:r>
              <a:rPr lang="en-US" altLang="zh-CN" sz="2000" b="1" dirty="0">
                <a:solidFill>
                  <a:srgbClr val="1143CF"/>
                </a:solidFill>
              </a:rPr>
              <a:t>1</a:t>
            </a:r>
            <a:r>
              <a:rPr lang="zh-CN" altLang="en-US" sz="2000" b="1" dirty="0">
                <a:solidFill>
                  <a:srgbClr val="1143CF"/>
                </a:solidFill>
              </a:rPr>
              <a:t>）按照集团所犯的全部罪行处罚。</a:t>
            </a:r>
          </a:p>
        </p:txBody>
      </p:sp>
      <p:sp>
        <p:nvSpPr>
          <p:cNvPr id="5" name="文本框 4"/>
          <p:cNvSpPr txBox="1"/>
          <p:nvPr/>
        </p:nvSpPr>
        <p:spPr>
          <a:xfrm>
            <a:off x="395536" y="2211710"/>
            <a:ext cx="648072" cy="369332"/>
          </a:xfrm>
          <a:prstGeom prst="rect">
            <a:avLst/>
          </a:prstGeom>
          <a:noFill/>
          <a:ln>
            <a:solidFill>
              <a:srgbClr val="1143CF"/>
            </a:solidFill>
          </a:ln>
        </p:spPr>
        <p:txBody>
          <a:bodyPr wrap="square" rtlCol="0">
            <a:spAutoFit/>
          </a:bodyPr>
          <a:lstStyle/>
          <a:p>
            <a:r>
              <a:rPr lang="zh-CN" altLang="en-US" b="1" dirty="0"/>
              <a:t>责任</a:t>
            </a:r>
          </a:p>
        </p:txBody>
      </p:sp>
      <p:sp>
        <p:nvSpPr>
          <p:cNvPr id="15" name="文本框 14"/>
          <p:cNvSpPr txBox="1"/>
          <p:nvPr/>
        </p:nvSpPr>
        <p:spPr>
          <a:xfrm>
            <a:off x="1277676" y="2581042"/>
            <a:ext cx="7843112" cy="707886"/>
          </a:xfrm>
          <a:prstGeom prst="rect">
            <a:avLst/>
          </a:prstGeom>
          <a:noFill/>
        </p:spPr>
        <p:txBody>
          <a:bodyPr wrap="square" rtlCol="0">
            <a:spAutoFit/>
          </a:bodyPr>
          <a:lstStyle/>
          <a:p>
            <a:r>
              <a:rPr lang="zh-CN" altLang="en-US" sz="2000" b="1" dirty="0">
                <a:solidFill>
                  <a:srgbClr val="1143CF"/>
                </a:solidFill>
              </a:rPr>
              <a:t>（</a:t>
            </a:r>
            <a:r>
              <a:rPr lang="en-US" altLang="zh-CN" sz="2000" b="1" dirty="0">
                <a:solidFill>
                  <a:srgbClr val="1143CF"/>
                </a:solidFill>
              </a:rPr>
              <a:t>2</a:t>
            </a:r>
            <a:r>
              <a:rPr lang="zh-CN" altLang="en-US" sz="2000" b="1" dirty="0">
                <a:solidFill>
                  <a:srgbClr val="1143CF"/>
                </a:solidFill>
              </a:rPr>
              <a:t>）</a:t>
            </a:r>
            <a:r>
              <a:rPr lang="zh-CN" altLang="en-US" sz="2000" b="1" dirty="0">
                <a:solidFill>
                  <a:srgbClr val="C00000"/>
                </a:solidFill>
              </a:rPr>
              <a:t>例外：</a:t>
            </a:r>
            <a:r>
              <a:rPr lang="zh-CN" altLang="en-US" sz="2000" b="1" dirty="0">
                <a:solidFill>
                  <a:srgbClr val="1143CF"/>
                </a:solidFill>
              </a:rPr>
              <a:t>对某个或某些成员超出</a:t>
            </a:r>
            <a:r>
              <a:rPr lang="zh-CN" altLang="en-US" sz="2000" b="1" dirty="0">
                <a:solidFill>
                  <a:srgbClr val="C00000"/>
                </a:solidFill>
              </a:rPr>
              <a:t>在该犯罪集团预谋实施的犯罪以外</a:t>
            </a:r>
            <a:r>
              <a:rPr lang="zh-CN" altLang="en-US" sz="2000" b="1" dirty="0">
                <a:solidFill>
                  <a:srgbClr val="1143CF"/>
                </a:solidFill>
              </a:rPr>
              <a:t>独立实施了其他犯罪行为不承担责任。</a:t>
            </a:r>
          </a:p>
        </p:txBody>
      </p:sp>
      <p:sp>
        <p:nvSpPr>
          <p:cNvPr id="8" name="Rectangle 2"/>
          <p:cNvSpPr>
            <a:spLocks noGrp="1"/>
          </p:cNvSpPr>
          <p:nvPr>
            <p:ph type="title"/>
          </p:nvPr>
        </p:nvSpPr>
        <p:spPr>
          <a:xfrm>
            <a:off x="611188" y="88900"/>
            <a:ext cx="8075612" cy="539750"/>
          </a:xfrm>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animBg="1"/>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251520" y="843558"/>
            <a:ext cx="7632848" cy="954107"/>
          </a:xfrm>
          <a:prstGeom prst="rect">
            <a:avLst/>
          </a:prstGeom>
          <a:noFill/>
        </p:spPr>
        <p:txBody>
          <a:bodyPr wrap="square" rtlCol="0">
            <a:spAutoFit/>
          </a:bodyPr>
          <a:lstStyle/>
          <a:p>
            <a:r>
              <a:rPr lang="zh-CN" altLang="en-US" dirty="0"/>
              <a:t>　　</a:t>
            </a:r>
            <a:r>
              <a:rPr lang="zh-CN" altLang="en-US" sz="2000" b="1" dirty="0"/>
              <a:t>（三）造成被组织人重伤、死亡的；</a:t>
            </a:r>
            <a:br>
              <a:rPr lang="zh-CN" altLang="en-US" sz="2000" b="1" dirty="0">
                <a:solidFill>
                  <a:srgbClr val="1143CF"/>
                </a:solidFill>
              </a:rPr>
            </a:br>
            <a:br>
              <a:rPr lang="zh-CN" altLang="en-US" dirty="0"/>
            </a:br>
            <a:r>
              <a:rPr lang="zh-CN" altLang="en-US" dirty="0"/>
              <a:t>　　</a:t>
            </a:r>
          </a:p>
        </p:txBody>
      </p:sp>
      <p:sp>
        <p:nvSpPr>
          <p:cNvPr id="2" name="文本框 1"/>
          <p:cNvSpPr txBox="1"/>
          <p:nvPr/>
        </p:nvSpPr>
        <p:spPr>
          <a:xfrm>
            <a:off x="918812" y="1500148"/>
            <a:ext cx="7972552" cy="707886"/>
          </a:xfrm>
          <a:prstGeom prst="rect">
            <a:avLst/>
          </a:prstGeom>
          <a:noFill/>
        </p:spPr>
        <p:txBody>
          <a:bodyPr wrap="square" rtlCol="0">
            <a:spAutoFit/>
          </a:bodyPr>
          <a:lstStyle/>
          <a:p>
            <a:r>
              <a:rPr lang="zh-CN" altLang="en-US" sz="2000" b="1" dirty="0">
                <a:solidFill>
                  <a:srgbClr val="1143CF"/>
                </a:solidFill>
              </a:rPr>
              <a:t>情形一：将被组织者置于船舱、集装箱、货舱等封闭的运输工具中，造成被组织者因缺氧而重伤或死亡。</a:t>
            </a:r>
          </a:p>
        </p:txBody>
      </p:sp>
      <p:sp>
        <p:nvSpPr>
          <p:cNvPr id="9" name="文本框 8"/>
          <p:cNvSpPr txBox="1"/>
          <p:nvPr/>
        </p:nvSpPr>
        <p:spPr>
          <a:xfrm>
            <a:off x="179512" y="2269589"/>
            <a:ext cx="7864836" cy="400110"/>
          </a:xfrm>
          <a:prstGeom prst="rect">
            <a:avLst/>
          </a:prstGeom>
          <a:noFill/>
        </p:spPr>
        <p:txBody>
          <a:bodyPr wrap="square" rtlCol="0">
            <a:spAutoFit/>
          </a:bodyPr>
          <a:lstStyle/>
          <a:p>
            <a:r>
              <a:rPr lang="zh-CN" altLang="en-US" sz="2000" dirty="0"/>
              <a:t>           </a:t>
            </a:r>
            <a:r>
              <a:rPr lang="zh-CN" altLang="en-US" sz="2000" b="1" dirty="0">
                <a:solidFill>
                  <a:srgbClr val="1143CF"/>
                </a:solidFill>
              </a:rPr>
              <a:t>情形二：因被组织者不服从、反抗等重伤害或杀害被组织者。</a:t>
            </a:r>
          </a:p>
        </p:txBody>
      </p:sp>
      <p:sp>
        <p:nvSpPr>
          <p:cNvPr id="5" name="文本框 4"/>
          <p:cNvSpPr txBox="1"/>
          <p:nvPr/>
        </p:nvSpPr>
        <p:spPr>
          <a:xfrm>
            <a:off x="890624" y="3110845"/>
            <a:ext cx="7560840" cy="707886"/>
          </a:xfrm>
          <a:prstGeom prst="rect">
            <a:avLst/>
          </a:prstGeom>
          <a:noFill/>
        </p:spPr>
        <p:txBody>
          <a:bodyPr wrap="square" rtlCol="0">
            <a:spAutoFit/>
          </a:bodyPr>
          <a:lstStyle/>
          <a:p>
            <a:r>
              <a:rPr lang="zh-CN" altLang="en-US" sz="2000" b="1" dirty="0">
                <a:solidFill>
                  <a:srgbClr val="1143CF"/>
                </a:solidFill>
              </a:rPr>
              <a:t>此处的“造成”仅仅指</a:t>
            </a:r>
            <a:r>
              <a:rPr lang="zh-CN" altLang="en-US" sz="2000" b="1" dirty="0">
                <a:solidFill>
                  <a:srgbClr val="C00000"/>
                </a:solidFill>
              </a:rPr>
              <a:t>“过失”</a:t>
            </a:r>
            <a:r>
              <a:rPr lang="zh-CN" altLang="en-US" sz="2000" b="1" dirty="0">
                <a:solidFill>
                  <a:srgbClr val="1143CF"/>
                </a:solidFill>
              </a:rPr>
              <a:t>造成，不包括“故意”致人重伤或杀害被组织者。</a:t>
            </a:r>
          </a:p>
        </p:txBody>
      </p:sp>
      <p:sp>
        <p:nvSpPr>
          <p:cNvPr id="3" name="文本框 2"/>
          <p:cNvSpPr txBox="1"/>
          <p:nvPr/>
        </p:nvSpPr>
        <p:spPr>
          <a:xfrm>
            <a:off x="918812" y="3977072"/>
            <a:ext cx="7757644" cy="707886"/>
          </a:xfrm>
          <a:prstGeom prst="rect">
            <a:avLst/>
          </a:prstGeom>
          <a:noFill/>
        </p:spPr>
        <p:txBody>
          <a:bodyPr wrap="square" rtlCol="0">
            <a:spAutoFit/>
          </a:bodyPr>
          <a:lstStyle/>
          <a:p>
            <a:r>
              <a:rPr lang="zh-CN" altLang="en-US" sz="2000" b="1" dirty="0">
                <a:solidFill>
                  <a:srgbClr val="1143CF"/>
                </a:solidFill>
              </a:rPr>
              <a:t>如果对被组织者故意实施杀害、伤害行为，以组织他人偷越国（边）境罪与故意杀人罪或故意伤害罪</a:t>
            </a:r>
            <a:r>
              <a:rPr lang="zh-CN" altLang="en-US" sz="2000" b="1" dirty="0">
                <a:solidFill>
                  <a:srgbClr val="C00000"/>
                </a:solidFill>
              </a:rPr>
              <a:t>数罪并罚</a:t>
            </a:r>
            <a:r>
              <a:rPr lang="zh-CN" altLang="en-US" sz="2000" b="1" dirty="0">
                <a:solidFill>
                  <a:srgbClr val="1143CF"/>
                </a:solidFill>
              </a:rPr>
              <a:t>。</a:t>
            </a:r>
          </a:p>
        </p:txBody>
      </p:sp>
      <p:cxnSp>
        <p:nvCxnSpPr>
          <p:cNvPr id="10" name="直接箭头连接符 9"/>
          <p:cNvCxnSpPr/>
          <p:nvPr/>
        </p:nvCxnSpPr>
        <p:spPr>
          <a:xfrm rot="16200000" flipH="1">
            <a:off x="1750199" y="1321585"/>
            <a:ext cx="1928826" cy="17145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3" name="直接箭头连接符 12"/>
          <p:cNvCxnSpPr/>
          <p:nvPr/>
        </p:nvCxnSpPr>
        <p:spPr>
          <a:xfrm>
            <a:off x="1357290" y="2643188"/>
            <a:ext cx="2286016" cy="164307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Rectangle 2"/>
          <p:cNvSpPr>
            <a:spLocks noGrp="1"/>
          </p:cNvSpPr>
          <p:nvPr>
            <p:ph type="title"/>
          </p:nvPr>
        </p:nvSpPr>
        <p:spPr>
          <a:xfrm>
            <a:off x="611188" y="88900"/>
            <a:ext cx="8075612" cy="539750"/>
          </a:xfrm>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251520" y="843558"/>
            <a:ext cx="6049366" cy="400110"/>
          </a:xfrm>
          <a:prstGeom prst="rect">
            <a:avLst/>
          </a:prstGeom>
          <a:noFill/>
        </p:spPr>
        <p:txBody>
          <a:bodyPr wrap="square" rtlCol="0">
            <a:spAutoFit/>
          </a:bodyPr>
          <a:lstStyle/>
          <a:p>
            <a:r>
              <a:rPr lang="zh-CN" altLang="en-US" dirty="0"/>
              <a:t>　　</a:t>
            </a:r>
            <a:r>
              <a:rPr lang="zh-CN" altLang="en-US" sz="2000" b="1" dirty="0"/>
              <a:t>（四）剥夺或者限制被组织人人身自由的；</a:t>
            </a:r>
            <a:r>
              <a:rPr lang="zh-CN" altLang="en-US" sz="2000" dirty="0"/>
              <a:t>　</a:t>
            </a:r>
            <a:r>
              <a:rPr lang="zh-CN" altLang="en-US" dirty="0"/>
              <a:t>　</a:t>
            </a:r>
          </a:p>
        </p:txBody>
      </p:sp>
      <p:sp>
        <p:nvSpPr>
          <p:cNvPr id="3" name="文本框 2"/>
          <p:cNvSpPr txBox="1"/>
          <p:nvPr/>
        </p:nvSpPr>
        <p:spPr>
          <a:xfrm>
            <a:off x="1000100" y="1428742"/>
            <a:ext cx="5214974" cy="400110"/>
          </a:xfrm>
          <a:prstGeom prst="rect">
            <a:avLst/>
          </a:prstGeom>
          <a:noFill/>
        </p:spPr>
        <p:txBody>
          <a:bodyPr wrap="square" rtlCol="0">
            <a:spAutoFit/>
          </a:bodyPr>
          <a:lstStyle/>
          <a:p>
            <a:r>
              <a:rPr lang="zh-CN" altLang="en-US" sz="2000" b="1" dirty="0">
                <a:solidFill>
                  <a:srgbClr val="1143CF"/>
                </a:solidFill>
              </a:rPr>
              <a:t>剥夺或者限制行为同时构成“非法拘禁”</a:t>
            </a:r>
          </a:p>
        </p:txBody>
      </p:sp>
      <p:sp>
        <p:nvSpPr>
          <p:cNvPr id="9" name="文本框 8"/>
          <p:cNvSpPr txBox="1"/>
          <p:nvPr/>
        </p:nvSpPr>
        <p:spPr>
          <a:xfrm>
            <a:off x="214282" y="2143122"/>
            <a:ext cx="7864836" cy="400110"/>
          </a:xfrm>
          <a:prstGeom prst="rect">
            <a:avLst/>
          </a:prstGeom>
          <a:noFill/>
        </p:spPr>
        <p:txBody>
          <a:bodyPr wrap="square" rtlCol="0">
            <a:spAutoFit/>
          </a:bodyPr>
          <a:lstStyle/>
          <a:p>
            <a:r>
              <a:rPr lang="zh-CN" altLang="en-US" dirty="0"/>
              <a:t>           </a:t>
            </a:r>
            <a:r>
              <a:rPr lang="zh-CN" altLang="en-US" sz="2000" b="1" dirty="0">
                <a:solidFill>
                  <a:srgbClr val="1143CF"/>
                </a:solidFill>
              </a:rPr>
              <a:t>“以“组织他人偷越国（边）境罪加重处罚。</a:t>
            </a:r>
          </a:p>
        </p:txBody>
      </p:sp>
      <p:sp>
        <p:nvSpPr>
          <p:cNvPr id="6" name="TextBox 5"/>
          <p:cNvSpPr txBox="1"/>
          <p:nvPr/>
        </p:nvSpPr>
        <p:spPr>
          <a:xfrm>
            <a:off x="285720" y="2714626"/>
            <a:ext cx="6049366" cy="400110"/>
          </a:xfrm>
          <a:prstGeom prst="rect">
            <a:avLst/>
          </a:prstGeom>
          <a:noFill/>
        </p:spPr>
        <p:txBody>
          <a:bodyPr wrap="square" rtlCol="0">
            <a:spAutoFit/>
          </a:bodyPr>
          <a:lstStyle/>
          <a:p>
            <a:r>
              <a:rPr lang="zh-CN" altLang="en-US" dirty="0"/>
              <a:t>　　</a:t>
            </a:r>
            <a:r>
              <a:rPr lang="zh-CN" altLang="en-US" sz="2000" b="1" dirty="0"/>
              <a:t>（五）以暴力、威胁方法抗拒检查的； </a:t>
            </a:r>
            <a:r>
              <a:rPr lang="zh-CN" altLang="en-US" dirty="0"/>
              <a:t>　　</a:t>
            </a:r>
          </a:p>
        </p:txBody>
      </p:sp>
      <p:sp>
        <p:nvSpPr>
          <p:cNvPr id="7" name="文本框 3"/>
          <p:cNvSpPr txBox="1"/>
          <p:nvPr/>
        </p:nvSpPr>
        <p:spPr>
          <a:xfrm>
            <a:off x="928662" y="3214692"/>
            <a:ext cx="7864836" cy="707886"/>
          </a:xfrm>
          <a:prstGeom prst="rect">
            <a:avLst/>
          </a:prstGeom>
          <a:noFill/>
        </p:spPr>
        <p:txBody>
          <a:bodyPr wrap="square" rtlCol="0">
            <a:spAutoFit/>
          </a:bodyPr>
          <a:lstStyle/>
          <a:p>
            <a:r>
              <a:rPr lang="zh-CN" altLang="en-US" sz="2000" b="1" dirty="0">
                <a:solidFill>
                  <a:srgbClr val="1143CF"/>
                </a:solidFill>
              </a:rPr>
              <a:t>以暴力、威胁方法抗拒检查的，</a:t>
            </a:r>
            <a:r>
              <a:rPr lang="zh-CN" altLang="en-US" sz="2000" b="1" dirty="0">
                <a:solidFill>
                  <a:srgbClr val="C00000"/>
                </a:solidFill>
              </a:rPr>
              <a:t>不以</a:t>
            </a:r>
            <a:r>
              <a:rPr lang="zh-CN" altLang="en-US" sz="2000" b="1" dirty="0">
                <a:solidFill>
                  <a:srgbClr val="1143CF"/>
                </a:solidFill>
              </a:rPr>
              <a:t>组织他人偷越国（边）境罪与妨害公务罪数罪并罚，以“组织他人偷越国（边）境罪加重处罚”。</a:t>
            </a:r>
          </a:p>
        </p:txBody>
      </p:sp>
      <p:sp>
        <p:nvSpPr>
          <p:cNvPr id="8" name="Rectangle 2"/>
          <p:cNvSpPr>
            <a:spLocks noGrp="1"/>
          </p:cNvSpPr>
          <p:nvPr>
            <p:ph type="title"/>
          </p:nvPr>
        </p:nvSpPr>
        <p:spPr>
          <a:xfrm>
            <a:off x="611188" y="88900"/>
            <a:ext cx="8075612" cy="539750"/>
          </a:xfrm>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1.2.4 </a:t>
            </a:r>
            <a:r>
              <a:rPr lang="zh-CN" altLang="en-US" sz="2000" b="1" dirty="0">
                <a:latin typeface="宋体" panose="02010600030101010101" pitchFamily="2" charset="-122"/>
                <a:ea typeface="宋体" panose="02010600030101010101" pitchFamily="2" charset="-122"/>
              </a:rPr>
              <a:t>组织他人偷越国</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边）境罪的罪数</a:t>
            </a:r>
          </a:p>
          <a:p>
            <a:endParaRPr lang="zh-CN" altLang="en-US" sz="2100" b="0" dirty="0">
              <a:latin typeface="宋体" panose="02010600030101010101" pitchFamily="2" charset="-122"/>
              <a:ea typeface="宋体" panose="02010600030101010101" pitchFamily="2" charset="-122"/>
            </a:endParaRPr>
          </a:p>
        </p:txBody>
      </p:sp>
      <p:sp>
        <p:nvSpPr>
          <p:cNvPr id="12" name="Rectangle 2"/>
          <p:cNvSpPr>
            <a:spLocks noGrp="1"/>
          </p:cNvSpPr>
          <p:nvPr>
            <p:ph type="title"/>
          </p:nvPr>
        </p:nvSpPr>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
        <p:nvSpPr>
          <p:cNvPr id="6" name="TextBox 5"/>
          <p:cNvSpPr txBox="1"/>
          <p:nvPr/>
        </p:nvSpPr>
        <p:spPr>
          <a:xfrm>
            <a:off x="357158" y="1571618"/>
            <a:ext cx="8358245" cy="707886"/>
          </a:xfrm>
          <a:prstGeom prst="rect">
            <a:avLst/>
          </a:prstGeom>
          <a:noFill/>
        </p:spPr>
        <p:txBody>
          <a:bodyPr wrap="square" rtlCol="0">
            <a:spAutoFit/>
          </a:bodyPr>
          <a:lstStyle/>
          <a:p>
            <a:r>
              <a:rPr lang="zh-CN" altLang="en-US" sz="2000" b="1" dirty="0">
                <a:solidFill>
                  <a:srgbClr val="1143CF"/>
                </a:solidFill>
              </a:rPr>
              <a:t>犯前款罪，对被组织人有杀害、伤害、强奸、拐卖等犯罪行为，或者对检查人员有杀害、伤害等犯罪行为的，依照</a:t>
            </a:r>
            <a:r>
              <a:rPr lang="zh-CN" altLang="en-US" sz="2000" b="1" dirty="0">
                <a:solidFill>
                  <a:srgbClr val="C00000"/>
                </a:solidFill>
              </a:rPr>
              <a:t>数罪并罚</a:t>
            </a:r>
            <a:r>
              <a:rPr lang="zh-CN" altLang="en-US" sz="2000" b="1" dirty="0">
                <a:solidFill>
                  <a:srgbClr val="1143CF"/>
                </a:solidFill>
              </a:rPr>
              <a:t>的规定处罚。</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928676"/>
            <a:ext cx="774571" cy="369332"/>
          </a:xfrm>
          <a:prstGeom prst="rect">
            <a:avLst/>
          </a:prstGeom>
          <a:noFill/>
        </p:spPr>
        <p:txBody>
          <a:bodyPr wrap="none" rtlCol="0">
            <a:spAutoFit/>
          </a:bodyPr>
          <a:lstStyle/>
          <a:p>
            <a:r>
              <a:rPr lang="zh-CN" altLang="en-US" b="1" dirty="0"/>
              <a:t>案例</a:t>
            </a:r>
            <a:r>
              <a:rPr lang="en-US" altLang="zh-CN" b="1" dirty="0"/>
              <a:t>2</a:t>
            </a:r>
            <a:endParaRPr lang="zh-CN" altLang="en-US" b="1" dirty="0"/>
          </a:p>
        </p:txBody>
      </p:sp>
      <p:sp>
        <p:nvSpPr>
          <p:cNvPr id="4" name="文本框 9"/>
          <p:cNvSpPr txBox="1"/>
          <p:nvPr/>
        </p:nvSpPr>
        <p:spPr>
          <a:xfrm>
            <a:off x="785786" y="1285866"/>
            <a:ext cx="7643866" cy="2862322"/>
          </a:xfrm>
          <a:prstGeom prst="rect">
            <a:avLst/>
          </a:prstGeom>
          <a:noFill/>
          <a:ln>
            <a:solidFill>
              <a:schemeClr val="tx1"/>
            </a:solidFill>
          </a:ln>
        </p:spPr>
        <p:txBody>
          <a:bodyPr wrap="square" rtlCol="0">
            <a:spAutoFit/>
          </a:bodyPr>
          <a:lstStyle/>
          <a:p>
            <a:pPr algn="just"/>
            <a:r>
              <a:rPr lang="en-US" altLang="zh-CN" sz="2000" b="1" dirty="0">
                <a:latin typeface="+mn-ea"/>
                <a:ea typeface="+mn-ea"/>
              </a:rPr>
              <a:t>2018</a:t>
            </a:r>
            <a:r>
              <a:rPr lang="zh-CN" altLang="en-US" sz="2000" b="1" dirty="0">
                <a:latin typeface="+mn-ea"/>
                <a:ea typeface="+mn-ea"/>
              </a:rPr>
              <a:t>年</a:t>
            </a:r>
            <a:r>
              <a:rPr lang="en-US" altLang="zh-CN" sz="2000" b="1" dirty="0">
                <a:latin typeface="+mn-ea"/>
                <a:ea typeface="+mn-ea"/>
              </a:rPr>
              <a:t>,YANGDEU</a:t>
            </a:r>
            <a:r>
              <a:rPr lang="zh-CN" altLang="en-US" sz="2000" b="1" dirty="0">
                <a:latin typeface="+mn-ea"/>
                <a:ea typeface="+mn-ea"/>
              </a:rPr>
              <a:t>（老挝人）为谋取非法利益</a:t>
            </a:r>
            <a:r>
              <a:rPr lang="en-US" altLang="zh-CN" sz="2000" b="1" dirty="0">
                <a:latin typeface="+mn-ea"/>
                <a:ea typeface="+mn-ea"/>
              </a:rPr>
              <a:t>,</a:t>
            </a:r>
            <a:r>
              <a:rPr lang="zh-CN" altLang="en-US" sz="2000" b="1" dirty="0">
                <a:latin typeface="+mn-ea"/>
                <a:ea typeface="+mn-ea"/>
              </a:rPr>
              <a:t>伙同郑文龙</a:t>
            </a:r>
            <a:r>
              <a:rPr lang="en-US" altLang="zh-CN" sz="2000" b="1" dirty="0">
                <a:latin typeface="+mn-ea"/>
                <a:ea typeface="+mn-ea"/>
              </a:rPr>
              <a:t>(</a:t>
            </a:r>
            <a:r>
              <a:rPr lang="zh-CN" altLang="en-US" sz="2000" b="1" dirty="0">
                <a:latin typeface="+mn-ea"/>
                <a:ea typeface="+mn-ea"/>
              </a:rPr>
              <a:t>另案处理</a:t>
            </a:r>
            <a:r>
              <a:rPr lang="en-US" altLang="zh-CN" sz="2000" b="1" dirty="0">
                <a:latin typeface="+mn-ea"/>
                <a:ea typeface="+mn-ea"/>
              </a:rPr>
              <a:t>)</a:t>
            </a:r>
            <a:r>
              <a:rPr lang="zh-CN" altLang="en-US" sz="2000" b="1" dirty="0">
                <a:latin typeface="+mn-ea"/>
                <a:ea typeface="+mn-ea"/>
              </a:rPr>
              <a:t>介绍老挝女子与中国未婚男子相亲</a:t>
            </a:r>
            <a:r>
              <a:rPr lang="en-US" altLang="zh-CN" sz="2000" b="1" dirty="0">
                <a:latin typeface="+mn-ea"/>
                <a:ea typeface="+mn-ea"/>
              </a:rPr>
              <a:t>,</a:t>
            </a:r>
            <a:r>
              <a:rPr lang="zh-CN" altLang="en-US" sz="2000" b="1" dirty="0">
                <a:latin typeface="+mn-ea"/>
                <a:ea typeface="+mn-ea"/>
              </a:rPr>
              <a:t>并安排在老挝境内见面相亲。郑文龙负责在中国联系前去老挝找老婆的未婚男子</a:t>
            </a:r>
            <a:r>
              <a:rPr lang="en-US" altLang="zh-CN" sz="2000" b="1" dirty="0">
                <a:latin typeface="+mn-ea"/>
                <a:ea typeface="+mn-ea"/>
              </a:rPr>
              <a:t>,YANGDEU</a:t>
            </a:r>
            <a:r>
              <a:rPr lang="zh-CN" altLang="en-US" sz="2000" b="1" dirty="0">
                <a:latin typeface="+mn-ea"/>
                <a:ea typeface="+mn-ea"/>
              </a:rPr>
              <a:t>负责在老挝联系想嫁到中国的女子</a:t>
            </a:r>
            <a:r>
              <a:rPr lang="en-US" altLang="zh-CN" sz="2000" b="1" dirty="0">
                <a:latin typeface="+mn-ea"/>
                <a:ea typeface="+mn-ea"/>
              </a:rPr>
              <a:t>,</a:t>
            </a:r>
            <a:r>
              <a:rPr lang="zh-CN" altLang="en-US" sz="2000" b="1" dirty="0">
                <a:latin typeface="+mn-ea"/>
                <a:ea typeface="+mn-ea"/>
              </a:rPr>
              <a:t>并和女方家人商谈彩礼。在介绍相亲过程中</a:t>
            </a:r>
            <a:r>
              <a:rPr lang="en-US" altLang="zh-CN" sz="2000" b="1" dirty="0">
                <a:latin typeface="+mn-ea"/>
                <a:ea typeface="+mn-ea"/>
              </a:rPr>
              <a:t>,</a:t>
            </a:r>
            <a:r>
              <a:rPr lang="zh-CN" altLang="en-US" sz="2000" b="1" dirty="0">
                <a:latin typeface="+mn-ea"/>
                <a:ea typeface="+mn-ea"/>
              </a:rPr>
              <a:t>郑文龙收取中国男子的介绍费用</a:t>
            </a:r>
            <a:r>
              <a:rPr lang="en-US" altLang="zh-CN" sz="2000" b="1" dirty="0">
                <a:latin typeface="+mn-ea"/>
                <a:ea typeface="+mn-ea"/>
              </a:rPr>
              <a:t>,</a:t>
            </a:r>
            <a:r>
              <a:rPr lang="zh-CN" altLang="en-US" sz="2000" b="1" dirty="0">
                <a:latin typeface="+mn-ea"/>
                <a:ea typeface="+mn-ea"/>
              </a:rPr>
              <a:t>并分给</a:t>
            </a:r>
            <a:r>
              <a:rPr lang="en-US" altLang="zh-CN" sz="2000" b="1" dirty="0">
                <a:latin typeface="+mn-ea"/>
                <a:ea typeface="+mn-ea"/>
              </a:rPr>
              <a:t>YANGDEU</a:t>
            </a:r>
            <a:r>
              <a:rPr lang="zh-CN" altLang="en-US" sz="2000" b="1" dirty="0">
                <a:latin typeface="+mn-ea"/>
                <a:ea typeface="+mn-ea"/>
              </a:rPr>
              <a:t>报酬。相亲成功后</a:t>
            </a:r>
            <a:r>
              <a:rPr lang="en-US" altLang="zh-CN" sz="2000" b="1" dirty="0">
                <a:latin typeface="+mn-ea"/>
                <a:ea typeface="+mn-ea"/>
              </a:rPr>
              <a:t>,YANGDEU</a:t>
            </a:r>
            <a:r>
              <a:rPr lang="zh-CN" altLang="en-US" sz="2000" b="1" dirty="0">
                <a:latin typeface="+mn-ea"/>
                <a:ea typeface="+mn-ea"/>
              </a:rPr>
              <a:t>和郑文龙便带相亲成功的老挝女子办理相关入境手续</a:t>
            </a:r>
            <a:r>
              <a:rPr lang="zh-CN" altLang="en-US" sz="2000" b="1" dirty="0">
                <a:solidFill>
                  <a:srgbClr val="C00000"/>
                </a:solidFill>
                <a:latin typeface="+mn-ea"/>
                <a:ea typeface="+mn-ea"/>
              </a:rPr>
              <a:t>（旅游签证）</a:t>
            </a:r>
            <a:r>
              <a:rPr lang="en-US" altLang="zh-CN" sz="2000" b="1" dirty="0">
                <a:latin typeface="+mn-ea"/>
                <a:ea typeface="+mn-ea"/>
              </a:rPr>
              <a:t>,</a:t>
            </a:r>
            <a:r>
              <a:rPr lang="zh-CN" altLang="en-US" sz="2000" b="1" dirty="0">
                <a:latin typeface="+mn-ea"/>
                <a:ea typeface="+mn-ea"/>
              </a:rPr>
              <a:t>并将老挝女子带入中国境内与中国男子结婚生活。</a:t>
            </a:r>
            <a:r>
              <a:rPr lang="en-US" altLang="zh-CN" sz="2000" b="1" dirty="0">
                <a:latin typeface="+mn-ea"/>
                <a:ea typeface="+mn-ea"/>
              </a:rPr>
              <a:t>2018</a:t>
            </a:r>
            <a:r>
              <a:rPr lang="zh-CN" altLang="en-US" sz="2000" b="1" dirty="0">
                <a:latin typeface="+mn-ea"/>
                <a:ea typeface="+mn-ea"/>
              </a:rPr>
              <a:t>年</a:t>
            </a:r>
            <a:r>
              <a:rPr lang="en-US" altLang="zh-CN" sz="2000" b="1" dirty="0">
                <a:latin typeface="+mn-ea"/>
                <a:ea typeface="+mn-ea"/>
              </a:rPr>
              <a:t>5</a:t>
            </a:r>
            <a:r>
              <a:rPr lang="zh-CN" altLang="en-US" sz="2000" b="1" dirty="0">
                <a:latin typeface="+mn-ea"/>
                <a:ea typeface="+mn-ea"/>
              </a:rPr>
              <a:t>月至</a:t>
            </a:r>
            <a:r>
              <a:rPr lang="en-US" altLang="zh-CN" sz="2000" b="1" dirty="0">
                <a:latin typeface="+mn-ea"/>
                <a:ea typeface="+mn-ea"/>
              </a:rPr>
              <a:t>11</a:t>
            </a:r>
            <a:r>
              <a:rPr lang="zh-CN" altLang="en-US" sz="2000" b="1" dirty="0">
                <a:latin typeface="+mn-ea"/>
                <a:ea typeface="+mn-ea"/>
              </a:rPr>
              <a:t>月期间</a:t>
            </a:r>
            <a:r>
              <a:rPr lang="en-US" altLang="zh-CN" sz="2000" b="1" dirty="0">
                <a:latin typeface="+mn-ea"/>
                <a:ea typeface="+mn-ea"/>
              </a:rPr>
              <a:t>,YANGDEU</a:t>
            </a:r>
            <a:r>
              <a:rPr lang="zh-CN" altLang="en-US" sz="2000" b="1" dirty="0">
                <a:latin typeface="+mn-ea"/>
                <a:ea typeface="+mn-ea"/>
              </a:rPr>
              <a:t>伙同郑文龙先后</a:t>
            </a:r>
            <a:r>
              <a:rPr lang="en-US" altLang="zh-CN" sz="2000" b="1" dirty="0">
                <a:latin typeface="+mn-ea"/>
                <a:ea typeface="+mn-ea"/>
              </a:rPr>
              <a:t>4</a:t>
            </a:r>
            <a:r>
              <a:rPr lang="zh-CN" altLang="en-US" sz="2000" b="1" dirty="0">
                <a:latin typeface="+mn-ea"/>
                <a:ea typeface="+mn-ea"/>
              </a:rPr>
              <a:t>次组织</a:t>
            </a:r>
            <a:r>
              <a:rPr lang="en-US" altLang="zh-CN" sz="2000" b="1" dirty="0">
                <a:latin typeface="+mn-ea"/>
                <a:ea typeface="+mn-ea"/>
              </a:rPr>
              <a:t>5</a:t>
            </a:r>
            <a:r>
              <a:rPr lang="zh-CN" altLang="en-US" sz="2000" b="1" dirty="0">
                <a:latin typeface="+mn-ea"/>
                <a:ea typeface="+mn-ea"/>
              </a:rPr>
              <a:t>名老挝女子实施偷越国</a:t>
            </a:r>
            <a:r>
              <a:rPr lang="en-US" altLang="zh-CN" sz="2000" b="1" dirty="0">
                <a:latin typeface="+mn-ea"/>
                <a:ea typeface="+mn-ea"/>
              </a:rPr>
              <a:t>(</a:t>
            </a:r>
            <a:r>
              <a:rPr lang="zh-CN" altLang="en-US" sz="2000" b="1" dirty="0">
                <a:latin typeface="+mn-ea"/>
                <a:ea typeface="+mn-ea"/>
              </a:rPr>
              <a:t>边</a:t>
            </a:r>
            <a:r>
              <a:rPr lang="en-US" altLang="zh-CN" sz="2000" b="1" dirty="0">
                <a:latin typeface="+mn-ea"/>
                <a:ea typeface="+mn-ea"/>
              </a:rPr>
              <a:t>)</a:t>
            </a:r>
            <a:r>
              <a:rPr lang="zh-CN" altLang="en-US" sz="2000" b="1" dirty="0">
                <a:latin typeface="+mn-ea"/>
                <a:ea typeface="+mn-ea"/>
              </a:rPr>
              <a:t>境行为。 </a:t>
            </a:r>
            <a:endParaRPr lang="zh-CN" altLang="en-US" sz="2000" b="1" dirty="0">
              <a:solidFill>
                <a:srgbClr val="1143CF"/>
              </a:solidFill>
              <a:latin typeface="+mn-ea"/>
              <a:ea typeface="+mn-ea"/>
            </a:endParaRPr>
          </a:p>
        </p:txBody>
      </p:sp>
      <p:sp>
        <p:nvSpPr>
          <p:cNvPr id="5" name="TextBox 4"/>
          <p:cNvSpPr txBox="1"/>
          <p:nvPr/>
        </p:nvSpPr>
        <p:spPr>
          <a:xfrm>
            <a:off x="1571604" y="142858"/>
            <a:ext cx="7286676" cy="338554"/>
          </a:xfrm>
          <a:prstGeom prst="rect">
            <a:avLst/>
          </a:prstGeom>
          <a:noFill/>
        </p:spPr>
        <p:txBody>
          <a:bodyPr wrap="square" rtlCol="0">
            <a:spAutoFit/>
          </a:bodyPr>
          <a:lstStyle/>
          <a:p>
            <a:r>
              <a:rPr lang="zh-CN" altLang="en-US" sz="1600" dirty="0"/>
              <a:t>安徽省黄山市屯溪区人民法院（</a:t>
            </a:r>
            <a:r>
              <a:rPr lang="en-US" altLang="zh-CN" sz="1600" dirty="0"/>
              <a:t>2020</a:t>
            </a:r>
            <a:r>
              <a:rPr lang="zh-CN" altLang="en-US" sz="1600" dirty="0"/>
              <a:t>）皖</a:t>
            </a:r>
            <a:r>
              <a:rPr lang="en-US" altLang="zh-CN" sz="1600" dirty="0"/>
              <a:t>1002</a:t>
            </a:r>
            <a:r>
              <a:rPr lang="zh-CN" altLang="en-US" sz="1600" dirty="0"/>
              <a:t>刑初</a:t>
            </a:r>
            <a:r>
              <a:rPr lang="en-US" altLang="zh-CN" sz="1600" dirty="0"/>
              <a:t>270</a:t>
            </a:r>
            <a:r>
              <a:rPr lang="zh-CN" altLang="en-US" sz="1600" dirty="0"/>
              <a:t>号</a:t>
            </a:r>
            <a:r>
              <a:rPr lang="zh-CN" altLang="en-US" sz="1600" dirty="0">
                <a:latin typeface="+mn-ea"/>
                <a:ea typeface="+mn-ea"/>
              </a:rPr>
              <a:t>刑 事 判 决 书</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928676"/>
            <a:ext cx="774571" cy="369332"/>
          </a:xfrm>
          <a:prstGeom prst="rect">
            <a:avLst/>
          </a:prstGeom>
          <a:noFill/>
        </p:spPr>
        <p:txBody>
          <a:bodyPr wrap="none" rtlCol="0">
            <a:spAutoFit/>
          </a:bodyPr>
          <a:lstStyle/>
          <a:p>
            <a:r>
              <a:rPr lang="zh-CN" altLang="en-US" b="1" dirty="0"/>
              <a:t>案例</a:t>
            </a:r>
            <a:r>
              <a:rPr lang="en-US" altLang="zh-CN" b="1" dirty="0"/>
              <a:t>2</a:t>
            </a:r>
            <a:endParaRPr lang="zh-CN" altLang="en-US" b="1" dirty="0"/>
          </a:p>
        </p:txBody>
      </p:sp>
      <p:sp>
        <p:nvSpPr>
          <p:cNvPr id="4" name="文本框 9"/>
          <p:cNvSpPr txBox="1"/>
          <p:nvPr/>
        </p:nvSpPr>
        <p:spPr>
          <a:xfrm>
            <a:off x="785786" y="1285866"/>
            <a:ext cx="7643866" cy="1631216"/>
          </a:xfrm>
          <a:prstGeom prst="rect">
            <a:avLst/>
          </a:prstGeom>
          <a:noFill/>
          <a:ln>
            <a:solidFill>
              <a:schemeClr val="tx1"/>
            </a:solidFill>
          </a:ln>
        </p:spPr>
        <p:txBody>
          <a:bodyPr wrap="square" rtlCol="0">
            <a:spAutoFit/>
          </a:bodyPr>
          <a:lstStyle/>
          <a:p>
            <a:pPr algn="just"/>
            <a:r>
              <a:rPr lang="zh-CN" altLang="en-US" sz="2000" b="1" dirty="0">
                <a:latin typeface="+mn-ea"/>
                <a:ea typeface="+mn-ea"/>
              </a:rPr>
              <a:t>法院认为：被告人</a:t>
            </a:r>
            <a:r>
              <a:rPr lang="en-US" altLang="zh-CN" sz="2000" b="1" dirty="0">
                <a:latin typeface="+mn-ea"/>
                <a:ea typeface="+mn-ea"/>
              </a:rPr>
              <a:t>YANGDEU</a:t>
            </a:r>
            <a:r>
              <a:rPr lang="zh-CN" altLang="en-US" sz="2000" b="1" dirty="0">
                <a:latin typeface="+mn-ea"/>
                <a:ea typeface="+mn-ea"/>
              </a:rPr>
              <a:t>违反我国国</a:t>
            </a:r>
            <a:r>
              <a:rPr lang="en-US" altLang="zh-CN" sz="2000" b="1" dirty="0">
                <a:latin typeface="+mn-ea"/>
                <a:ea typeface="+mn-ea"/>
              </a:rPr>
              <a:t>(</a:t>
            </a:r>
            <a:r>
              <a:rPr lang="zh-CN" altLang="en-US" sz="2000" b="1" dirty="0">
                <a:latin typeface="+mn-ea"/>
                <a:ea typeface="+mn-ea"/>
              </a:rPr>
              <a:t>边</a:t>
            </a:r>
            <a:r>
              <a:rPr lang="en-US" altLang="zh-CN" sz="2000" b="1" dirty="0">
                <a:latin typeface="+mn-ea"/>
                <a:ea typeface="+mn-ea"/>
              </a:rPr>
              <a:t>)</a:t>
            </a:r>
            <a:r>
              <a:rPr lang="zh-CN" altLang="en-US" sz="2000" b="1" dirty="0">
                <a:latin typeface="+mn-ea"/>
                <a:ea typeface="+mn-ea"/>
              </a:rPr>
              <a:t>境管理法规</a:t>
            </a:r>
            <a:r>
              <a:rPr lang="en-US" altLang="zh-CN" sz="2000" b="1" dirty="0">
                <a:latin typeface="+mn-ea"/>
                <a:ea typeface="+mn-ea"/>
              </a:rPr>
              <a:t>,</a:t>
            </a:r>
            <a:r>
              <a:rPr lang="zh-CN" altLang="en-US" sz="2000" b="1" dirty="0">
                <a:latin typeface="+mn-ea"/>
                <a:ea typeface="+mn-ea"/>
              </a:rPr>
              <a:t>以帮助介绍境外女子相亲结婚牟利为目的</a:t>
            </a:r>
            <a:r>
              <a:rPr lang="en-US" altLang="zh-CN" sz="2000" b="1" dirty="0">
                <a:latin typeface="+mn-ea"/>
                <a:ea typeface="+mn-ea"/>
              </a:rPr>
              <a:t>,</a:t>
            </a:r>
            <a:r>
              <a:rPr lang="zh-CN" altLang="en-US" sz="2000" b="1" dirty="0">
                <a:latin typeface="+mn-ea"/>
                <a:ea typeface="+mn-ea"/>
              </a:rPr>
              <a:t>结伙他人多次组织境外女子以逃避接受边防检查、以</a:t>
            </a:r>
            <a:r>
              <a:rPr lang="zh-CN" altLang="en-US" sz="2000" b="1" dirty="0">
                <a:solidFill>
                  <a:srgbClr val="C00000"/>
                </a:solidFill>
                <a:latin typeface="+mn-ea"/>
                <a:ea typeface="+mn-ea"/>
              </a:rPr>
              <a:t>虚假的出入境事由骗取出入境证件等方式</a:t>
            </a:r>
            <a:r>
              <a:rPr lang="zh-CN" altLang="en-US" sz="2000" b="1" dirty="0">
                <a:latin typeface="+mn-ea"/>
                <a:ea typeface="+mn-ea"/>
              </a:rPr>
              <a:t>偷越国</a:t>
            </a:r>
            <a:r>
              <a:rPr lang="en-US" altLang="zh-CN" sz="2000" b="1" dirty="0">
                <a:latin typeface="+mn-ea"/>
                <a:ea typeface="+mn-ea"/>
              </a:rPr>
              <a:t>(</a:t>
            </a:r>
            <a:r>
              <a:rPr lang="zh-CN" altLang="en-US" sz="2000" b="1" dirty="0">
                <a:latin typeface="+mn-ea"/>
                <a:ea typeface="+mn-ea"/>
              </a:rPr>
              <a:t>边</a:t>
            </a:r>
            <a:r>
              <a:rPr lang="en-US" altLang="zh-CN" sz="2000" b="1" dirty="0">
                <a:latin typeface="+mn-ea"/>
                <a:ea typeface="+mn-ea"/>
              </a:rPr>
              <a:t>)</a:t>
            </a:r>
            <a:r>
              <a:rPr lang="zh-CN" altLang="en-US" sz="2000" b="1" dirty="0">
                <a:latin typeface="+mn-ea"/>
                <a:ea typeface="+mn-ea"/>
              </a:rPr>
              <a:t>境</a:t>
            </a:r>
            <a:r>
              <a:rPr lang="en-US" altLang="zh-CN" sz="2000" b="1" dirty="0">
                <a:latin typeface="+mn-ea"/>
                <a:ea typeface="+mn-ea"/>
              </a:rPr>
              <a:t>,</a:t>
            </a:r>
            <a:r>
              <a:rPr lang="zh-CN" altLang="en-US" sz="2000" b="1" dirty="0">
                <a:latin typeface="+mn-ea"/>
                <a:ea typeface="+mn-ea"/>
              </a:rPr>
              <a:t>其行为触犯了</a:t>
            </a:r>
            <a:r>
              <a:rPr lang="en-US" altLang="zh-CN" sz="2000" b="1" dirty="0">
                <a:latin typeface="+mn-ea"/>
                <a:ea typeface="+mn-ea"/>
              </a:rPr>
              <a:t>《</a:t>
            </a:r>
            <a:r>
              <a:rPr lang="zh-CN" altLang="en-US" sz="2000" b="1" dirty="0">
                <a:latin typeface="+mn-ea"/>
                <a:ea typeface="+mn-ea"/>
              </a:rPr>
              <a:t>中华人民共和国刑法</a:t>
            </a:r>
            <a:r>
              <a:rPr lang="en-US" altLang="zh-CN" sz="2000" b="1" dirty="0">
                <a:latin typeface="+mn-ea"/>
                <a:ea typeface="+mn-ea"/>
              </a:rPr>
              <a:t>》</a:t>
            </a:r>
            <a:r>
              <a:rPr lang="zh-CN" altLang="en-US" sz="2000" b="1" dirty="0">
                <a:latin typeface="+mn-ea"/>
                <a:ea typeface="+mn-ea"/>
              </a:rPr>
              <a:t>第三百一十八条之规定</a:t>
            </a:r>
            <a:r>
              <a:rPr lang="en-US" altLang="zh-CN" sz="2000" b="1" dirty="0">
                <a:latin typeface="+mn-ea"/>
                <a:ea typeface="+mn-ea"/>
              </a:rPr>
              <a:t>,</a:t>
            </a:r>
            <a:r>
              <a:rPr lang="zh-CN" altLang="en-US" sz="2000" b="1" dirty="0">
                <a:latin typeface="+mn-ea"/>
                <a:ea typeface="+mn-ea"/>
              </a:rPr>
              <a:t>应当以</a:t>
            </a:r>
            <a:r>
              <a:rPr lang="zh-CN" altLang="en-US" sz="2000" b="1" dirty="0">
                <a:solidFill>
                  <a:srgbClr val="C00000"/>
                </a:solidFill>
                <a:latin typeface="+mn-ea"/>
                <a:ea typeface="+mn-ea"/>
              </a:rPr>
              <a:t>组织他人偷越国</a:t>
            </a:r>
            <a:r>
              <a:rPr lang="en-US" altLang="zh-CN" sz="2000" b="1" dirty="0">
                <a:solidFill>
                  <a:srgbClr val="C00000"/>
                </a:solidFill>
                <a:latin typeface="+mn-ea"/>
                <a:ea typeface="+mn-ea"/>
              </a:rPr>
              <a:t>(</a:t>
            </a:r>
            <a:r>
              <a:rPr lang="zh-CN" altLang="en-US" sz="2000" b="1" dirty="0">
                <a:solidFill>
                  <a:srgbClr val="C00000"/>
                </a:solidFill>
                <a:latin typeface="+mn-ea"/>
                <a:ea typeface="+mn-ea"/>
              </a:rPr>
              <a:t>边</a:t>
            </a:r>
            <a:r>
              <a:rPr lang="en-US" altLang="zh-CN" sz="2000" b="1" dirty="0">
                <a:solidFill>
                  <a:srgbClr val="C00000"/>
                </a:solidFill>
                <a:latin typeface="+mn-ea"/>
                <a:ea typeface="+mn-ea"/>
              </a:rPr>
              <a:t>)</a:t>
            </a:r>
            <a:r>
              <a:rPr lang="zh-CN" altLang="en-US" sz="2000" b="1" dirty="0">
                <a:solidFill>
                  <a:srgbClr val="C00000"/>
                </a:solidFill>
                <a:latin typeface="+mn-ea"/>
                <a:ea typeface="+mn-ea"/>
              </a:rPr>
              <a:t>境罪</a:t>
            </a:r>
            <a:r>
              <a:rPr lang="zh-CN" altLang="en-US" sz="2000" b="1" dirty="0">
                <a:latin typeface="+mn-ea"/>
                <a:ea typeface="+mn-ea"/>
              </a:rPr>
              <a:t>追究其刑事责任。</a:t>
            </a:r>
            <a:endParaRPr lang="zh-CN" altLang="en-US" sz="2000" b="1" dirty="0">
              <a:solidFill>
                <a:srgbClr val="1143CF"/>
              </a:solidFill>
              <a:latin typeface="+mn-ea"/>
              <a:ea typeface="+mn-ea"/>
            </a:endParaRPr>
          </a:p>
        </p:txBody>
      </p:sp>
      <p:sp>
        <p:nvSpPr>
          <p:cNvPr id="6" name="TextBox 5"/>
          <p:cNvSpPr txBox="1"/>
          <p:nvPr/>
        </p:nvSpPr>
        <p:spPr>
          <a:xfrm>
            <a:off x="1571604" y="142858"/>
            <a:ext cx="7286676" cy="338554"/>
          </a:xfrm>
          <a:prstGeom prst="rect">
            <a:avLst/>
          </a:prstGeom>
          <a:noFill/>
        </p:spPr>
        <p:txBody>
          <a:bodyPr wrap="square" rtlCol="0">
            <a:spAutoFit/>
          </a:bodyPr>
          <a:lstStyle/>
          <a:p>
            <a:r>
              <a:rPr lang="zh-CN" altLang="en-US" sz="1600" dirty="0"/>
              <a:t>安徽省黄山市屯溪区人民法院（</a:t>
            </a:r>
            <a:r>
              <a:rPr lang="en-US" altLang="zh-CN" sz="1600" dirty="0"/>
              <a:t>2020</a:t>
            </a:r>
            <a:r>
              <a:rPr lang="zh-CN" altLang="en-US" sz="1600" dirty="0"/>
              <a:t>）皖</a:t>
            </a:r>
            <a:r>
              <a:rPr lang="en-US" altLang="zh-CN" sz="1600" dirty="0"/>
              <a:t>1002</a:t>
            </a:r>
            <a:r>
              <a:rPr lang="zh-CN" altLang="en-US" sz="1600" dirty="0"/>
              <a:t>刑初</a:t>
            </a:r>
            <a:r>
              <a:rPr lang="en-US" altLang="zh-CN" sz="1600" dirty="0"/>
              <a:t>270</a:t>
            </a:r>
            <a:r>
              <a:rPr lang="zh-CN" altLang="en-US" sz="1600" dirty="0"/>
              <a:t>号</a:t>
            </a:r>
            <a:r>
              <a:rPr lang="zh-CN" altLang="en-US" sz="1600" dirty="0">
                <a:latin typeface="+mn-ea"/>
                <a:ea typeface="+mn-ea"/>
              </a:rPr>
              <a:t>刑 事 判 决 书</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1428728" y="2214560"/>
            <a:ext cx="6429420" cy="584775"/>
          </a:xfrm>
          <a:prstGeom prst="rect">
            <a:avLst/>
          </a:prstGeom>
          <a:noFill/>
        </p:spPr>
        <p:txBody>
          <a:bodyPr wrap="square" rtlCol="0">
            <a:spAutoFit/>
          </a:bodyPr>
          <a:lstStyle/>
          <a:p>
            <a:pPr algn="ctr"/>
            <a:r>
              <a:rPr lang="en-US" altLang="zh-CN" sz="3200" b="1" dirty="0">
                <a:solidFill>
                  <a:srgbClr val="0070C0"/>
                </a:solidFill>
              </a:rPr>
              <a:t>1.3</a:t>
            </a:r>
            <a:r>
              <a:rPr lang="zh-CN" altLang="en-US" sz="3200" b="1" dirty="0">
                <a:solidFill>
                  <a:srgbClr val="0070C0"/>
                </a:solidFill>
              </a:rPr>
              <a:t> 运送他人偷越国（边）境罪</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Line 5"/>
          <p:cNvSpPr/>
          <p:nvPr/>
        </p:nvSpPr>
        <p:spPr>
          <a:xfrm>
            <a:off x="1358504" y="2246710"/>
            <a:ext cx="6210300" cy="0"/>
          </a:xfrm>
          <a:prstGeom prst="line">
            <a:avLst/>
          </a:prstGeom>
          <a:ln w="12700" cap="flat" cmpd="sng">
            <a:solidFill>
              <a:srgbClr val="346A6C"/>
            </a:solidFill>
            <a:prstDash val="solid"/>
            <a:round/>
            <a:headEnd type="none" w="med" len="med"/>
            <a:tailEnd type="triangle" w="med" len="med"/>
          </a:ln>
        </p:spPr>
      </p:sp>
      <p:sp>
        <p:nvSpPr>
          <p:cNvPr id="9220" name="Text Box 6"/>
          <p:cNvSpPr txBox="1"/>
          <p:nvPr/>
        </p:nvSpPr>
        <p:spPr>
          <a:xfrm>
            <a:off x="1255634" y="1878569"/>
            <a:ext cx="1053703" cy="398780"/>
          </a:xfrm>
          <a:prstGeom prst="rect">
            <a:avLst/>
          </a:prstGeom>
          <a:solidFill>
            <a:srgbClr val="346A6C"/>
          </a:solidFill>
          <a:ln w="9525" cap="flat" cmpd="sng">
            <a:solidFill>
              <a:srgbClr val="346A6C"/>
            </a:solidFill>
            <a:prstDash val="solid"/>
            <a:miter/>
            <a:headEnd type="none" w="med" len="med"/>
            <a:tailEnd type="none" w="med" len="med"/>
          </a:ln>
        </p:spPr>
        <p:txBody>
          <a:bodyPr anchor="t">
            <a:spAutoFit/>
          </a:bodyPr>
          <a:lstStyle/>
          <a:p>
            <a:pPr algn="ctr">
              <a:spcBef>
                <a:spcPct val="50000"/>
              </a:spcBef>
              <a:buFont typeface="Wingdings" panose="05000000000000000000" pitchFamily="2" charset="2"/>
              <a:buNone/>
            </a:pPr>
            <a:r>
              <a:rPr lang="en-US" altLang="zh-CN" sz="2000" dirty="0">
                <a:solidFill>
                  <a:schemeClr val="bg1"/>
                </a:solidFill>
                <a:latin typeface="Arial" panose="020B0604020202020204" pitchFamily="34" charset="0"/>
                <a:ea typeface="黑体" panose="02010609060101010101" charset="-122"/>
              </a:rPr>
              <a:t>1.3</a:t>
            </a:r>
            <a:endParaRPr lang="zh-CN" altLang="en-US" sz="2000" dirty="0">
              <a:solidFill>
                <a:schemeClr val="bg1"/>
              </a:solidFill>
              <a:latin typeface="Arial" panose="020B0604020202020204" pitchFamily="34" charset="0"/>
              <a:ea typeface="黑体" panose="02010609060101010101" charset="-122"/>
            </a:endParaRPr>
          </a:p>
        </p:txBody>
      </p:sp>
      <p:sp>
        <p:nvSpPr>
          <p:cNvPr id="3" name="文本框 2"/>
          <p:cNvSpPr txBox="1"/>
          <p:nvPr/>
        </p:nvSpPr>
        <p:spPr>
          <a:xfrm>
            <a:off x="2643174" y="1785932"/>
            <a:ext cx="5357850" cy="461665"/>
          </a:xfrm>
          <a:prstGeom prst="rect">
            <a:avLst/>
          </a:prstGeom>
          <a:noFill/>
        </p:spPr>
        <p:txBody>
          <a:bodyPr wrap="square" rtlCol="0">
            <a:spAutoFit/>
          </a:bodyPr>
          <a:lstStyle/>
          <a:p>
            <a:r>
              <a:rPr lang="zh-CN" altLang="en-US" sz="2400" b="1" dirty="0"/>
              <a:t>运送他人偷越国（边）境罪</a:t>
            </a:r>
          </a:p>
        </p:txBody>
      </p:sp>
      <p:sp>
        <p:nvSpPr>
          <p:cNvPr id="4" name="文本框 3"/>
          <p:cNvSpPr txBox="1"/>
          <p:nvPr/>
        </p:nvSpPr>
        <p:spPr>
          <a:xfrm>
            <a:off x="2775585" y="2387600"/>
            <a:ext cx="5011125" cy="400110"/>
          </a:xfrm>
          <a:prstGeom prst="rect">
            <a:avLst/>
          </a:prstGeom>
          <a:noFill/>
        </p:spPr>
        <p:txBody>
          <a:bodyPr wrap="square" rtlCol="0">
            <a:spAutoFit/>
          </a:bodyPr>
          <a:lstStyle/>
          <a:p>
            <a:r>
              <a:rPr lang="en-US" altLang="zh-CN" sz="2000" b="1" dirty="0">
                <a:solidFill>
                  <a:srgbClr val="1143CF"/>
                </a:solidFill>
              </a:rPr>
              <a:t>1.3.1 </a:t>
            </a:r>
            <a:r>
              <a:rPr lang="zh-CN" altLang="en-US" sz="2000" b="1" dirty="0">
                <a:solidFill>
                  <a:srgbClr val="1143CF"/>
                </a:solidFill>
              </a:rPr>
              <a:t>运送他人偷越国（边）境罪的概念</a:t>
            </a:r>
          </a:p>
        </p:txBody>
      </p:sp>
      <p:sp>
        <p:nvSpPr>
          <p:cNvPr id="6" name="文本框 5"/>
          <p:cNvSpPr txBox="1"/>
          <p:nvPr/>
        </p:nvSpPr>
        <p:spPr>
          <a:xfrm>
            <a:off x="2775584" y="2891155"/>
            <a:ext cx="5654068" cy="400110"/>
          </a:xfrm>
          <a:prstGeom prst="rect">
            <a:avLst/>
          </a:prstGeom>
          <a:noFill/>
        </p:spPr>
        <p:txBody>
          <a:bodyPr wrap="square" rtlCol="0">
            <a:spAutoFit/>
          </a:bodyPr>
          <a:lstStyle/>
          <a:p>
            <a:r>
              <a:rPr lang="en-US" altLang="zh-CN" sz="2000" b="1" dirty="0">
                <a:solidFill>
                  <a:srgbClr val="1143CF"/>
                </a:solidFill>
              </a:rPr>
              <a:t>1.3.2 </a:t>
            </a:r>
            <a:r>
              <a:rPr lang="zh-CN" altLang="en-US" sz="2000" b="1" dirty="0">
                <a:solidFill>
                  <a:srgbClr val="1143CF"/>
                </a:solidFill>
              </a:rPr>
              <a:t>运送他人偷越国（边）境罪的犯罪构成</a:t>
            </a:r>
          </a:p>
        </p:txBody>
      </p:sp>
      <p:sp>
        <p:nvSpPr>
          <p:cNvPr id="8" name="文本框 5"/>
          <p:cNvSpPr txBox="1"/>
          <p:nvPr/>
        </p:nvSpPr>
        <p:spPr>
          <a:xfrm>
            <a:off x="2786050" y="3429006"/>
            <a:ext cx="5654068" cy="400110"/>
          </a:xfrm>
          <a:prstGeom prst="rect">
            <a:avLst/>
          </a:prstGeom>
          <a:noFill/>
        </p:spPr>
        <p:txBody>
          <a:bodyPr wrap="square" rtlCol="0">
            <a:spAutoFit/>
          </a:bodyPr>
          <a:lstStyle/>
          <a:p>
            <a:r>
              <a:rPr lang="en-US" altLang="zh-CN" sz="2000" b="1" dirty="0">
                <a:solidFill>
                  <a:srgbClr val="1143CF"/>
                </a:solidFill>
              </a:rPr>
              <a:t>1.3.3 </a:t>
            </a:r>
            <a:r>
              <a:rPr lang="zh-CN" altLang="en-US" sz="2000" b="1" dirty="0">
                <a:solidFill>
                  <a:srgbClr val="1143CF"/>
                </a:solidFill>
              </a:rPr>
              <a:t>运送他人偷越国（边）境罪的加重犯</a:t>
            </a:r>
          </a:p>
        </p:txBody>
      </p:sp>
      <p:sp>
        <p:nvSpPr>
          <p:cNvPr id="10" name="文本框 5"/>
          <p:cNvSpPr txBox="1"/>
          <p:nvPr/>
        </p:nvSpPr>
        <p:spPr>
          <a:xfrm>
            <a:off x="2786050" y="3857634"/>
            <a:ext cx="5654068" cy="400110"/>
          </a:xfrm>
          <a:prstGeom prst="rect">
            <a:avLst/>
          </a:prstGeom>
          <a:noFill/>
        </p:spPr>
        <p:txBody>
          <a:bodyPr wrap="square" rtlCol="0">
            <a:spAutoFit/>
          </a:bodyPr>
          <a:lstStyle/>
          <a:p>
            <a:r>
              <a:rPr lang="en-US" altLang="zh-CN" sz="2000" b="1" dirty="0">
                <a:solidFill>
                  <a:srgbClr val="1143CF"/>
                </a:solidFill>
              </a:rPr>
              <a:t>1.3.4 </a:t>
            </a:r>
            <a:r>
              <a:rPr lang="zh-CN" altLang="en-US" sz="2000" b="1" dirty="0">
                <a:solidFill>
                  <a:srgbClr val="1143CF"/>
                </a:solidFill>
              </a:rPr>
              <a:t>运送他人偷越国（边）境罪的数罪并罚</a:t>
            </a:r>
          </a:p>
        </p:txBody>
      </p:sp>
    </p:spTree>
  </p:cSld>
  <p:clrMapOvr>
    <a:masterClrMapping/>
  </p:clrMapOvr>
  <p:transition>
    <p:blinds/>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1.3.1 </a:t>
            </a:r>
            <a:r>
              <a:rPr lang="zh-CN" altLang="en-US" sz="2000" b="1" dirty="0">
                <a:latin typeface="宋体" panose="02010600030101010101" pitchFamily="2" charset="-122"/>
                <a:ea typeface="宋体" panose="02010600030101010101" pitchFamily="2" charset="-122"/>
              </a:rPr>
              <a:t>运送他人偷越国（边）境罪的概念</a:t>
            </a:r>
          </a:p>
          <a:p>
            <a:endParaRPr lang="zh-CN" altLang="en-US" sz="2100" b="0" dirty="0">
              <a:latin typeface="宋体" panose="02010600030101010101" pitchFamily="2" charset="-122"/>
              <a:ea typeface="宋体" panose="02010600030101010101" pitchFamily="2" charset="-122"/>
            </a:endParaRPr>
          </a:p>
        </p:txBody>
      </p:sp>
      <p:sp>
        <p:nvSpPr>
          <p:cNvPr id="11265" name="Rectangle 2"/>
          <p:cNvSpPr>
            <a:spLocks noGrp="1"/>
          </p:cNvSpPr>
          <p:nvPr>
            <p:ph type="title"/>
          </p:nvPr>
        </p:nvSpPr>
        <p:spPr>
          <a:xfrm>
            <a:off x="4090988" y="76756"/>
            <a:ext cx="5029200" cy="432197"/>
          </a:xfrm>
        </p:spPr>
        <p:txBody>
          <a:bodyPr vert="horz" wrap="square" lIns="68580" tIns="34290" rIns="68580" bIns="34290" anchor="ctr"/>
          <a:lstStyle/>
          <a:p>
            <a:pPr algn="ctr"/>
            <a:r>
              <a:rPr lang="en-US" altLang="zh-CN" sz="2400" dirty="0"/>
              <a:t>1.3 </a:t>
            </a:r>
            <a:r>
              <a:rPr lang="zh-CN" altLang="en-US" sz="2400" dirty="0"/>
              <a:t>运送他人偷越国（边）境罪</a:t>
            </a:r>
            <a:endParaRPr lang="zh-CN" altLang="en-US" sz="2400" dirty="0">
              <a:effectLst/>
            </a:endParaRPr>
          </a:p>
        </p:txBody>
      </p:sp>
      <p:sp>
        <p:nvSpPr>
          <p:cNvPr id="2" name="文本框 1"/>
          <p:cNvSpPr txBox="1"/>
          <p:nvPr/>
        </p:nvSpPr>
        <p:spPr>
          <a:xfrm>
            <a:off x="611560" y="1546651"/>
            <a:ext cx="6336704" cy="400110"/>
          </a:xfrm>
          <a:prstGeom prst="rect">
            <a:avLst/>
          </a:prstGeom>
          <a:noFill/>
        </p:spPr>
        <p:txBody>
          <a:bodyPr wrap="square" rtlCol="0">
            <a:spAutoFit/>
          </a:bodyPr>
          <a:lstStyle/>
          <a:p>
            <a:r>
              <a:rPr lang="zh-CN" altLang="en-US" sz="2000" b="1" dirty="0">
                <a:solidFill>
                  <a:srgbClr val="1143CF"/>
                </a:solidFill>
                <a:latin typeface="宋体" panose="02010600030101010101" pitchFamily="2" charset="-122"/>
                <a:ea typeface="宋体" panose="02010600030101010101" pitchFamily="2" charset="-122"/>
              </a:rPr>
              <a:t>违反国（边）境管理法律法规，</a:t>
            </a:r>
          </a:p>
        </p:txBody>
      </p:sp>
      <p:sp>
        <p:nvSpPr>
          <p:cNvPr id="3" name="文本框 2"/>
          <p:cNvSpPr txBox="1"/>
          <p:nvPr/>
        </p:nvSpPr>
        <p:spPr>
          <a:xfrm>
            <a:off x="467544" y="2217807"/>
            <a:ext cx="4678580" cy="707886"/>
          </a:xfrm>
          <a:prstGeom prst="rect">
            <a:avLst/>
          </a:prstGeom>
          <a:noFill/>
        </p:spPr>
        <p:txBody>
          <a:bodyPr wrap="square" rtlCol="0">
            <a:spAutoFit/>
          </a:bodyPr>
          <a:lstStyle/>
          <a:p>
            <a:r>
              <a:rPr lang="zh-CN" altLang="en-US" sz="2000" b="1" dirty="0">
                <a:solidFill>
                  <a:srgbClr val="1143CF"/>
                </a:solidFill>
                <a:latin typeface="宋体" panose="02010600030101010101" pitchFamily="2" charset="-122"/>
                <a:ea typeface="宋体" panose="02010600030101010101" pitchFamily="2" charset="-122"/>
              </a:rPr>
              <a:t>非法将偷越国（边）境人员接入或者送出国（边）境的行为。</a:t>
            </a:r>
          </a:p>
        </p:txBody>
      </p:sp>
      <p:pic>
        <p:nvPicPr>
          <p:cNvPr id="7" name="图片 6" descr="运送他人偷越.jpg"/>
          <p:cNvPicPr>
            <a:picLocks noChangeAspect="1"/>
          </p:cNvPicPr>
          <p:nvPr/>
        </p:nvPicPr>
        <p:blipFill>
          <a:blip r:embed="rId2"/>
          <a:stretch>
            <a:fillRect/>
          </a:stretch>
        </p:blipFill>
        <p:spPr>
          <a:xfrm>
            <a:off x="5500694" y="2071684"/>
            <a:ext cx="3071834" cy="200985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1.3.2 </a:t>
            </a:r>
            <a:r>
              <a:rPr lang="zh-CN" altLang="en-US" sz="2000" b="1" dirty="0">
                <a:latin typeface="宋体" panose="02010600030101010101" pitchFamily="2" charset="-122"/>
                <a:ea typeface="宋体" panose="02010600030101010101" pitchFamily="2" charset="-122"/>
              </a:rPr>
              <a:t>运送他人偷越国</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边）境罪的犯罪构成</a:t>
            </a:r>
          </a:p>
          <a:p>
            <a:endParaRPr lang="zh-CN" altLang="en-US" sz="2100" b="0" dirty="0">
              <a:latin typeface="宋体" panose="02010600030101010101" pitchFamily="2" charset="-122"/>
              <a:ea typeface="宋体" panose="02010600030101010101" pitchFamily="2" charset="-122"/>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7904" y="1899733"/>
            <a:ext cx="1584176" cy="1389400"/>
          </a:xfrm>
          <a:prstGeom prst="rect">
            <a:avLst/>
          </a:prstGeom>
        </p:spPr>
      </p:pic>
      <p:sp>
        <p:nvSpPr>
          <p:cNvPr id="10" name="文本框 9"/>
          <p:cNvSpPr txBox="1"/>
          <p:nvPr/>
        </p:nvSpPr>
        <p:spPr>
          <a:xfrm>
            <a:off x="1331640" y="1419623"/>
            <a:ext cx="2311666" cy="1200329"/>
          </a:xfrm>
          <a:prstGeom prst="rect">
            <a:avLst/>
          </a:prstGeom>
          <a:noFill/>
          <a:ln>
            <a:solidFill>
              <a:srgbClr val="0070C0"/>
            </a:solidFill>
          </a:ln>
        </p:spPr>
        <p:txBody>
          <a:bodyPr wrap="square" rtlCol="0">
            <a:spAutoFit/>
          </a:bodyPr>
          <a:lstStyle/>
          <a:p>
            <a:r>
              <a:rPr lang="zh-CN" altLang="en-US" b="1" dirty="0">
                <a:solidFill>
                  <a:srgbClr val="1143CF"/>
                </a:solidFill>
              </a:rPr>
              <a:t>客体：</a:t>
            </a:r>
            <a:endParaRPr lang="en-US" altLang="zh-CN" b="1" dirty="0">
              <a:solidFill>
                <a:srgbClr val="1143CF"/>
              </a:solidFill>
            </a:endParaRPr>
          </a:p>
          <a:p>
            <a:r>
              <a:rPr lang="zh-CN" altLang="en-US" b="1" dirty="0">
                <a:solidFill>
                  <a:srgbClr val="1143CF"/>
                </a:solidFill>
              </a:rPr>
              <a:t>国家对国（边）境正常的管理秩序</a:t>
            </a:r>
            <a:endParaRPr lang="en-US" altLang="zh-CN" b="1" dirty="0">
              <a:solidFill>
                <a:srgbClr val="1143CF"/>
              </a:solidFill>
            </a:endParaRPr>
          </a:p>
          <a:p>
            <a:endParaRPr lang="zh-CN" altLang="en-US" dirty="0"/>
          </a:p>
        </p:txBody>
      </p:sp>
      <p:sp>
        <p:nvSpPr>
          <p:cNvPr id="13" name="文本框 12"/>
          <p:cNvSpPr txBox="1"/>
          <p:nvPr/>
        </p:nvSpPr>
        <p:spPr>
          <a:xfrm>
            <a:off x="1357290" y="3143254"/>
            <a:ext cx="2232248" cy="1477328"/>
          </a:xfrm>
          <a:prstGeom prst="rect">
            <a:avLst/>
          </a:prstGeom>
          <a:noFill/>
          <a:ln>
            <a:solidFill>
              <a:srgbClr val="0070C0"/>
            </a:solidFill>
          </a:ln>
        </p:spPr>
        <p:txBody>
          <a:bodyPr wrap="square" rtlCol="0">
            <a:spAutoFit/>
          </a:bodyPr>
          <a:lstStyle/>
          <a:p>
            <a:r>
              <a:rPr lang="zh-CN" altLang="en-US" b="1" dirty="0">
                <a:solidFill>
                  <a:srgbClr val="1143CF"/>
                </a:solidFill>
              </a:rPr>
              <a:t>主体：</a:t>
            </a:r>
            <a:endParaRPr lang="en-US" altLang="zh-CN" b="1" dirty="0">
              <a:solidFill>
                <a:srgbClr val="1143CF"/>
              </a:solidFill>
            </a:endParaRPr>
          </a:p>
          <a:p>
            <a:r>
              <a:rPr lang="zh-CN" altLang="en-US" b="1" dirty="0">
                <a:solidFill>
                  <a:srgbClr val="1143CF"/>
                </a:solidFill>
              </a:rPr>
              <a:t>年满</a:t>
            </a:r>
            <a:r>
              <a:rPr lang="en-US" altLang="zh-CN" b="1" dirty="0">
                <a:solidFill>
                  <a:srgbClr val="1143CF"/>
                </a:solidFill>
              </a:rPr>
              <a:t>16</a:t>
            </a:r>
            <a:r>
              <a:rPr lang="zh-CN" altLang="en-US" b="1" dirty="0">
                <a:solidFill>
                  <a:srgbClr val="1143CF"/>
                </a:solidFill>
              </a:rPr>
              <a:t>周岁具有刑事责任能力的自然人</a:t>
            </a:r>
            <a:endParaRPr lang="en-US" altLang="zh-CN" b="1" dirty="0">
              <a:solidFill>
                <a:srgbClr val="1143CF"/>
              </a:solidFill>
            </a:endParaRPr>
          </a:p>
          <a:p>
            <a:endParaRPr lang="zh-CN" altLang="en-US" b="1" dirty="0">
              <a:solidFill>
                <a:srgbClr val="1143CF"/>
              </a:solidFill>
            </a:endParaRPr>
          </a:p>
        </p:txBody>
      </p:sp>
      <p:sp>
        <p:nvSpPr>
          <p:cNvPr id="14" name="文本框 13"/>
          <p:cNvSpPr txBox="1"/>
          <p:nvPr/>
        </p:nvSpPr>
        <p:spPr>
          <a:xfrm>
            <a:off x="5436096" y="1381343"/>
            <a:ext cx="2232248" cy="1200329"/>
          </a:xfrm>
          <a:prstGeom prst="rect">
            <a:avLst/>
          </a:prstGeom>
          <a:noFill/>
          <a:ln>
            <a:solidFill>
              <a:srgbClr val="0070C0"/>
            </a:solidFill>
          </a:ln>
        </p:spPr>
        <p:txBody>
          <a:bodyPr wrap="square" rtlCol="0">
            <a:spAutoFit/>
          </a:bodyPr>
          <a:lstStyle/>
          <a:p>
            <a:r>
              <a:rPr lang="zh-CN" altLang="en-US" b="1" dirty="0">
                <a:solidFill>
                  <a:srgbClr val="1143CF"/>
                </a:solidFill>
              </a:rPr>
              <a:t>主观方面：</a:t>
            </a:r>
            <a:endParaRPr lang="en-US" altLang="zh-CN" b="1" dirty="0">
              <a:solidFill>
                <a:srgbClr val="1143CF"/>
              </a:solidFill>
            </a:endParaRPr>
          </a:p>
          <a:p>
            <a:r>
              <a:rPr lang="zh-CN" altLang="en-US" b="1" dirty="0">
                <a:solidFill>
                  <a:srgbClr val="1143CF"/>
                </a:solidFill>
              </a:rPr>
              <a:t>故意，动机与目的不影响本罪的成立</a:t>
            </a:r>
            <a:endParaRPr lang="en-US" altLang="zh-CN" b="1" dirty="0">
              <a:solidFill>
                <a:srgbClr val="1143CF"/>
              </a:solidFill>
            </a:endParaRPr>
          </a:p>
          <a:p>
            <a:endParaRPr lang="zh-CN" altLang="en-US" dirty="0"/>
          </a:p>
        </p:txBody>
      </p:sp>
      <p:sp>
        <p:nvSpPr>
          <p:cNvPr id="15" name="文本框 14"/>
          <p:cNvSpPr txBox="1"/>
          <p:nvPr/>
        </p:nvSpPr>
        <p:spPr>
          <a:xfrm>
            <a:off x="5429256" y="3143254"/>
            <a:ext cx="2232248" cy="1200329"/>
          </a:xfrm>
          <a:prstGeom prst="rect">
            <a:avLst/>
          </a:prstGeom>
          <a:noFill/>
          <a:ln>
            <a:solidFill>
              <a:srgbClr val="0070C0"/>
            </a:solidFill>
          </a:ln>
        </p:spPr>
        <p:txBody>
          <a:bodyPr wrap="square" rtlCol="0">
            <a:spAutoFit/>
          </a:bodyPr>
          <a:lstStyle/>
          <a:p>
            <a:r>
              <a:rPr lang="zh-CN" altLang="en-US" b="1" dirty="0">
                <a:solidFill>
                  <a:srgbClr val="1143CF"/>
                </a:solidFill>
              </a:rPr>
              <a:t>客观方面：</a:t>
            </a:r>
            <a:endParaRPr lang="en-US" altLang="zh-CN" b="1" dirty="0">
              <a:solidFill>
                <a:srgbClr val="1143CF"/>
              </a:solidFill>
            </a:endParaRPr>
          </a:p>
          <a:p>
            <a:r>
              <a:rPr lang="zh-CN" altLang="en-US" b="1" dirty="0">
                <a:solidFill>
                  <a:srgbClr val="1143CF"/>
                </a:solidFill>
              </a:rPr>
              <a:t>实施了非法运送他人出入国（边）境的行为</a:t>
            </a:r>
            <a:endParaRPr lang="en-US" altLang="zh-CN" b="1" dirty="0">
              <a:solidFill>
                <a:srgbClr val="1143CF"/>
              </a:solidFill>
            </a:endParaRPr>
          </a:p>
        </p:txBody>
      </p:sp>
      <p:sp>
        <p:nvSpPr>
          <p:cNvPr id="12" name="Rectangle 2"/>
          <p:cNvSpPr>
            <a:spLocks noGrp="1"/>
          </p:cNvSpPr>
          <p:nvPr>
            <p:ph type="title"/>
          </p:nvPr>
        </p:nvSpPr>
        <p:spPr/>
        <p:txBody>
          <a:bodyPr vert="horz" wrap="square" lIns="68580" tIns="34290" rIns="68580" bIns="34290" anchor="ctr"/>
          <a:lstStyle/>
          <a:p>
            <a:r>
              <a:rPr lang="en-US" altLang="zh-CN" sz="2400" dirty="0"/>
              <a:t>1.3 </a:t>
            </a:r>
            <a:r>
              <a:rPr lang="zh-CN" altLang="en-US" sz="2400" dirty="0"/>
              <a:t>运送他人偷越国（边）境罪</a:t>
            </a:r>
            <a:endParaRPr lang="zh-CN" altLang="en-US" sz="2400"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p:spPr>
        <p:txBody>
          <a:bodyPr vert="horz" wrap="square" lIns="68580" tIns="34290" rIns="68580" bIns="34290" anchor="t"/>
          <a:lstStyle/>
          <a:p>
            <a:pPr algn="ctr"/>
            <a:r>
              <a:rPr lang="zh-CN" altLang="en-US" sz="2000" b="1" dirty="0">
                <a:latin typeface="宋体" panose="02010600030101010101" pitchFamily="2" charset="-122"/>
                <a:ea typeface="宋体" panose="02010600030101010101" pitchFamily="2" charset="-122"/>
              </a:rPr>
              <a:t>行为方式</a:t>
            </a:r>
          </a:p>
          <a:p>
            <a:endParaRPr lang="zh-CN" altLang="en-US" sz="2100" b="0" dirty="0">
              <a:latin typeface="宋体" panose="02010600030101010101" pitchFamily="2" charset="-122"/>
              <a:ea typeface="宋体" panose="02010600030101010101" pitchFamily="2" charset="-122"/>
            </a:endParaRPr>
          </a:p>
        </p:txBody>
      </p:sp>
      <p:sp>
        <p:nvSpPr>
          <p:cNvPr id="10" name="文本框 9"/>
          <p:cNvSpPr txBox="1"/>
          <p:nvPr/>
        </p:nvSpPr>
        <p:spPr>
          <a:xfrm>
            <a:off x="714348" y="1428742"/>
            <a:ext cx="6953996" cy="646331"/>
          </a:xfrm>
          <a:prstGeom prst="rect">
            <a:avLst/>
          </a:prstGeom>
          <a:noFill/>
          <a:ln>
            <a:solidFill>
              <a:schemeClr val="bg1"/>
            </a:solidFill>
          </a:ln>
        </p:spPr>
        <p:txBody>
          <a:bodyPr wrap="square" rtlCol="0">
            <a:spAutoFit/>
          </a:bodyPr>
          <a:lstStyle/>
          <a:p>
            <a:r>
              <a:rPr lang="zh-CN" altLang="en-US" b="1" dirty="0">
                <a:solidFill>
                  <a:srgbClr val="1143CF"/>
                </a:solidFill>
                <a:latin typeface="+mn-ea"/>
                <a:ea typeface="+mn-ea"/>
              </a:rPr>
              <a:t>使用车辆、船只、航空器等交通工具将偷越国（边）境的人运送出、入国（边）境。</a:t>
            </a:r>
          </a:p>
        </p:txBody>
      </p:sp>
      <p:sp>
        <p:nvSpPr>
          <p:cNvPr id="12" name="Rectangle 2"/>
          <p:cNvSpPr>
            <a:spLocks noGrp="1"/>
          </p:cNvSpPr>
          <p:nvPr>
            <p:ph type="title"/>
          </p:nvPr>
        </p:nvSpPr>
        <p:spPr/>
        <p:txBody>
          <a:bodyPr vert="horz" wrap="square" lIns="68580" tIns="34290" rIns="68580" bIns="34290" anchor="ctr"/>
          <a:lstStyle/>
          <a:p>
            <a:r>
              <a:rPr lang="en-US" altLang="zh-CN" sz="2400" dirty="0"/>
              <a:t>1.3 </a:t>
            </a:r>
            <a:r>
              <a:rPr lang="zh-CN" altLang="en-US" sz="2400" dirty="0"/>
              <a:t>运送他人偷越国（边）境罪</a:t>
            </a:r>
            <a:endParaRPr lang="zh-CN" altLang="en-US" sz="2400" dirty="0">
              <a:effectLst/>
            </a:endParaRPr>
          </a:p>
        </p:txBody>
      </p:sp>
      <p:sp>
        <p:nvSpPr>
          <p:cNvPr id="16" name="文本框 9"/>
          <p:cNvSpPr txBox="1"/>
          <p:nvPr/>
        </p:nvSpPr>
        <p:spPr>
          <a:xfrm>
            <a:off x="714348" y="2285998"/>
            <a:ext cx="6500858" cy="369332"/>
          </a:xfrm>
          <a:prstGeom prst="rect">
            <a:avLst/>
          </a:prstGeom>
          <a:noFill/>
          <a:ln>
            <a:solidFill>
              <a:schemeClr val="bg1"/>
            </a:solidFill>
          </a:ln>
        </p:spPr>
        <p:txBody>
          <a:bodyPr wrap="square" rtlCol="0">
            <a:spAutoFit/>
          </a:bodyPr>
          <a:lstStyle/>
          <a:p>
            <a:r>
              <a:rPr lang="zh-CN" altLang="en-US" b="1" dirty="0">
                <a:solidFill>
                  <a:srgbClr val="1143CF"/>
                </a:solidFill>
              </a:rPr>
              <a:t>争议：</a:t>
            </a:r>
            <a:r>
              <a:rPr lang="zh-CN" altLang="en-US" b="1" dirty="0">
                <a:solidFill>
                  <a:srgbClr val="C00000"/>
                </a:solidFill>
              </a:rPr>
              <a:t>徒步带领</a:t>
            </a:r>
            <a:r>
              <a:rPr lang="zh-CN" altLang="en-US" b="1" dirty="0">
                <a:solidFill>
                  <a:srgbClr val="1143CF"/>
                </a:solidFill>
              </a:rPr>
              <a:t>他人偷越国（边）境的行为是否属于运送？ </a:t>
            </a:r>
          </a:p>
        </p:txBody>
      </p:sp>
      <p:sp>
        <p:nvSpPr>
          <p:cNvPr id="21" name="文本框 9"/>
          <p:cNvSpPr txBox="1"/>
          <p:nvPr/>
        </p:nvSpPr>
        <p:spPr>
          <a:xfrm>
            <a:off x="714348" y="3429006"/>
            <a:ext cx="3500462" cy="923330"/>
          </a:xfrm>
          <a:prstGeom prst="rect">
            <a:avLst/>
          </a:prstGeom>
          <a:noFill/>
          <a:ln>
            <a:solidFill>
              <a:schemeClr val="tx1"/>
            </a:solidFill>
          </a:ln>
        </p:spPr>
        <p:txBody>
          <a:bodyPr wrap="square" rtlCol="0">
            <a:spAutoFit/>
          </a:bodyPr>
          <a:lstStyle/>
          <a:p>
            <a:r>
              <a:rPr lang="zh-CN" altLang="en-US" b="1" dirty="0">
                <a:solidFill>
                  <a:srgbClr val="C00000"/>
                </a:solidFill>
              </a:rPr>
              <a:t>肯定说：</a:t>
            </a:r>
            <a:r>
              <a:rPr lang="zh-CN" altLang="en-US" b="1" dirty="0">
                <a:solidFill>
                  <a:srgbClr val="1143CF"/>
                </a:solidFill>
              </a:rPr>
              <a:t>扩大解释，认为徒步带领，甚至为偷越国（边）境的人指示偷越道路属于“运送”。 </a:t>
            </a:r>
          </a:p>
        </p:txBody>
      </p:sp>
      <p:sp>
        <p:nvSpPr>
          <p:cNvPr id="9" name="文本框 9"/>
          <p:cNvSpPr txBox="1"/>
          <p:nvPr/>
        </p:nvSpPr>
        <p:spPr>
          <a:xfrm>
            <a:off x="4572000" y="3429006"/>
            <a:ext cx="3500462" cy="923330"/>
          </a:xfrm>
          <a:prstGeom prst="rect">
            <a:avLst/>
          </a:prstGeom>
          <a:noFill/>
          <a:ln>
            <a:solidFill>
              <a:schemeClr val="tx1"/>
            </a:solidFill>
          </a:ln>
        </p:spPr>
        <p:txBody>
          <a:bodyPr wrap="square" rtlCol="0">
            <a:spAutoFit/>
          </a:bodyPr>
          <a:lstStyle/>
          <a:p>
            <a:r>
              <a:rPr lang="zh-CN" altLang="en-US" b="1" dirty="0">
                <a:solidFill>
                  <a:srgbClr val="C00000"/>
                </a:solidFill>
              </a:rPr>
              <a:t>否定说：</a:t>
            </a:r>
            <a:r>
              <a:rPr lang="zh-CN" altLang="en-US" b="1" dirty="0">
                <a:solidFill>
                  <a:srgbClr val="1143CF"/>
                </a:solidFill>
              </a:rPr>
              <a:t>不属于。对这种行为可认定为偷越国（边）境罪的共犯（帮助犯）。 </a:t>
            </a:r>
          </a:p>
        </p:txBody>
      </p:sp>
      <p:cxnSp>
        <p:nvCxnSpPr>
          <p:cNvPr id="13" name="直接箭头连接符 12"/>
          <p:cNvCxnSpPr/>
          <p:nvPr/>
        </p:nvCxnSpPr>
        <p:spPr>
          <a:xfrm rot="5400000">
            <a:off x="1071538" y="2786064"/>
            <a:ext cx="785818" cy="50006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 name="直接箭头连接符 14"/>
          <p:cNvCxnSpPr/>
          <p:nvPr/>
        </p:nvCxnSpPr>
        <p:spPr>
          <a:xfrm>
            <a:off x="1714480" y="2643188"/>
            <a:ext cx="3214710" cy="78581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1.3.3 </a:t>
            </a:r>
            <a:r>
              <a:rPr lang="zh-CN" altLang="en-US" sz="2000" b="1" dirty="0">
                <a:latin typeface="宋体" panose="02010600030101010101" pitchFamily="2" charset="-122"/>
                <a:ea typeface="宋体" panose="02010600030101010101" pitchFamily="2" charset="-122"/>
              </a:rPr>
              <a:t>运送他人偷越国</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边）境罪的加重犯</a:t>
            </a:r>
          </a:p>
          <a:p>
            <a:endParaRPr lang="zh-CN" altLang="en-US" sz="2100" b="0" dirty="0">
              <a:latin typeface="宋体" panose="02010600030101010101" pitchFamily="2" charset="-122"/>
              <a:ea typeface="宋体" panose="02010600030101010101" pitchFamily="2" charset="-122"/>
            </a:endParaRPr>
          </a:p>
        </p:txBody>
      </p:sp>
      <p:sp>
        <p:nvSpPr>
          <p:cNvPr id="12" name="Rectangle 2"/>
          <p:cNvSpPr>
            <a:spLocks noGrp="1"/>
          </p:cNvSpPr>
          <p:nvPr>
            <p:ph type="title"/>
          </p:nvPr>
        </p:nvSpPr>
        <p:spPr/>
        <p:txBody>
          <a:bodyPr vert="horz" wrap="square" lIns="68580" tIns="34290" rIns="68580" bIns="34290" anchor="ctr"/>
          <a:lstStyle/>
          <a:p>
            <a:r>
              <a:rPr lang="en-US" altLang="zh-CN" sz="2400" dirty="0"/>
              <a:t>1.2 </a:t>
            </a:r>
            <a:r>
              <a:rPr lang="zh-CN" altLang="en-US" sz="2400" dirty="0"/>
              <a:t>组织他人偷越国（边）境罪</a:t>
            </a:r>
            <a:endParaRPr lang="zh-CN" altLang="en-US" sz="2400" dirty="0">
              <a:effectLst/>
            </a:endParaRPr>
          </a:p>
        </p:txBody>
      </p:sp>
      <p:sp>
        <p:nvSpPr>
          <p:cNvPr id="11" name="矩形 10"/>
          <p:cNvSpPr/>
          <p:nvPr/>
        </p:nvSpPr>
        <p:spPr>
          <a:xfrm>
            <a:off x="785786" y="1428742"/>
            <a:ext cx="7572428" cy="923330"/>
          </a:xfrm>
          <a:prstGeom prst="rect">
            <a:avLst/>
          </a:prstGeom>
        </p:spPr>
        <p:txBody>
          <a:bodyPr wrap="square">
            <a:spAutoFit/>
          </a:bodyPr>
          <a:lstStyle/>
          <a:p>
            <a:r>
              <a:rPr lang="zh-CN" altLang="zh-CN" dirty="0"/>
              <a:t>《刑法》第</a:t>
            </a:r>
            <a:r>
              <a:rPr lang="en-US" altLang="zh-CN" dirty="0"/>
              <a:t>321</a:t>
            </a:r>
            <a:r>
              <a:rPr lang="zh-CN" altLang="zh-CN" dirty="0"/>
              <a:t>条规定：运送他人偷越国（边）境的，处五年以下有期徒刑、拘役或者管制，并处罚金；有下列情形之一的，处五年以上十年以下有期徒刑，并处罚金：</a:t>
            </a:r>
            <a:r>
              <a:rPr lang="zh-CN" altLang="en-US" dirty="0"/>
              <a:t>　</a:t>
            </a:r>
          </a:p>
        </p:txBody>
      </p:sp>
      <p:sp>
        <p:nvSpPr>
          <p:cNvPr id="16" name="矩形 15"/>
          <p:cNvSpPr/>
          <p:nvPr/>
        </p:nvSpPr>
        <p:spPr>
          <a:xfrm>
            <a:off x="785786" y="2357436"/>
            <a:ext cx="8215370" cy="1477328"/>
          </a:xfrm>
          <a:prstGeom prst="rect">
            <a:avLst/>
          </a:prstGeom>
        </p:spPr>
        <p:txBody>
          <a:bodyPr wrap="square">
            <a:spAutoFit/>
          </a:bodyPr>
          <a:lstStyle/>
          <a:p>
            <a:r>
              <a:rPr lang="zh-CN" altLang="en-US" b="1" dirty="0">
                <a:solidFill>
                  <a:srgbClr val="1143CF"/>
                </a:solidFill>
              </a:rPr>
              <a:t>（一）</a:t>
            </a:r>
            <a:r>
              <a:rPr lang="zh-CN" altLang="zh-CN" b="1" dirty="0">
                <a:solidFill>
                  <a:srgbClr val="C00000"/>
                </a:solidFill>
              </a:rPr>
              <a:t>多次</a:t>
            </a:r>
            <a:r>
              <a:rPr lang="zh-CN" altLang="zh-CN" b="1" dirty="0">
                <a:solidFill>
                  <a:srgbClr val="1143CF"/>
                </a:solidFill>
              </a:rPr>
              <a:t>实施运送行为或者运送人数</a:t>
            </a:r>
            <a:r>
              <a:rPr lang="zh-CN" altLang="zh-CN" b="1" dirty="0">
                <a:solidFill>
                  <a:srgbClr val="C00000"/>
                </a:solidFill>
              </a:rPr>
              <a:t>众多</a:t>
            </a:r>
            <a:r>
              <a:rPr lang="zh-CN" altLang="en-US" b="1" dirty="0">
                <a:solidFill>
                  <a:srgbClr val="C00000"/>
                </a:solidFill>
              </a:rPr>
              <a:t>（</a:t>
            </a:r>
            <a:r>
              <a:rPr lang="en-US" altLang="zh-CN" b="1" dirty="0">
                <a:solidFill>
                  <a:srgbClr val="C00000"/>
                </a:solidFill>
              </a:rPr>
              <a:t>10</a:t>
            </a:r>
            <a:r>
              <a:rPr lang="zh-CN" altLang="en-US" b="1" dirty="0">
                <a:solidFill>
                  <a:srgbClr val="C00000"/>
                </a:solidFill>
              </a:rPr>
              <a:t>人以上）</a:t>
            </a:r>
            <a:r>
              <a:rPr lang="zh-CN" altLang="zh-CN" b="1" dirty="0">
                <a:solidFill>
                  <a:srgbClr val="1143CF"/>
                </a:solidFill>
              </a:rPr>
              <a:t>的；</a:t>
            </a:r>
            <a:endParaRPr lang="en-US" altLang="zh-CN" b="1" dirty="0">
              <a:solidFill>
                <a:srgbClr val="1143CF"/>
              </a:solidFill>
            </a:endParaRPr>
          </a:p>
          <a:p>
            <a:r>
              <a:rPr lang="zh-CN" altLang="en-US" b="1" dirty="0">
                <a:solidFill>
                  <a:srgbClr val="1143CF"/>
                </a:solidFill>
              </a:rPr>
              <a:t>（二）</a:t>
            </a:r>
            <a:r>
              <a:rPr lang="zh-CN" altLang="zh-CN" b="1" dirty="0">
                <a:solidFill>
                  <a:srgbClr val="1143CF"/>
                </a:solidFill>
              </a:rPr>
              <a:t>所使用的船只、车辆等交通工具不具备必要的安全条件，</a:t>
            </a:r>
            <a:r>
              <a:rPr lang="zh-CN" altLang="zh-CN" b="1" dirty="0">
                <a:solidFill>
                  <a:srgbClr val="C00000"/>
                </a:solidFill>
              </a:rPr>
              <a:t>足以造成严重后</a:t>
            </a:r>
            <a:r>
              <a:rPr lang="en-US" altLang="zh-CN" b="1" dirty="0">
                <a:solidFill>
                  <a:srgbClr val="C00000"/>
                </a:solidFill>
              </a:rPr>
              <a:t> </a:t>
            </a:r>
            <a:br>
              <a:rPr lang="en-US" altLang="zh-CN" b="1" dirty="0">
                <a:solidFill>
                  <a:srgbClr val="C00000"/>
                </a:solidFill>
              </a:rPr>
            </a:br>
            <a:r>
              <a:rPr lang="en-US" altLang="zh-CN" b="1" dirty="0">
                <a:solidFill>
                  <a:srgbClr val="C00000"/>
                </a:solidFill>
              </a:rPr>
              <a:t>          </a:t>
            </a:r>
            <a:r>
              <a:rPr lang="zh-CN" altLang="zh-CN" b="1" dirty="0">
                <a:solidFill>
                  <a:srgbClr val="C00000"/>
                </a:solidFill>
              </a:rPr>
              <a:t>果</a:t>
            </a:r>
            <a:r>
              <a:rPr lang="zh-CN" altLang="zh-CN" b="1" dirty="0">
                <a:solidFill>
                  <a:srgbClr val="1143CF"/>
                </a:solidFill>
              </a:rPr>
              <a:t>的； </a:t>
            </a:r>
            <a:br>
              <a:rPr lang="zh-CN" altLang="en-US" b="1" dirty="0">
                <a:solidFill>
                  <a:srgbClr val="1143CF"/>
                </a:solidFill>
              </a:rPr>
            </a:br>
            <a:r>
              <a:rPr lang="zh-CN" altLang="en-US" b="1" dirty="0">
                <a:solidFill>
                  <a:srgbClr val="1143CF"/>
                </a:solidFill>
              </a:rPr>
              <a:t>（三）</a:t>
            </a:r>
            <a:r>
              <a:rPr lang="zh-CN" altLang="zh-CN" b="1" dirty="0">
                <a:solidFill>
                  <a:srgbClr val="1143CF"/>
                </a:solidFill>
              </a:rPr>
              <a:t>违法所得数额</a:t>
            </a:r>
            <a:r>
              <a:rPr lang="zh-CN" altLang="zh-CN" b="1" dirty="0">
                <a:solidFill>
                  <a:srgbClr val="C00000"/>
                </a:solidFill>
              </a:rPr>
              <a:t>巨大</a:t>
            </a:r>
            <a:r>
              <a:rPr lang="zh-CN" altLang="zh-CN" b="1" dirty="0">
                <a:solidFill>
                  <a:srgbClr val="1143CF"/>
                </a:solidFill>
              </a:rPr>
              <a:t>的</a:t>
            </a:r>
            <a:r>
              <a:rPr lang="zh-CN" altLang="en-US" b="1" dirty="0">
                <a:solidFill>
                  <a:srgbClr val="1143CF"/>
                </a:solidFill>
              </a:rPr>
              <a:t>（</a:t>
            </a:r>
            <a:r>
              <a:rPr lang="en-US" altLang="zh-CN" b="1" dirty="0">
                <a:solidFill>
                  <a:srgbClr val="FF0000"/>
                </a:solidFill>
              </a:rPr>
              <a:t>20</a:t>
            </a:r>
            <a:r>
              <a:rPr lang="zh-CN" altLang="en-US" b="1" dirty="0">
                <a:solidFill>
                  <a:srgbClr val="FF0000"/>
                </a:solidFill>
              </a:rPr>
              <a:t>万元以上</a:t>
            </a:r>
            <a:r>
              <a:rPr lang="zh-CN" altLang="en-US" b="1" dirty="0">
                <a:solidFill>
                  <a:srgbClr val="1143CF"/>
                </a:solidFill>
              </a:rPr>
              <a:t>）</a:t>
            </a:r>
            <a:r>
              <a:rPr lang="zh-CN" altLang="zh-CN" b="1" dirty="0">
                <a:solidFill>
                  <a:srgbClr val="1143CF"/>
                </a:solidFill>
              </a:rPr>
              <a:t>； </a:t>
            </a:r>
            <a:br>
              <a:rPr lang="zh-CN" altLang="en-US" b="1" dirty="0">
                <a:solidFill>
                  <a:srgbClr val="1143CF"/>
                </a:solidFill>
              </a:rPr>
            </a:br>
            <a:r>
              <a:rPr lang="zh-CN" altLang="en-US" b="1" dirty="0">
                <a:solidFill>
                  <a:srgbClr val="1143CF"/>
                </a:solidFill>
              </a:rPr>
              <a:t>（四）</a:t>
            </a:r>
            <a:r>
              <a:rPr lang="zh-CN" altLang="zh-CN" b="1" dirty="0">
                <a:solidFill>
                  <a:srgbClr val="1143CF"/>
                </a:solidFill>
              </a:rPr>
              <a:t>有其他特别严重情节的。</a:t>
            </a:r>
            <a:endParaRPr lang="en-US" altLang="zh-CN" b="1" dirty="0">
              <a:solidFill>
                <a:srgbClr val="1143CF"/>
              </a:solidFill>
            </a:endParaRPr>
          </a:p>
        </p:txBody>
      </p:sp>
      <p:sp>
        <p:nvSpPr>
          <p:cNvPr id="6" name="TextBox 5"/>
          <p:cNvSpPr txBox="1"/>
          <p:nvPr/>
        </p:nvSpPr>
        <p:spPr>
          <a:xfrm>
            <a:off x="785786" y="3929072"/>
            <a:ext cx="8143932" cy="646331"/>
          </a:xfrm>
          <a:prstGeom prst="rect">
            <a:avLst/>
          </a:prstGeom>
          <a:noFill/>
          <a:ln>
            <a:solidFill>
              <a:schemeClr val="tx1"/>
            </a:solidFill>
          </a:ln>
        </p:spPr>
        <p:txBody>
          <a:bodyPr wrap="square" rtlCol="0">
            <a:spAutoFit/>
          </a:bodyPr>
          <a:lstStyle/>
          <a:p>
            <a:r>
              <a:rPr lang="zh-CN" altLang="en-US" b="1" dirty="0">
                <a:solidFill>
                  <a:srgbClr val="1143CF"/>
                </a:solidFill>
              </a:rPr>
              <a:t>在运送他人偷越国（边）境中造成被运送人重伤、死亡，或者以暴力、威胁方法抗拒检查的，</a:t>
            </a:r>
            <a:r>
              <a:rPr lang="zh-CN" altLang="en-US" b="1" dirty="0">
                <a:solidFill>
                  <a:srgbClr val="C00000"/>
                </a:solidFill>
              </a:rPr>
              <a:t>处七年以上有期徒刑</a:t>
            </a:r>
            <a:r>
              <a:rPr lang="zh-CN" altLang="en-US" b="1" dirty="0">
                <a:solidFill>
                  <a:srgbClr val="1143CF"/>
                </a:solidFill>
              </a:rPr>
              <a:t>，并处罚金。</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p:cNvSpPr>
          <p:nvPr>
            <p:ph idx="1"/>
          </p:nvPr>
        </p:nvSpPr>
        <p:spPr>
          <a:xfrm>
            <a:off x="179512" y="771550"/>
            <a:ext cx="6480572" cy="504056"/>
          </a:xfrm>
          <a:ln>
            <a:solidFill>
              <a:schemeClr val="tx1"/>
            </a:solidFill>
          </a:ln>
        </p:spPr>
        <p:txBody>
          <a:bodyPr vert="horz" wrap="square" lIns="68580" tIns="34290" rIns="68580" bIns="34290" anchor="t"/>
          <a:lstStyle/>
          <a:p>
            <a:r>
              <a:rPr lang="en-US" altLang="zh-CN" sz="2000" b="1" dirty="0">
                <a:latin typeface="宋体" panose="02010600030101010101" pitchFamily="2" charset="-122"/>
                <a:ea typeface="宋体" panose="02010600030101010101" pitchFamily="2" charset="-122"/>
              </a:rPr>
              <a:t>1.3.4 </a:t>
            </a:r>
            <a:r>
              <a:rPr lang="zh-CN" altLang="en-US" sz="2000" b="1" dirty="0">
                <a:latin typeface="宋体" panose="02010600030101010101" pitchFamily="2" charset="-122"/>
                <a:ea typeface="宋体" panose="02010600030101010101" pitchFamily="2" charset="-122"/>
              </a:rPr>
              <a:t>运送他人偷越国</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边）境罪的数罪并罚</a:t>
            </a:r>
          </a:p>
          <a:p>
            <a:endParaRPr lang="zh-CN" altLang="en-US" sz="2100" b="0" dirty="0">
              <a:latin typeface="宋体" panose="02010600030101010101" pitchFamily="2" charset="-122"/>
              <a:ea typeface="宋体" panose="02010600030101010101" pitchFamily="2" charset="-122"/>
            </a:endParaRPr>
          </a:p>
        </p:txBody>
      </p:sp>
      <p:sp>
        <p:nvSpPr>
          <p:cNvPr id="12" name="Rectangle 2"/>
          <p:cNvSpPr>
            <a:spLocks noGrp="1"/>
          </p:cNvSpPr>
          <p:nvPr>
            <p:ph type="title"/>
          </p:nvPr>
        </p:nvSpPr>
        <p:spPr/>
        <p:txBody>
          <a:bodyPr vert="horz" wrap="square" lIns="68580" tIns="34290" rIns="68580" bIns="34290" anchor="ctr"/>
          <a:lstStyle/>
          <a:p>
            <a:r>
              <a:rPr lang="en-US" altLang="zh-CN" sz="2400" dirty="0"/>
              <a:t>1.3 </a:t>
            </a:r>
            <a:r>
              <a:rPr lang="zh-CN" altLang="en-US" sz="2400" dirty="0"/>
              <a:t>运送他人偷越国（边）境罪</a:t>
            </a:r>
            <a:endParaRPr lang="zh-CN" altLang="en-US" sz="2400" dirty="0">
              <a:effectLst/>
            </a:endParaRPr>
          </a:p>
        </p:txBody>
      </p:sp>
      <p:sp>
        <p:nvSpPr>
          <p:cNvPr id="6" name="TextBox 5"/>
          <p:cNvSpPr txBox="1"/>
          <p:nvPr/>
        </p:nvSpPr>
        <p:spPr>
          <a:xfrm>
            <a:off x="357158" y="1571618"/>
            <a:ext cx="8358245" cy="707886"/>
          </a:xfrm>
          <a:prstGeom prst="rect">
            <a:avLst/>
          </a:prstGeom>
          <a:noFill/>
        </p:spPr>
        <p:txBody>
          <a:bodyPr wrap="square" rtlCol="0">
            <a:spAutoFit/>
          </a:bodyPr>
          <a:lstStyle/>
          <a:p>
            <a:r>
              <a:rPr lang="zh-CN" altLang="en-US" sz="2000" b="1" dirty="0">
                <a:solidFill>
                  <a:srgbClr val="1143CF"/>
                </a:solidFill>
              </a:rPr>
              <a:t>犯前款罪，对被组织人有杀害、伤害、强奸、拐卖等犯罪行为，或者对检查人员有杀害、伤害等犯罪行为的，依照</a:t>
            </a:r>
            <a:r>
              <a:rPr lang="zh-CN" altLang="en-US" sz="2000" b="1" dirty="0">
                <a:solidFill>
                  <a:srgbClr val="C00000"/>
                </a:solidFill>
              </a:rPr>
              <a:t>数罪并罚</a:t>
            </a:r>
            <a:r>
              <a:rPr lang="zh-CN" altLang="en-US" sz="2000" b="1" dirty="0">
                <a:solidFill>
                  <a:srgbClr val="1143CF"/>
                </a:solidFill>
              </a:rPr>
              <a:t>的规定处罚。</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3"/>
          <p:cNvSpPr txBox="1"/>
          <p:nvPr/>
        </p:nvSpPr>
        <p:spPr>
          <a:xfrm>
            <a:off x="2987824" y="12347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algn="r" fontAlgn="auto">
              <a:spcBef>
                <a:spcPts val="0"/>
              </a:spcBef>
              <a:spcAft>
                <a:spcPts val="0"/>
              </a:spcAft>
              <a:defRPr/>
            </a:pPr>
            <a:r>
              <a:rPr lang="zh-CN" altLang="en-US" sz="2400" b="1" dirty="0">
                <a:solidFill>
                  <a:schemeClr val="bg1"/>
                </a:solidFill>
                <a:effectLst>
                  <a:outerShdw blurRad="38100" dist="38100" dir="2700000" algn="tl">
                    <a:srgbClr val="000000">
                      <a:alpha val="43137"/>
                    </a:srgbClr>
                  </a:outerShdw>
                </a:effectLst>
                <a:latin typeface="+mn-ea"/>
                <a:ea typeface="+mn-ea"/>
                <a:cs typeface="+mn-cs"/>
              </a:rPr>
              <a:t>比较与总结</a:t>
            </a:r>
          </a:p>
        </p:txBody>
      </p:sp>
      <p:graphicFrame>
        <p:nvGraphicFramePr>
          <p:cNvPr id="4" name="表格 3"/>
          <p:cNvGraphicFramePr>
            <a:graphicFrameLocks noGrp="1"/>
          </p:cNvGraphicFramePr>
          <p:nvPr/>
        </p:nvGraphicFramePr>
        <p:xfrm>
          <a:off x="357158" y="928676"/>
          <a:ext cx="8143932" cy="3286147"/>
        </p:xfrm>
        <a:graphic>
          <a:graphicData uri="http://schemas.openxmlformats.org/drawingml/2006/table">
            <a:tbl>
              <a:tblPr firstRow="1" bandRow="1">
                <a:tableStyleId>{5C22544A-7EE6-4342-B048-85BDC9FD1C3A}</a:tableStyleId>
              </a:tblPr>
              <a:tblGrid>
                <a:gridCol w="2714644">
                  <a:extLst>
                    <a:ext uri="{9D8B030D-6E8A-4147-A177-3AD203B41FA5}">
                      <a16:colId xmlns:a16="http://schemas.microsoft.com/office/drawing/2014/main" val="20000"/>
                    </a:ext>
                  </a:extLst>
                </a:gridCol>
                <a:gridCol w="2714644">
                  <a:extLst>
                    <a:ext uri="{9D8B030D-6E8A-4147-A177-3AD203B41FA5}">
                      <a16:colId xmlns:a16="http://schemas.microsoft.com/office/drawing/2014/main" val="20001"/>
                    </a:ext>
                  </a:extLst>
                </a:gridCol>
                <a:gridCol w="2714644">
                  <a:extLst>
                    <a:ext uri="{9D8B030D-6E8A-4147-A177-3AD203B41FA5}">
                      <a16:colId xmlns:a16="http://schemas.microsoft.com/office/drawing/2014/main" val="20002"/>
                    </a:ext>
                  </a:extLst>
                </a:gridCol>
              </a:tblGrid>
              <a:tr h="979457">
                <a:tc>
                  <a:txBody>
                    <a:bodyPr/>
                    <a:lstStyle/>
                    <a:p>
                      <a:endParaRPr lang="zh-CN" altLang="en-US" dirty="0"/>
                    </a:p>
                  </a:txBody>
                  <a:tcPr/>
                </a:tc>
                <a:tc gridSpan="2">
                  <a:txBody>
                    <a:bodyPr/>
                    <a:lstStyle/>
                    <a:p>
                      <a:pPr algn="ctr"/>
                      <a:r>
                        <a:rPr lang="zh-CN" altLang="en-US" sz="2000" dirty="0">
                          <a:solidFill>
                            <a:schemeClr val="tx1"/>
                          </a:solidFill>
                        </a:rPr>
                        <a:t>组织他人偷越国（边）境罪</a:t>
                      </a:r>
                      <a:endParaRPr lang="en-US" altLang="zh-CN" sz="2000" dirty="0">
                        <a:solidFill>
                          <a:schemeClr val="tx1"/>
                        </a:solidFill>
                      </a:endParaRPr>
                    </a:p>
                    <a:p>
                      <a:pPr algn="ctr"/>
                      <a:r>
                        <a:rPr lang="zh-CN" altLang="en-US" sz="2000" dirty="0">
                          <a:solidFill>
                            <a:schemeClr val="tx1"/>
                          </a:solidFill>
                        </a:rPr>
                        <a:t>运送他人偷越国（边）境罪</a:t>
                      </a:r>
                    </a:p>
                  </a:txBody>
                  <a:tcPr/>
                </a:tc>
                <a:tc hMerge="1">
                  <a:txBody>
                    <a:bodyPr/>
                    <a:lstStyle/>
                    <a:p>
                      <a:endParaRPr lang="zh-CN"/>
                    </a:p>
                  </a:txBody>
                  <a:tcPr/>
                </a:tc>
                <a:extLst>
                  <a:ext uri="{0D108BD9-81ED-4DB2-BD59-A6C34878D82A}">
                    <a16:rowId xmlns:a16="http://schemas.microsoft.com/office/drawing/2014/main" val="10000"/>
                  </a:ext>
                </a:extLst>
              </a:tr>
              <a:tr h="894286">
                <a:tc>
                  <a:txBody>
                    <a:bodyPr/>
                    <a:lstStyle/>
                    <a:p>
                      <a:r>
                        <a:rPr lang="zh-CN" altLang="en-US" b="1" dirty="0">
                          <a:solidFill>
                            <a:srgbClr val="1143CF"/>
                          </a:solidFill>
                        </a:rPr>
                        <a:t>对被组织者、被运送者</a:t>
                      </a:r>
                    </a:p>
                  </a:txBody>
                  <a:tcPr>
                    <a:solidFill>
                      <a:srgbClr val="E5E4BA"/>
                    </a:solidFill>
                  </a:tcPr>
                </a:tc>
                <a:tc>
                  <a:txBody>
                    <a:bodyPr/>
                    <a:lstStyle/>
                    <a:p>
                      <a:r>
                        <a:rPr lang="en-US" altLang="zh-CN" dirty="0">
                          <a:solidFill>
                            <a:schemeClr val="tx1"/>
                          </a:solidFill>
                        </a:rPr>
                        <a:t>1.</a:t>
                      </a:r>
                      <a:r>
                        <a:rPr lang="zh-CN" altLang="en-US" dirty="0">
                          <a:solidFill>
                            <a:schemeClr val="tx1"/>
                          </a:solidFill>
                        </a:rPr>
                        <a:t>剥夺限制人身自由；</a:t>
                      </a:r>
                      <a:endParaRPr lang="en-US" altLang="zh-CN" dirty="0">
                        <a:solidFill>
                          <a:schemeClr val="tx1"/>
                        </a:solidFill>
                      </a:endParaRPr>
                    </a:p>
                    <a:p>
                      <a:r>
                        <a:rPr lang="en-US" altLang="zh-CN" dirty="0">
                          <a:solidFill>
                            <a:schemeClr val="tx1"/>
                          </a:solidFill>
                        </a:rPr>
                        <a:t>2.</a:t>
                      </a:r>
                      <a:r>
                        <a:rPr lang="zh-CN" altLang="en-US" dirty="0">
                          <a:solidFill>
                            <a:schemeClr val="tx1"/>
                          </a:solidFill>
                        </a:rPr>
                        <a:t>造成重伤、死亡。</a:t>
                      </a:r>
                    </a:p>
                  </a:txBody>
                  <a:tcPr>
                    <a:solidFill>
                      <a:srgbClr val="00B050"/>
                    </a:solidFill>
                  </a:tcPr>
                </a:tc>
                <a:tc>
                  <a:txBody>
                    <a:bodyPr/>
                    <a:lstStyle/>
                    <a:p>
                      <a:r>
                        <a:rPr lang="zh-CN" altLang="en-US" dirty="0">
                          <a:solidFill>
                            <a:schemeClr val="tx1"/>
                          </a:solidFill>
                        </a:rPr>
                        <a:t>伤害、杀害、强奸、拐卖等</a:t>
                      </a:r>
                    </a:p>
                  </a:txBody>
                  <a:tcPr>
                    <a:solidFill>
                      <a:srgbClr val="00B0F0"/>
                    </a:solidFill>
                  </a:tcPr>
                </a:tc>
                <a:extLst>
                  <a:ext uri="{0D108BD9-81ED-4DB2-BD59-A6C34878D82A}">
                    <a16:rowId xmlns:a16="http://schemas.microsoft.com/office/drawing/2014/main" val="10001"/>
                  </a:ext>
                </a:extLst>
              </a:tr>
              <a:tr h="894286">
                <a:tc>
                  <a:txBody>
                    <a:bodyPr/>
                    <a:lstStyle/>
                    <a:p>
                      <a:r>
                        <a:rPr lang="zh-CN" altLang="en-US" b="1" dirty="0">
                          <a:solidFill>
                            <a:srgbClr val="1143CF"/>
                          </a:solidFill>
                        </a:rPr>
                        <a:t>对检查人员</a:t>
                      </a:r>
                    </a:p>
                  </a:txBody>
                  <a:tcPr>
                    <a:solidFill>
                      <a:srgbClr val="E5E4BA"/>
                    </a:solidFill>
                  </a:tcPr>
                </a:tc>
                <a:tc>
                  <a:txBody>
                    <a:bodyPr/>
                    <a:lstStyle/>
                    <a:p>
                      <a:r>
                        <a:rPr lang="zh-CN" altLang="en-US" dirty="0">
                          <a:solidFill>
                            <a:schemeClr val="tx1"/>
                          </a:solidFill>
                        </a:rPr>
                        <a:t>以暴力、威胁方法抗拒检查</a:t>
                      </a:r>
                    </a:p>
                  </a:txBody>
                  <a:tcPr>
                    <a:solidFill>
                      <a:srgbClr val="00B050"/>
                    </a:solidFill>
                  </a:tcPr>
                </a:tc>
                <a:tc>
                  <a:txBody>
                    <a:bodyPr/>
                    <a:lstStyle/>
                    <a:p>
                      <a:r>
                        <a:rPr lang="zh-CN" altLang="en-US" dirty="0">
                          <a:solidFill>
                            <a:schemeClr val="tx1"/>
                          </a:solidFill>
                        </a:rPr>
                        <a:t>杀害、伤害等</a:t>
                      </a:r>
                    </a:p>
                  </a:txBody>
                  <a:tcPr>
                    <a:solidFill>
                      <a:srgbClr val="00B0F0"/>
                    </a:solidFill>
                  </a:tcPr>
                </a:tc>
                <a:extLst>
                  <a:ext uri="{0D108BD9-81ED-4DB2-BD59-A6C34878D82A}">
                    <a16:rowId xmlns:a16="http://schemas.microsoft.com/office/drawing/2014/main" val="10002"/>
                  </a:ext>
                </a:extLst>
              </a:tr>
              <a:tr h="518118">
                <a:tc>
                  <a:txBody>
                    <a:bodyPr/>
                    <a:lstStyle/>
                    <a:p>
                      <a:r>
                        <a:rPr lang="zh-CN" altLang="en-US" b="1" dirty="0">
                          <a:solidFill>
                            <a:srgbClr val="1143CF"/>
                          </a:solidFill>
                        </a:rPr>
                        <a:t>处理</a:t>
                      </a:r>
                    </a:p>
                  </a:txBody>
                  <a:tcPr>
                    <a:solidFill>
                      <a:srgbClr val="E5E4BA"/>
                    </a:solidFill>
                  </a:tcPr>
                </a:tc>
                <a:tc>
                  <a:txBody>
                    <a:bodyPr/>
                    <a:lstStyle/>
                    <a:p>
                      <a:r>
                        <a:rPr lang="zh-CN" altLang="en-US" dirty="0">
                          <a:solidFill>
                            <a:schemeClr val="tx1"/>
                          </a:solidFill>
                        </a:rPr>
                        <a:t>法定刑升级</a:t>
                      </a:r>
                    </a:p>
                  </a:txBody>
                  <a:tcPr>
                    <a:solidFill>
                      <a:srgbClr val="00B050"/>
                    </a:solidFill>
                  </a:tcPr>
                </a:tc>
                <a:tc>
                  <a:txBody>
                    <a:bodyPr/>
                    <a:lstStyle/>
                    <a:p>
                      <a:r>
                        <a:rPr lang="zh-CN" altLang="en-US" dirty="0">
                          <a:solidFill>
                            <a:schemeClr val="tx1"/>
                          </a:solidFill>
                        </a:rPr>
                        <a:t>数罪并罚</a:t>
                      </a:r>
                    </a:p>
                  </a:txBody>
                  <a:tcPr>
                    <a:solidFill>
                      <a:srgbClr val="00B0F0"/>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p:cNvSpPr>
          <p:nvPr>
            <p:ph type="title"/>
          </p:nvPr>
        </p:nvSpPr>
        <p:spPr/>
        <p:txBody>
          <a:bodyPr vert="horz" wrap="square" lIns="68580" tIns="34290" rIns="68580" bIns="34290" anchor="ctr"/>
          <a:lstStyle/>
          <a:p>
            <a:r>
              <a:rPr lang="en-US" altLang="zh-CN" sz="2400" dirty="0"/>
              <a:t>1.3 </a:t>
            </a:r>
            <a:r>
              <a:rPr lang="zh-CN" altLang="en-US" sz="2400" dirty="0"/>
              <a:t>运送他人偷越国（边）境罪</a:t>
            </a:r>
            <a:endParaRPr lang="zh-CN" altLang="en-US" sz="2400" dirty="0">
              <a:effectLst/>
            </a:endParaRPr>
          </a:p>
        </p:txBody>
      </p:sp>
      <p:sp>
        <p:nvSpPr>
          <p:cNvPr id="4" name="内容占位符 3">
            <a:extLst>
              <a:ext uri="{FF2B5EF4-FFF2-40B4-BE49-F238E27FC236}">
                <a16:creationId xmlns:a16="http://schemas.microsoft.com/office/drawing/2014/main" id="{65E2C2DE-F8DF-AB90-68C3-0FBDC6842FA2}"/>
              </a:ext>
            </a:extLst>
          </p:cNvPr>
          <p:cNvSpPr>
            <a:spLocks noGrp="1"/>
          </p:cNvSpPr>
          <p:nvPr>
            <p:ph idx="1"/>
          </p:nvPr>
        </p:nvSpPr>
        <p:spPr>
          <a:xfrm>
            <a:off x="196327" y="771551"/>
            <a:ext cx="8751346" cy="3456384"/>
          </a:xfrm>
        </p:spPr>
        <p:txBody>
          <a:bodyPr/>
          <a:lstStyle/>
          <a:p>
            <a:pPr marL="0" indent="0">
              <a:buNone/>
            </a:pPr>
            <a:r>
              <a:rPr lang="en-US" altLang="zh-CN" sz="2000" dirty="0"/>
              <a:t>1. </a:t>
            </a:r>
            <a:r>
              <a:rPr lang="zh-CN" altLang="en-US" sz="2000" dirty="0"/>
              <a:t>根据我国刑法及相关司法解释，下列哪些行为或者情节，可以认定为“运送他人偷越国（边）境罪”？（      ）</a:t>
            </a:r>
          </a:p>
          <a:p>
            <a:r>
              <a:rPr lang="en-US" altLang="zh-CN" sz="2000" dirty="0"/>
              <a:t>A. </a:t>
            </a:r>
            <a:r>
              <a:rPr lang="zh-CN" altLang="en-US" sz="2000" dirty="0"/>
              <a:t>甲明知乙没有合法出入境证件，仍驾驶小船将其从我国沿海偷运至某国，并收取了高额“带路费”。</a:t>
            </a:r>
          </a:p>
          <a:p>
            <a:r>
              <a:rPr lang="en-US" altLang="zh-CN" sz="2000" dirty="0"/>
              <a:t>B. </a:t>
            </a:r>
            <a:r>
              <a:rPr lang="zh-CN" altLang="en-US" sz="2000" dirty="0"/>
              <a:t>乙为境外赌博集团招揽赌客，多次组织人员通过伪造签证的方式前往境外赌博，乙本人并不直接参与运送过程，而是安排他人负责具体交通。</a:t>
            </a:r>
          </a:p>
          <a:p>
            <a:r>
              <a:rPr lang="en-US" altLang="zh-CN" sz="2000" dirty="0"/>
              <a:t>C. </a:t>
            </a:r>
            <a:r>
              <a:rPr lang="zh-CN" altLang="en-US" sz="2000" dirty="0"/>
              <a:t>丙受朋友丁所托，将丁藏匿于自己货车车厢内，通过边境检查站，意图帮助丁偷越国境。</a:t>
            </a:r>
          </a:p>
          <a:p>
            <a:r>
              <a:rPr lang="en-US" altLang="zh-CN" sz="2000" dirty="0"/>
              <a:t>D. </a:t>
            </a:r>
            <a:r>
              <a:rPr lang="zh-CN" altLang="en-US" sz="2000" dirty="0"/>
              <a:t>戊是一家旅行社导游，在带团出境时，明知团内有几名游客企图非法滞留不归，仍按正常程序带队出关，并未向有关部门报告。</a:t>
            </a:r>
          </a:p>
        </p:txBody>
      </p:sp>
      <p:sp>
        <p:nvSpPr>
          <p:cNvPr id="9" name="文本框 8">
            <a:extLst>
              <a:ext uri="{FF2B5EF4-FFF2-40B4-BE49-F238E27FC236}">
                <a16:creationId xmlns:a16="http://schemas.microsoft.com/office/drawing/2014/main" id="{ED30FDB9-7D9F-E361-B58B-6CE821034A5B}"/>
              </a:ext>
            </a:extLst>
          </p:cNvPr>
          <p:cNvSpPr txBox="1"/>
          <p:nvPr/>
        </p:nvSpPr>
        <p:spPr>
          <a:xfrm>
            <a:off x="1115616" y="4358163"/>
            <a:ext cx="736099" cy="369332"/>
          </a:xfrm>
          <a:prstGeom prst="rect">
            <a:avLst/>
          </a:prstGeom>
          <a:noFill/>
        </p:spPr>
        <p:txBody>
          <a:bodyPr wrap="none" rtlCol="0">
            <a:spAutoFit/>
          </a:bodyPr>
          <a:lstStyle/>
          <a:p>
            <a:r>
              <a:rPr lang="en-US" altLang="zh-CN" dirty="0"/>
              <a:t>A</a:t>
            </a:r>
            <a:r>
              <a:rPr lang="zh-CN" altLang="en-US" dirty="0"/>
              <a:t>、</a:t>
            </a:r>
            <a:r>
              <a:rPr lang="en-US" altLang="zh-CN" dirty="0"/>
              <a:t>C</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CA6D3-A79E-5B0C-509E-9515717FDCEA}"/>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08BBD022-665F-1208-851D-DC851AF47062}"/>
              </a:ext>
            </a:extLst>
          </p:cNvPr>
          <p:cNvSpPr>
            <a:spLocks noGrp="1"/>
          </p:cNvSpPr>
          <p:nvPr>
            <p:ph type="title"/>
          </p:nvPr>
        </p:nvSpPr>
        <p:spPr/>
        <p:txBody>
          <a:bodyPr vert="horz" wrap="square" lIns="68580" tIns="34290" rIns="68580" bIns="34290" anchor="ctr"/>
          <a:lstStyle/>
          <a:p>
            <a:r>
              <a:rPr lang="en-US" altLang="zh-CN" sz="2400" dirty="0"/>
              <a:t>1.3 </a:t>
            </a:r>
            <a:r>
              <a:rPr lang="zh-CN" altLang="en-US" sz="2400" dirty="0"/>
              <a:t>运送他人偷越国（边）境罪</a:t>
            </a:r>
            <a:endParaRPr lang="zh-CN" altLang="en-US" sz="2400" dirty="0">
              <a:effectLst/>
            </a:endParaRPr>
          </a:p>
        </p:txBody>
      </p:sp>
      <p:sp>
        <p:nvSpPr>
          <p:cNvPr id="4" name="内容占位符 3">
            <a:extLst>
              <a:ext uri="{FF2B5EF4-FFF2-40B4-BE49-F238E27FC236}">
                <a16:creationId xmlns:a16="http://schemas.microsoft.com/office/drawing/2014/main" id="{CD91CA58-CDBE-89FB-6500-82C5BBAED923}"/>
              </a:ext>
            </a:extLst>
          </p:cNvPr>
          <p:cNvSpPr>
            <a:spLocks noGrp="1"/>
          </p:cNvSpPr>
          <p:nvPr>
            <p:ph idx="1"/>
          </p:nvPr>
        </p:nvSpPr>
        <p:spPr>
          <a:xfrm>
            <a:off x="357158" y="771551"/>
            <a:ext cx="8229600" cy="2808312"/>
          </a:xfrm>
        </p:spPr>
        <p:txBody>
          <a:bodyPr/>
          <a:lstStyle/>
          <a:p>
            <a:pPr marL="0" indent="0">
              <a:buNone/>
            </a:pPr>
            <a:r>
              <a:rPr lang="en-US" altLang="zh-CN" sz="2000" dirty="0"/>
              <a:t>2.</a:t>
            </a:r>
            <a:r>
              <a:rPr lang="zh-CN" altLang="en-US" sz="2000" dirty="0"/>
              <a:t>关于运送他人偷越国（边）境罪，下列说法中正确的有？（    ）</a:t>
            </a:r>
          </a:p>
          <a:p>
            <a:pPr marL="0" indent="0">
              <a:buNone/>
            </a:pPr>
            <a:endParaRPr lang="en-US" altLang="zh-CN" sz="2000" dirty="0"/>
          </a:p>
          <a:p>
            <a:pPr marL="0" indent="0">
              <a:buNone/>
            </a:pPr>
            <a:r>
              <a:rPr lang="en-US" altLang="zh-CN" sz="2000" dirty="0"/>
              <a:t>A. </a:t>
            </a:r>
            <a:r>
              <a:rPr lang="zh-CN" altLang="en-US" sz="2000" dirty="0"/>
              <a:t>本罪侵犯的客体是国家对国（边）境的正常管理秩序。</a:t>
            </a:r>
          </a:p>
          <a:p>
            <a:pPr marL="0" indent="0" algn="just">
              <a:buNone/>
            </a:pPr>
            <a:r>
              <a:rPr lang="en-US" altLang="zh-CN" sz="2000" dirty="0"/>
              <a:t>B. </a:t>
            </a:r>
            <a:r>
              <a:rPr lang="zh-CN" altLang="en-US" sz="2000" dirty="0"/>
              <a:t>行为人只要实施了运送他人偷越国（边）境的行为，无论是否成功，均构成本罪既遂。</a:t>
            </a:r>
          </a:p>
          <a:p>
            <a:pPr marL="0" indent="0" algn="just">
              <a:buNone/>
            </a:pPr>
            <a:r>
              <a:rPr lang="en-US" altLang="zh-CN" sz="2000" dirty="0"/>
              <a:t>C. </a:t>
            </a:r>
            <a:r>
              <a:rPr lang="zh-CN" altLang="en-US" sz="2000" dirty="0"/>
              <a:t>如果运送的对象是近亲属，且未从中牟利，则不构成本罪。</a:t>
            </a:r>
          </a:p>
          <a:p>
            <a:pPr marL="0" indent="0" algn="just">
              <a:buNone/>
            </a:pPr>
            <a:r>
              <a:rPr lang="en-US" altLang="zh-CN" sz="2000" dirty="0"/>
              <a:t>D. </a:t>
            </a:r>
            <a:r>
              <a:rPr lang="zh-CN" altLang="en-US" sz="2000" dirty="0"/>
              <a:t>在运送过程中，如果对被运送人使用了杀害、伤害、强奸等手段，则依照数罪并罚的规定处罚。</a:t>
            </a:r>
          </a:p>
        </p:txBody>
      </p:sp>
      <p:sp>
        <p:nvSpPr>
          <p:cNvPr id="2" name="文本框 1">
            <a:extLst>
              <a:ext uri="{FF2B5EF4-FFF2-40B4-BE49-F238E27FC236}">
                <a16:creationId xmlns:a16="http://schemas.microsoft.com/office/drawing/2014/main" id="{D8430790-800C-A727-437B-A09705B12D7A}"/>
              </a:ext>
            </a:extLst>
          </p:cNvPr>
          <p:cNvSpPr txBox="1"/>
          <p:nvPr/>
        </p:nvSpPr>
        <p:spPr>
          <a:xfrm>
            <a:off x="611188" y="4011910"/>
            <a:ext cx="736099" cy="369332"/>
          </a:xfrm>
          <a:prstGeom prst="rect">
            <a:avLst/>
          </a:prstGeom>
          <a:noFill/>
        </p:spPr>
        <p:txBody>
          <a:bodyPr wrap="none" rtlCol="0">
            <a:spAutoFit/>
          </a:bodyPr>
          <a:lstStyle/>
          <a:p>
            <a:r>
              <a:rPr lang="en-US" altLang="zh-CN" dirty="0"/>
              <a:t>A</a:t>
            </a:r>
            <a:r>
              <a:rPr lang="zh-CN" altLang="en-US" dirty="0"/>
              <a:t>、</a:t>
            </a:r>
            <a:r>
              <a:rPr lang="en-US" altLang="zh-CN" dirty="0"/>
              <a:t>D</a:t>
            </a:r>
            <a:endParaRPr lang="zh-CN" altLang="en-US" dirty="0"/>
          </a:p>
        </p:txBody>
      </p:sp>
    </p:spTree>
    <p:extLst>
      <p:ext uri="{BB962C8B-B14F-4D97-AF65-F5344CB8AC3E}">
        <p14:creationId xmlns:p14="http://schemas.microsoft.com/office/powerpoint/2010/main" val="270851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1428728" y="2214560"/>
            <a:ext cx="6429420" cy="1631216"/>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rPr>
              <a:t>1.4  </a:t>
            </a:r>
            <a:r>
              <a:rPr kumimoji="0" lang="zh-CN" altLang="en-US" sz="32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rPr>
              <a:t>骗取出境证件案件</a:t>
            </a:r>
            <a:endParaRPr kumimoji="0" lang="en-US" altLang="zh-CN" sz="32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32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hlinkClick r:id="rId2"/>
              </a:rPr>
              <a:t>https://haokan.baidu.com/v?pd=wisenatural&amp;vid=8891372180991364653</a:t>
            </a:r>
            <a:r>
              <a:rPr kumimoji="0" lang="en-US" altLang="zh-CN"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rPr>
              <a:t> </a:t>
            </a:r>
            <a:endParaRPr kumimoji="0" lang="zh-CN" altLang="en-US"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22B18-8034-C414-310B-F78B668F79B8}"/>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50678EC-DE19-3B36-D700-EA8D81379336}"/>
              </a:ext>
            </a:extLst>
          </p:cNvPr>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（一）概念</a:t>
            </a:r>
          </a:p>
        </p:txBody>
      </p:sp>
      <p:sp>
        <p:nvSpPr>
          <p:cNvPr id="13" name="TextBox 3">
            <a:extLst>
              <a:ext uri="{FF2B5EF4-FFF2-40B4-BE49-F238E27FC236}">
                <a16:creationId xmlns:a16="http://schemas.microsoft.com/office/drawing/2014/main" id="{C47C3887-A1EB-C558-15B5-903C4579A9FE}"/>
              </a:ext>
            </a:extLst>
          </p:cNvPr>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1.4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骗取出境证件案件</a:t>
            </a:r>
          </a:p>
        </p:txBody>
      </p:sp>
      <p:sp>
        <p:nvSpPr>
          <p:cNvPr id="21" name="TextBox 20">
            <a:extLst>
              <a:ext uri="{FF2B5EF4-FFF2-40B4-BE49-F238E27FC236}">
                <a16:creationId xmlns:a16="http://schemas.microsoft.com/office/drawing/2014/main" id="{9A07EC6B-167C-EA22-FBAB-BC3FA7C2ED18}"/>
              </a:ext>
            </a:extLst>
          </p:cNvPr>
          <p:cNvSpPr txBox="1"/>
          <p:nvPr/>
        </p:nvSpPr>
        <p:spPr>
          <a:xfrm>
            <a:off x="539552" y="1635646"/>
            <a:ext cx="8280920"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骗取出境证件罪，是指自然人或者单位为组织他人偷越国（边）境使用，以劳务输出、经贸往来或者其他名义，弄虚作假，骗取护照、签证等出境证件的犯罪。</a:t>
            </a:r>
          </a:p>
        </p:txBody>
      </p:sp>
      <p:sp>
        <p:nvSpPr>
          <p:cNvPr id="3" name="文本框 2">
            <a:extLst>
              <a:ext uri="{FF2B5EF4-FFF2-40B4-BE49-F238E27FC236}">
                <a16:creationId xmlns:a16="http://schemas.microsoft.com/office/drawing/2014/main" id="{CA07DC7E-2CE9-6190-22EC-EBE8D7276B92}"/>
              </a:ext>
            </a:extLst>
          </p:cNvPr>
          <p:cNvSpPr txBox="1"/>
          <p:nvPr/>
        </p:nvSpPr>
        <p:spPr>
          <a:xfrm>
            <a:off x="1115616" y="2861524"/>
            <a:ext cx="6408712" cy="646331"/>
          </a:xfrm>
          <a:prstGeom prst="rect">
            <a:avLst/>
          </a:prstGeom>
          <a:noFill/>
        </p:spPr>
        <p:txBody>
          <a:bodyPr wrap="square">
            <a:spAutoFit/>
          </a:bodyPr>
          <a:lstStyle/>
          <a:p>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为组织他人偷越国（边）境使用的性质：责任要素，非客观的构成要件要素（张明楷）</a:t>
            </a:r>
            <a:endParaRPr lang="zh-CN" altLang="en-US" dirty="0"/>
          </a:p>
        </p:txBody>
      </p:sp>
    </p:spTree>
    <p:extLst>
      <p:ext uri="{BB962C8B-B14F-4D97-AF65-F5344CB8AC3E}">
        <p14:creationId xmlns:p14="http://schemas.microsoft.com/office/powerpoint/2010/main" val="170786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（二）法律解读</a:t>
            </a:r>
          </a:p>
        </p:txBody>
      </p:sp>
      <p:sp>
        <p:nvSpPr>
          <p:cNvPr id="7" name="TextBox 6"/>
          <p:cNvSpPr txBox="1"/>
          <p:nvPr/>
        </p:nvSpPr>
        <p:spPr>
          <a:xfrm>
            <a:off x="323528" y="3363838"/>
            <a:ext cx="864096" cy="369332"/>
          </a:xfrm>
          <a:prstGeom prst="rect">
            <a:avLst/>
          </a:prstGeom>
          <a:noFill/>
          <a:ln>
            <a:solidFill>
              <a:srgbClr val="1143CF"/>
            </a:solid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主 体</a:t>
            </a:r>
          </a:p>
        </p:txBody>
      </p:sp>
      <p:sp>
        <p:nvSpPr>
          <p:cNvPr id="8" name="TextBox 7"/>
          <p:cNvSpPr txBox="1"/>
          <p:nvPr/>
        </p:nvSpPr>
        <p:spPr>
          <a:xfrm>
            <a:off x="1763688" y="3435846"/>
            <a:ext cx="712879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为自然人和单位名义（双罚）</a:t>
            </a:r>
          </a:p>
        </p:txBody>
      </p:sp>
      <p:sp>
        <p:nvSpPr>
          <p:cNvPr id="9" name="TextBox 8"/>
          <p:cNvSpPr txBox="1"/>
          <p:nvPr/>
        </p:nvSpPr>
        <p:spPr>
          <a:xfrm>
            <a:off x="251520" y="4083918"/>
            <a:ext cx="936104" cy="646331"/>
          </a:xfrm>
          <a:prstGeom prst="rect">
            <a:avLst/>
          </a:prstGeom>
          <a:noFill/>
          <a:ln>
            <a:solidFill>
              <a:srgbClr val="1143CF"/>
            </a:solid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责任</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形式</a:t>
            </a:r>
          </a:p>
        </p:txBody>
      </p:sp>
      <p:sp>
        <p:nvSpPr>
          <p:cNvPr id="10" name="TextBox 9"/>
          <p:cNvSpPr txBox="1"/>
          <p:nvPr/>
        </p:nvSpPr>
        <p:spPr>
          <a:xfrm>
            <a:off x="1547664" y="4155926"/>
            <a:ext cx="7272808" cy="369332"/>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故意，营利目的不是本罪的责任要素。为组织他人偷越国（边）境使用</a:t>
            </a:r>
          </a:p>
        </p:txBody>
      </p:sp>
      <p:sp>
        <p:nvSpPr>
          <p:cNvPr id="14" name="TextBox 13"/>
          <p:cNvSpPr txBox="1"/>
          <p:nvPr/>
        </p:nvSpPr>
        <p:spPr>
          <a:xfrm>
            <a:off x="323528" y="1275606"/>
            <a:ext cx="936104" cy="369332"/>
          </a:xfrm>
          <a:prstGeom prst="rect">
            <a:avLst/>
          </a:prstGeom>
          <a:noFill/>
          <a:ln>
            <a:solidFill>
              <a:srgbClr val="1143CF"/>
            </a:solid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法 益</a:t>
            </a:r>
          </a:p>
        </p:txBody>
      </p:sp>
      <p:sp>
        <p:nvSpPr>
          <p:cNvPr id="15" name="TextBox 14"/>
          <p:cNvSpPr txBox="1"/>
          <p:nvPr/>
        </p:nvSpPr>
        <p:spPr>
          <a:xfrm>
            <a:off x="1691680" y="1203598"/>
            <a:ext cx="518457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出入境管理秩序。</a:t>
            </a:r>
          </a:p>
        </p:txBody>
      </p:sp>
      <p:sp>
        <p:nvSpPr>
          <p:cNvPr id="17" name="TextBox 16"/>
          <p:cNvSpPr txBox="1"/>
          <p:nvPr/>
        </p:nvSpPr>
        <p:spPr>
          <a:xfrm>
            <a:off x="323528" y="1851670"/>
            <a:ext cx="936104" cy="646331"/>
          </a:xfrm>
          <a:prstGeom prst="rect">
            <a:avLst/>
          </a:prstGeom>
          <a:noFill/>
          <a:ln>
            <a:solidFill>
              <a:srgbClr val="1143CF"/>
            </a:solid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构成 </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行为</a:t>
            </a:r>
          </a:p>
        </p:txBody>
      </p:sp>
      <p:sp>
        <p:nvSpPr>
          <p:cNvPr id="18" name="TextBox 17"/>
          <p:cNvSpPr txBox="1"/>
          <p:nvPr/>
        </p:nvSpPr>
        <p:spPr>
          <a:xfrm>
            <a:off x="1691680" y="1563638"/>
            <a:ext cx="5688632"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弄虚作假：为组织他人偷越国</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边</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境，编造出境事由、身份信息或者相关的境外关系证明的。</a:t>
            </a:r>
          </a:p>
        </p:txBody>
      </p:sp>
      <p:sp>
        <p:nvSpPr>
          <p:cNvPr id="13"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1.4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骗取出境证件案件</a:t>
            </a:r>
          </a:p>
        </p:txBody>
      </p:sp>
      <p:sp>
        <p:nvSpPr>
          <p:cNvPr id="16" name="TextBox 15"/>
          <p:cNvSpPr txBox="1"/>
          <p:nvPr/>
        </p:nvSpPr>
        <p:spPr>
          <a:xfrm>
            <a:off x="1691680" y="2211710"/>
            <a:ext cx="7272808" cy="1077218"/>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出境证件：护照或者代替护照使用的国际旅行证件，中华人民共和国海员证，中华人民共和国出入境通行证，中华人民共和国旅行证，中国公民往来香港、澳门、台湾地区证件，边境地区出入境通行证，签证、签注，出国</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境</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证明、名单，以及其他出境时需要查验的资料。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5" grpId="0"/>
      <p:bldP spid="18" grpId="0"/>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（二）法律解读</a:t>
            </a:r>
          </a:p>
        </p:txBody>
      </p:sp>
      <p:sp>
        <p:nvSpPr>
          <p:cNvPr id="13"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1.4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骗取出境证件案件</a:t>
            </a:r>
          </a:p>
        </p:txBody>
      </p:sp>
      <p:sp>
        <p:nvSpPr>
          <p:cNvPr id="19" name="TextBox 18"/>
          <p:cNvSpPr txBox="1"/>
          <p:nvPr/>
        </p:nvSpPr>
        <p:spPr>
          <a:xfrm>
            <a:off x="611560" y="1635646"/>
            <a:ext cx="738664" cy="1800200"/>
          </a:xfrm>
          <a:prstGeom prst="rect">
            <a:avLst/>
          </a:prstGeom>
          <a:noFill/>
        </p:spPr>
        <p:txBody>
          <a:bodyPr vert="eaVert"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为组织他人偷越国（边）境使用</a:t>
            </a:r>
          </a:p>
        </p:txBody>
      </p:sp>
      <p:sp>
        <p:nvSpPr>
          <p:cNvPr id="20" name="左大括号 19"/>
          <p:cNvSpPr/>
          <p:nvPr/>
        </p:nvSpPr>
        <p:spPr>
          <a:xfrm>
            <a:off x="1331640" y="1419622"/>
            <a:ext cx="288032" cy="2736304"/>
          </a:xfrm>
          <a:prstGeom prst="leftBrace">
            <a:avLst/>
          </a:prstGeom>
          <a:ln>
            <a:solidFill>
              <a:srgbClr val="1143C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1" name="TextBox 20"/>
          <p:cNvSpPr txBox="1"/>
          <p:nvPr/>
        </p:nvSpPr>
        <p:spPr>
          <a:xfrm>
            <a:off x="1763688" y="1347614"/>
            <a:ext cx="4392488"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主观构成要件，非客观构成要件</a:t>
            </a:r>
          </a:p>
        </p:txBody>
      </p:sp>
      <p:sp>
        <p:nvSpPr>
          <p:cNvPr id="22" name="TextBox 21"/>
          <p:cNvSpPr txBox="1"/>
          <p:nvPr/>
        </p:nvSpPr>
        <p:spPr>
          <a:xfrm>
            <a:off x="1835696" y="2139702"/>
            <a:ext cx="5832648" cy="36830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行为人骗取出境证件为了组织他人偷越国（边）境使用。</a:t>
            </a:r>
          </a:p>
        </p:txBody>
      </p:sp>
      <p:sp>
        <p:nvSpPr>
          <p:cNvPr id="23" name="TextBox 22"/>
          <p:cNvSpPr txBox="1"/>
          <p:nvPr/>
        </p:nvSpPr>
        <p:spPr>
          <a:xfrm>
            <a:off x="8028384" y="2211710"/>
            <a:ext cx="720080"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预备犯</a:t>
            </a:r>
          </a:p>
        </p:txBody>
      </p:sp>
      <p:sp>
        <p:nvSpPr>
          <p:cNvPr id="24" name="TextBox 23"/>
          <p:cNvSpPr txBox="1"/>
          <p:nvPr/>
        </p:nvSpPr>
        <p:spPr>
          <a:xfrm>
            <a:off x="1907704" y="2931790"/>
            <a:ext cx="5544616" cy="92333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偷越国（边）境的组织者以外的行为人实施本罪行为，既是组织他人偷越国（边）境罪的帮助犯，也是骗取出境证件罪的正犯，应认定为骗取出境证件罪。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linds(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linds(horizontal)">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（二）法律解读</a:t>
            </a:r>
          </a:p>
        </p:txBody>
      </p:sp>
      <p:sp>
        <p:nvSpPr>
          <p:cNvPr id="13"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1.4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骗取出境证件案件</a:t>
            </a:r>
          </a:p>
        </p:txBody>
      </p:sp>
      <p:sp>
        <p:nvSpPr>
          <p:cNvPr id="19" name="TextBox 18"/>
          <p:cNvSpPr txBox="1"/>
          <p:nvPr/>
        </p:nvSpPr>
        <p:spPr>
          <a:xfrm>
            <a:off x="888559" y="1635646"/>
            <a:ext cx="461665" cy="1800200"/>
          </a:xfrm>
          <a:prstGeom prst="rect">
            <a:avLst/>
          </a:prstGeom>
          <a:noFill/>
        </p:spPr>
        <p:txBody>
          <a:bodyPr vert="eaVert"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是否成立本罪？ </a:t>
            </a:r>
          </a:p>
        </p:txBody>
      </p:sp>
      <p:sp>
        <p:nvSpPr>
          <p:cNvPr id="20" name="左大括号 19"/>
          <p:cNvSpPr/>
          <p:nvPr/>
        </p:nvSpPr>
        <p:spPr>
          <a:xfrm>
            <a:off x="1331640" y="1419622"/>
            <a:ext cx="288032" cy="2736304"/>
          </a:xfrm>
          <a:prstGeom prst="leftBrace">
            <a:avLst/>
          </a:prstGeom>
          <a:ln>
            <a:solidFill>
              <a:srgbClr val="1143C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1" name="TextBox 20"/>
          <p:cNvSpPr txBox="1"/>
          <p:nvPr/>
        </p:nvSpPr>
        <p:spPr>
          <a:xfrm>
            <a:off x="1763688" y="1275606"/>
            <a:ext cx="6624736" cy="646331"/>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行为人通过伪造中小学校印章，中小学生的成绩单等，为中小学生去国外就读骗取签证。</a:t>
            </a:r>
          </a:p>
        </p:txBody>
      </p:sp>
      <p:sp>
        <p:nvSpPr>
          <p:cNvPr id="22" name="TextBox 21"/>
          <p:cNvSpPr txBox="1"/>
          <p:nvPr/>
        </p:nvSpPr>
        <p:spPr>
          <a:xfrm>
            <a:off x="1799789" y="3075806"/>
            <a:ext cx="6984776" cy="923330"/>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行为人以劳务输出、经贸往来或者其他名义，弄虚作假，骗取护照、签证等出境证件的，但没有为组织他人偷越国（边）境使用，也并未触犯其他法条，不能认定犯罪。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（二）法律解读</a:t>
            </a:r>
          </a:p>
        </p:txBody>
      </p:sp>
      <p:sp>
        <p:nvSpPr>
          <p:cNvPr id="13"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1.4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骗取出境证件案件</a:t>
            </a:r>
          </a:p>
        </p:txBody>
      </p:sp>
      <p:sp>
        <p:nvSpPr>
          <p:cNvPr id="19" name="TextBox 18"/>
          <p:cNvSpPr txBox="1"/>
          <p:nvPr/>
        </p:nvSpPr>
        <p:spPr>
          <a:xfrm>
            <a:off x="888559" y="1635646"/>
            <a:ext cx="461665" cy="1800200"/>
          </a:xfrm>
          <a:prstGeom prst="rect">
            <a:avLst/>
          </a:prstGeom>
          <a:noFill/>
        </p:spPr>
        <p:txBody>
          <a:bodyPr vert="eaVert"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情节严重</a:t>
            </a:r>
          </a:p>
        </p:txBody>
      </p:sp>
      <p:sp>
        <p:nvSpPr>
          <p:cNvPr id="20" name="左大括号 19"/>
          <p:cNvSpPr/>
          <p:nvPr/>
        </p:nvSpPr>
        <p:spPr>
          <a:xfrm>
            <a:off x="1331640" y="1419622"/>
            <a:ext cx="288032" cy="2736304"/>
          </a:xfrm>
          <a:prstGeom prst="leftBrace">
            <a:avLst/>
          </a:prstGeom>
          <a:ln>
            <a:solidFill>
              <a:srgbClr val="1143C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1" name="TextBox 20"/>
          <p:cNvSpPr txBox="1"/>
          <p:nvPr/>
        </p:nvSpPr>
        <p:spPr>
          <a:xfrm>
            <a:off x="1763688" y="1347614"/>
            <a:ext cx="4392488"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骗取出境证件</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5</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份以上</a:t>
            </a:r>
          </a:p>
        </p:txBody>
      </p:sp>
      <p:sp>
        <p:nvSpPr>
          <p:cNvPr id="22" name="TextBox 21"/>
          <p:cNvSpPr txBox="1"/>
          <p:nvPr/>
        </p:nvSpPr>
        <p:spPr>
          <a:xfrm>
            <a:off x="1835696" y="2139702"/>
            <a:ext cx="5832648"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非法收取费用</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30</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万元以上</a:t>
            </a:r>
          </a:p>
        </p:txBody>
      </p:sp>
      <p:sp>
        <p:nvSpPr>
          <p:cNvPr id="24" name="TextBox 23"/>
          <p:cNvSpPr txBox="1"/>
          <p:nvPr/>
        </p:nvSpPr>
        <p:spPr>
          <a:xfrm>
            <a:off x="1907704" y="2931790"/>
            <a:ext cx="60486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明知是国家规定不准出境的人员而为其骗取出境证件的；</a:t>
            </a:r>
          </a:p>
        </p:txBody>
      </p:sp>
      <p:sp>
        <p:nvSpPr>
          <p:cNvPr id="10" name="TextBox 9"/>
          <p:cNvSpPr txBox="1"/>
          <p:nvPr/>
        </p:nvSpPr>
        <p:spPr>
          <a:xfrm>
            <a:off x="1979712" y="3795886"/>
            <a:ext cx="388843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其他</a:t>
            </a:r>
          </a:p>
        </p:txBody>
      </p:sp>
      <p:sp>
        <p:nvSpPr>
          <p:cNvPr id="3" name="文本框 2"/>
          <p:cNvSpPr txBox="1"/>
          <p:nvPr/>
        </p:nvSpPr>
        <p:spPr>
          <a:xfrm>
            <a:off x="2843808" y="712316"/>
            <a:ext cx="5472608" cy="923330"/>
          </a:xfrm>
          <a:prstGeom prst="rect">
            <a:avLst/>
          </a:prstGeom>
          <a:noFill/>
        </p:spPr>
        <p:txBody>
          <a:bodyPr wrap="square">
            <a:spAutoFit/>
          </a:bodyPr>
          <a:lstStyle/>
          <a:p>
            <a:r>
              <a:rPr lang="zh-CN" altLang="en-US" dirty="0"/>
              <a:t>情节严重的，处三年以上十年以下有期徒刑，并处罚金。</a:t>
            </a:r>
            <a:br>
              <a:rPr lang="zh-CN" altLang="en-US" dirty="0"/>
            </a:b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horizont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4" grpId="0"/>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67544" y="699542"/>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（一）法律依据</a:t>
            </a:r>
          </a:p>
        </p:txBody>
      </p:sp>
      <p:sp>
        <p:nvSpPr>
          <p:cNvPr id="28" name="矩形 27"/>
          <p:cNvSpPr/>
          <p:nvPr/>
        </p:nvSpPr>
        <p:spPr>
          <a:xfrm>
            <a:off x="395536" y="1275606"/>
            <a:ext cx="2952328" cy="369332"/>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中华人民共和国刑法</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p>
        </p:txBody>
      </p:sp>
      <p:sp>
        <p:nvSpPr>
          <p:cNvPr id="14" name="TextBox 13"/>
          <p:cNvSpPr txBox="1"/>
          <p:nvPr/>
        </p:nvSpPr>
        <p:spPr>
          <a:xfrm>
            <a:off x="251520" y="1851670"/>
            <a:ext cx="8136904" cy="2031325"/>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第三百一十九条</a:t>
            </a:r>
            <a:r>
              <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以劳务输出、经贸往来或者其他名义，弄虚作假</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，骗取护照、签证等</a:t>
            </a:r>
            <a:r>
              <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出境证件</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，为组织他人偷越国（边）境使用的，处三年以下有期徒刑，并处罚金；情节严重的，处三年以上十年以下有期徒刑，并处罚金。</a:t>
            </a:r>
            <a:b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br>
            <a:b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b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　　</a:t>
            </a:r>
            <a:r>
              <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单位犯前款罪的</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，对单位判处罚金，并对其直接负责的主管人员和其他直接责任人员，依照前款的规定处罚。</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p:txBody>
      </p:sp>
      <p:sp>
        <p:nvSpPr>
          <p:cNvPr id="6"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1.4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骗取出境证件案件</a:t>
            </a:r>
          </a:p>
        </p:txBody>
      </p:sp>
    </p:spTree>
    <p:extLst>
      <p:ext uri="{BB962C8B-B14F-4D97-AF65-F5344CB8AC3E}">
        <p14:creationId xmlns:p14="http://schemas.microsoft.com/office/powerpoint/2010/main" val="18554145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31F23-3260-8680-C15F-6792E6C33FC8}"/>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F512A5A1-68EB-3514-58F8-6FFE2BB52513}"/>
              </a:ext>
            </a:extLst>
          </p:cNvPr>
          <p:cNvSpPr>
            <a:spLocks noGrp="1"/>
          </p:cNvSpPr>
          <p:nvPr>
            <p:ph idx="1"/>
          </p:nvPr>
        </p:nvSpPr>
        <p:spPr>
          <a:xfrm>
            <a:off x="357158" y="771551"/>
            <a:ext cx="8229600" cy="3672408"/>
          </a:xfrm>
        </p:spPr>
        <p:txBody>
          <a:bodyPr/>
          <a:lstStyle/>
          <a:p>
            <a:pPr marL="0" indent="0">
              <a:buNone/>
            </a:pPr>
            <a:r>
              <a:rPr lang="en-US" altLang="zh-CN" sz="2000" dirty="0"/>
              <a:t>3.</a:t>
            </a:r>
            <a:r>
              <a:rPr lang="zh-CN" altLang="en-US" sz="2000" dirty="0"/>
              <a:t>下列哪些行为可能构成骗取出境证件罪？（ ）</a:t>
            </a:r>
          </a:p>
          <a:p>
            <a:pPr marL="0" indent="0">
              <a:buNone/>
            </a:pPr>
            <a:r>
              <a:rPr lang="en-US" altLang="zh-CN" sz="2000" dirty="0"/>
              <a:t>A. </a:t>
            </a:r>
            <a:r>
              <a:rPr lang="zh-CN" altLang="en-US" sz="2000" dirty="0"/>
              <a:t>甲为了出国旅游，向旅行社提供了伪造的银行存款证明，成功获得了某国旅游签证。</a:t>
            </a:r>
          </a:p>
          <a:p>
            <a:pPr marL="0" indent="0">
              <a:buNone/>
            </a:pPr>
            <a:r>
              <a:rPr lang="en-US" altLang="zh-CN" sz="2000" dirty="0"/>
              <a:t>B. </a:t>
            </a:r>
            <a:r>
              <a:rPr lang="zh-CN" altLang="en-US" sz="2000" dirty="0"/>
              <a:t>乙为了让不符合条件的儿子出国留学，向某国大使馆递交了其儿子虚假的成绩单和伪造的语言能力证书，并谎称其子有亲属在该国作为经济担保，最终使其子获得了留学签证。</a:t>
            </a:r>
          </a:p>
          <a:p>
            <a:pPr marL="0" indent="0">
              <a:buNone/>
            </a:pPr>
            <a:r>
              <a:rPr lang="en-US" altLang="zh-CN" sz="2000" dirty="0"/>
              <a:t>C. </a:t>
            </a:r>
            <a:r>
              <a:rPr lang="zh-CN" altLang="en-US" sz="2000" dirty="0"/>
              <a:t>丙系某公司人事，受领导丁指使，为公司多名不符合因公出境条件的员工，统一编造虚假出国考察理由和行程，并向出入境管理部门申请办理了因公护照和出境证明。</a:t>
            </a:r>
          </a:p>
          <a:p>
            <a:pPr marL="0" indent="0">
              <a:buNone/>
            </a:pPr>
            <a:r>
              <a:rPr lang="en-US" altLang="zh-CN" sz="2000" dirty="0"/>
              <a:t>D. </a:t>
            </a:r>
            <a:r>
              <a:rPr lang="zh-CN" altLang="en-US" sz="2000" dirty="0"/>
              <a:t>戊明知自己有不准出境的情形，但在申请护照时，故意隐瞒该事实，并在相关栏目中作虚假填写，最终获得了护照。</a:t>
            </a:r>
          </a:p>
        </p:txBody>
      </p:sp>
      <p:sp>
        <p:nvSpPr>
          <p:cNvPr id="5" name="文本框 4">
            <a:extLst>
              <a:ext uri="{FF2B5EF4-FFF2-40B4-BE49-F238E27FC236}">
                <a16:creationId xmlns:a16="http://schemas.microsoft.com/office/drawing/2014/main" id="{2B2A75A6-6E12-B153-EBF6-092568027F5D}"/>
              </a:ext>
            </a:extLst>
          </p:cNvPr>
          <p:cNvSpPr txBox="1"/>
          <p:nvPr/>
        </p:nvSpPr>
        <p:spPr>
          <a:xfrm>
            <a:off x="3635896" y="195486"/>
            <a:ext cx="736099" cy="369332"/>
          </a:xfrm>
          <a:prstGeom prst="rect">
            <a:avLst/>
          </a:prstGeom>
          <a:noFill/>
        </p:spPr>
        <p:txBody>
          <a:bodyPr wrap="none" rtlCol="0">
            <a:spAutoFit/>
          </a:bodyPr>
          <a:lstStyle/>
          <a:p>
            <a:r>
              <a:rPr lang="en-US" altLang="zh-CN" dirty="0">
                <a:solidFill>
                  <a:srgbClr val="FF0000"/>
                </a:solidFill>
              </a:rPr>
              <a:t>B</a:t>
            </a:r>
            <a:r>
              <a:rPr lang="zh-CN" altLang="en-US" dirty="0">
                <a:solidFill>
                  <a:srgbClr val="FF0000"/>
                </a:solidFill>
              </a:rPr>
              <a:t>、</a:t>
            </a:r>
            <a:r>
              <a:rPr lang="en-US" altLang="zh-CN" dirty="0"/>
              <a:t>C</a:t>
            </a:r>
            <a:endParaRPr lang="zh-CN" altLang="en-US" dirty="0"/>
          </a:p>
        </p:txBody>
      </p:sp>
    </p:spTree>
    <p:extLst>
      <p:ext uri="{BB962C8B-B14F-4D97-AF65-F5344CB8AC3E}">
        <p14:creationId xmlns:p14="http://schemas.microsoft.com/office/powerpoint/2010/main" val="210304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DFBDA-E6C0-2A05-0AB9-7D03EF3A8FD1}"/>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5C4A44FF-21D0-A7F0-965B-33DF3E77C6EA}"/>
              </a:ext>
            </a:extLst>
          </p:cNvPr>
          <p:cNvSpPr>
            <a:spLocks noGrp="1"/>
          </p:cNvSpPr>
          <p:nvPr>
            <p:ph idx="1"/>
          </p:nvPr>
        </p:nvSpPr>
        <p:spPr>
          <a:xfrm>
            <a:off x="357158" y="771551"/>
            <a:ext cx="8463314" cy="2880319"/>
          </a:xfrm>
        </p:spPr>
        <p:txBody>
          <a:bodyPr/>
          <a:lstStyle/>
          <a:p>
            <a:pPr marL="0" indent="0">
              <a:buNone/>
            </a:pPr>
            <a:r>
              <a:rPr lang="en-US" altLang="zh-CN" sz="2000" dirty="0"/>
              <a:t>4.</a:t>
            </a:r>
            <a:r>
              <a:rPr lang="zh-CN" altLang="en-US" sz="2000" dirty="0"/>
              <a:t>关于骗取出境证件罪，下列说法正确的有？（ ）</a:t>
            </a:r>
          </a:p>
          <a:p>
            <a:pPr marL="0" indent="0">
              <a:buNone/>
            </a:pPr>
            <a:r>
              <a:rPr lang="en-US" altLang="zh-CN" sz="2000" dirty="0"/>
              <a:t>A. </a:t>
            </a:r>
            <a:r>
              <a:rPr lang="zh-CN" altLang="en-US" sz="2000" dirty="0"/>
              <a:t>本罪侵犯的客体是国家对国（边）境的正常管理秩序。</a:t>
            </a:r>
          </a:p>
          <a:p>
            <a:pPr marL="0" indent="0">
              <a:buNone/>
            </a:pPr>
            <a:r>
              <a:rPr lang="en-US" altLang="zh-CN" sz="2000" dirty="0"/>
              <a:t>B. </a:t>
            </a:r>
            <a:r>
              <a:rPr lang="zh-CN" altLang="en-US" sz="2000" dirty="0"/>
              <a:t>行为人只要实施了欺骗行为，无论是否成功获取出境证件，均构成本罪既遂。</a:t>
            </a:r>
          </a:p>
          <a:p>
            <a:pPr marL="0" indent="0">
              <a:buNone/>
            </a:pPr>
            <a:r>
              <a:rPr lang="en-US" altLang="zh-CN" sz="2000" dirty="0"/>
              <a:t>C. </a:t>
            </a:r>
            <a:r>
              <a:rPr lang="zh-CN" altLang="en-US" sz="2000" dirty="0"/>
              <a:t>本罪的主观方面必须是直接故意，即明知自己的行为会骗取国家出境证件，并且希望这种结果发生。</a:t>
            </a:r>
          </a:p>
          <a:p>
            <a:pPr marL="0" indent="0">
              <a:buNone/>
            </a:pPr>
            <a:r>
              <a:rPr lang="en-US" altLang="zh-CN" sz="2000" dirty="0"/>
              <a:t>D.</a:t>
            </a:r>
            <a:r>
              <a:rPr lang="zh-CN" altLang="en-US" sz="2000" dirty="0"/>
              <a:t>如果行为人骗取出境证件后，又持该证件组织他人偷越国（边）境，则应数罪并罚。</a:t>
            </a:r>
          </a:p>
        </p:txBody>
      </p:sp>
      <p:sp>
        <p:nvSpPr>
          <p:cNvPr id="2" name="文本框 1">
            <a:extLst>
              <a:ext uri="{FF2B5EF4-FFF2-40B4-BE49-F238E27FC236}">
                <a16:creationId xmlns:a16="http://schemas.microsoft.com/office/drawing/2014/main" id="{79C889DE-929B-99E9-7DD9-6D18D349E11C}"/>
              </a:ext>
            </a:extLst>
          </p:cNvPr>
          <p:cNvSpPr txBox="1"/>
          <p:nvPr/>
        </p:nvSpPr>
        <p:spPr>
          <a:xfrm>
            <a:off x="1043608" y="3939902"/>
            <a:ext cx="736099" cy="369332"/>
          </a:xfrm>
          <a:prstGeom prst="rect">
            <a:avLst/>
          </a:prstGeom>
          <a:noFill/>
        </p:spPr>
        <p:txBody>
          <a:bodyPr wrap="none" rtlCol="0">
            <a:spAutoFit/>
          </a:bodyPr>
          <a:lstStyle/>
          <a:p>
            <a:r>
              <a:rPr lang="en-US" altLang="zh-CN" dirty="0"/>
              <a:t>A</a:t>
            </a:r>
            <a:r>
              <a:rPr lang="zh-CN" altLang="en-US" dirty="0"/>
              <a:t>、</a:t>
            </a:r>
            <a:r>
              <a:rPr lang="en-US" altLang="zh-CN" dirty="0"/>
              <a:t>C</a:t>
            </a:r>
            <a:endParaRPr lang="zh-CN" altLang="en-US" dirty="0"/>
          </a:p>
        </p:txBody>
      </p:sp>
    </p:spTree>
    <p:extLst>
      <p:ext uri="{BB962C8B-B14F-4D97-AF65-F5344CB8AC3E}">
        <p14:creationId xmlns:p14="http://schemas.microsoft.com/office/powerpoint/2010/main" val="1427078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1.4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骗取出境证件案件</a:t>
            </a:r>
          </a:p>
        </p:txBody>
      </p:sp>
      <p:sp>
        <p:nvSpPr>
          <p:cNvPr id="4" name="文本框 3"/>
          <p:cNvSpPr txBox="1"/>
          <p:nvPr/>
        </p:nvSpPr>
        <p:spPr>
          <a:xfrm>
            <a:off x="539552" y="771550"/>
            <a:ext cx="1817870" cy="369332"/>
          </a:xfrm>
          <a:prstGeom prst="rect">
            <a:avLst/>
          </a:prstGeom>
          <a:solidFill>
            <a:schemeClr val="bg1">
              <a:lumMod val="65000"/>
            </a:schemeClr>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案情简介</a:t>
            </a:r>
          </a:p>
        </p:txBody>
      </p:sp>
      <p:sp>
        <p:nvSpPr>
          <p:cNvPr id="8" name="文本框 7"/>
          <p:cNvSpPr txBox="1"/>
          <p:nvPr/>
        </p:nvSpPr>
        <p:spPr>
          <a:xfrm>
            <a:off x="325120" y="1254760"/>
            <a:ext cx="3886840" cy="369332"/>
          </a:xfrm>
          <a:prstGeom prst="rect">
            <a:avLst/>
          </a:prstGeom>
          <a:noFill/>
          <a:ln>
            <a:solidFill>
              <a:srgbClr val="1143CF"/>
            </a:solidFill>
          </a:ln>
        </p:spPr>
        <p:txBody>
          <a:bodyPr wrap="square" rtlCol="0">
            <a:spAutoFit/>
          </a:bodyPr>
          <a:lstStyle/>
          <a:p>
            <a:pPr marL="342900" marR="0" lvl="0" indent="-342900" algn="just" defTabSz="914400" rtl="0" eaLnBrk="1" fontAlgn="base" latinLnBrk="0" hangingPunct="1">
              <a:lnSpc>
                <a:spcPct val="100000"/>
              </a:lnSpc>
              <a:spcBef>
                <a:spcPct val="0"/>
              </a:spcBef>
              <a:spcAft>
                <a:spcPct val="0"/>
              </a:spcAft>
              <a:buClrTx/>
              <a:buSzTx/>
              <a:buFontTx/>
              <a:buNone/>
              <a:defRPr/>
            </a:pPr>
            <a:r>
              <a:rPr kumimoji="1" lang="zh-CN" altLang="en-US" dirty="0">
                <a:solidFill>
                  <a:srgbClr val="000000"/>
                </a:solidFill>
                <a:latin typeface="微软雅黑" panose="020B0503020204020204" charset="-122"/>
                <a:ea typeface="微软雅黑" panose="020B0503020204020204" charset="-122"/>
                <a:cs typeface="+mn-ea"/>
              </a:rPr>
              <a:t>施某</a:t>
            </a:r>
            <a:r>
              <a:rPr kumimoji="1"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某（美国籍）骗取出境证件案件</a:t>
            </a:r>
            <a:endParaRPr kumimoji="1" 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
        <p:nvSpPr>
          <p:cNvPr id="12" name="TextBox 11"/>
          <p:cNvSpPr txBox="1"/>
          <p:nvPr/>
        </p:nvSpPr>
        <p:spPr>
          <a:xfrm>
            <a:off x="323528" y="1851670"/>
            <a:ext cx="8496944" cy="2246769"/>
          </a:xfrm>
          <a:prstGeom prst="rect">
            <a:avLst/>
          </a:prstGeom>
          <a:noFill/>
          <a:ln>
            <a:solidFill>
              <a:srgbClr val="1143CF"/>
            </a:solidFill>
          </a:ln>
        </p:spPr>
        <p:txBody>
          <a:bodyPr wrap="square" rtlCol="0">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2010</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年间，被告人王某某伙同被告人曹某某、施某某采用伪造证明材料、骗取赴美签证等方式组织中国籍人员方某某、权某某等</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5</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人于</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2010</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年</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6</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月、</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7</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月由上海浦东国际机场偷渡出境至美国。其间，曹某某负责引带偷渡人员至领馆面签、陪同偷渡人员出境等；施某某为部分偷渡人员提供伪假材料骗取签证并收取费用。上述偷渡人员抵美后均非法居留。</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2013</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年</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8</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月</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13</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日、</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8</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月</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15</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日，王某某、曹某某主动到案并如实供述了犯罪事实；同年</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8</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月</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22</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日，施某某归案后亦如实供述罪行。</a:t>
            </a:r>
          </a:p>
        </p:txBody>
      </p:sp>
    </p:spTree>
    <p:extLst>
      <p:ext uri="{BB962C8B-B14F-4D97-AF65-F5344CB8AC3E}">
        <p14:creationId xmlns:p14="http://schemas.microsoft.com/office/powerpoint/2010/main" val="12732517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1.4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骗取出境证件案件</a:t>
            </a:r>
          </a:p>
        </p:txBody>
      </p:sp>
      <p:sp>
        <p:nvSpPr>
          <p:cNvPr id="4" name="文本框 3"/>
          <p:cNvSpPr txBox="1"/>
          <p:nvPr/>
        </p:nvSpPr>
        <p:spPr>
          <a:xfrm>
            <a:off x="539552" y="771550"/>
            <a:ext cx="1817870" cy="369332"/>
          </a:xfrm>
          <a:prstGeom prst="rect">
            <a:avLst/>
          </a:prstGeom>
          <a:solidFill>
            <a:schemeClr val="bg1">
              <a:lumMod val="65000"/>
            </a:schemeClr>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案情简介</a:t>
            </a:r>
          </a:p>
        </p:txBody>
      </p:sp>
      <p:sp>
        <p:nvSpPr>
          <p:cNvPr id="12" name="TextBox 11"/>
          <p:cNvSpPr txBox="1"/>
          <p:nvPr/>
        </p:nvSpPr>
        <p:spPr>
          <a:xfrm>
            <a:off x="323528" y="1851670"/>
            <a:ext cx="8496944" cy="707886"/>
          </a:xfrm>
          <a:prstGeom prst="rect">
            <a:avLst/>
          </a:prstGeom>
          <a:noFill/>
          <a:ln>
            <a:solidFill>
              <a:srgbClr val="1143CF"/>
            </a:solidFill>
          </a:ln>
        </p:spPr>
        <p:txBody>
          <a:bodyPr wrap="square" rtlCol="0">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被告人王某某犯组织他人偷越国（边）境罪，判处有期徒刑二年，并处罚金人民币二万元；</a:t>
            </a:r>
          </a:p>
        </p:txBody>
      </p:sp>
      <p:sp>
        <p:nvSpPr>
          <p:cNvPr id="2" name="TextBox 11"/>
          <p:cNvSpPr txBox="1"/>
          <p:nvPr/>
        </p:nvSpPr>
        <p:spPr>
          <a:xfrm>
            <a:off x="328538" y="2884140"/>
            <a:ext cx="8496944" cy="707886"/>
          </a:xfrm>
          <a:prstGeom prst="rect">
            <a:avLst/>
          </a:prstGeom>
          <a:noFill/>
          <a:ln>
            <a:solidFill>
              <a:srgbClr val="1143CF"/>
            </a:solidFill>
          </a:ln>
        </p:spPr>
        <p:txBody>
          <a:bodyPr wrap="square" rtlCol="0">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lang="en-US" altLang="zh-CN" sz="2000" dirty="0">
                <a:solidFill>
                  <a:srgbClr val="000000"/>
                </a:solidFill>
              </a:rPr>
              <a:t>2</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被告人曹某某犯组织他人偷越国（边）境罪，判处有期徒刑九个月，缓刑一年，并处罚金人民币五千元；</a:t>
            </a:r>
          </a:p>
        </p:txBody>
      </p:sp>
      <p:sp>
        <p:nvSpPr>
          <p:cNvPr id="5" name="TextBox 11"/>
          <p:cNvSpPr txBox="1"/>
          <p:nvPr/>
        </p:nvSpPr>
        <p:spPr>
          <a:xfrm>
            <a:off x="323528" y="3809563"/>
            <a:ext cx="8496944" cy="707886"/>
          </a:xfrm>
          <a:prstGeom prst="rect">
            <a:avLst/>
          </a:prstGeom>
          <a:noFill/>
          <a:ln>
            <a:solidFill>
              <a:srgbClr val="1143CF"/>
            </a:solidFill>
          </a:ln>
        </p:spPr>
        <p:txBody>
          <a:bodyPr wrap="square" rtlCol="0">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a:t>
            </a:r>
            <a:r>
              <a:rPr lang="zh-CN" altLang="en-US" sz="2000" b="0" i="0" dirty="0">
                <a:solidFill>
                  <a:srgbClr val="333333"/>
                </a:solidFill>
                <a:effectLst/>
                <a:latin typeface="宋体" panose="02010600030101010101" pitchFamily="2" charset="-122"/>
                <a:ea typeface="宋体" panose="02010600030101010101" pitchFamily="2" charset="-122"/>
              </a:rPr>
              <a:t>被告人施某某犯</a:t>
            </a:r>
            <a:r>
              <a:rPr lang="zh-CN" altLang="en-US" sz="2000" b="0" i="0" dirty="0">
                <a:effectLst/>
                <a:latin typeface="宋体" panose="02010600030101010101" pitchFamily="2" charset="-122"/>
                <a:ea typeface="宋体" panose="02010600030101010101" pitchFamily="2" charset="-122"/>
              </a:rPr>
              <a:t>骗取出境证件罪</a:t>
            </a:r>
            <a:r>
              <a:rPr lang="zh-CN" altLang="en-US" sz="2000" b="0" i="0" dirty="0">
                <a:solidFill>
                  <a:srgbClr val="333333"/>
                </a:solidFill>
                <a:effectLst/>
                <a:latin typeface="宋体" panose="02010600030101010101" pitchFamily="2" charset="-122"/>
                <a:ea typeface="宋体" panose="02010600030101010101" pitchFamily="2" charset="-122"/>
              </a:rPr>
              <a:t>，判处有期徒刑九个月，缓刑一年，并处罚金人民币三千元。</a:t>
            </a:r>
            <a:endPar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p:txBody>
      </p:sp>
    </p:spTree>
    <p:extLst>
      <p:ext uri="{BB962C8B-B14F-4D97-AF65-F5344CB8AC3E}">
        <p14:creationId xmlns:p14="http://schemas.microsoft.com/office/powerpoint/2010/main" val="25264611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1428728" y="2214560"/>
            <a:ext cx="6429420" cy="58477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rPr>
              <a:t>1. 5 </a:t>
            </a:r>
            <a:r>
              <a:rPr kumimoji="0" lang="zh-CN" altLang="en-US" sz="32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rPr>
              <a:t>提供伪造、变造出入境证件罪</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（一）法律依据</a:t>
            </a:r>
          </a:p>
        </p:txBody>
      </p:sp>
      <p:sp>
        <p:nvSpPr>
          <p:cNvPr id="28" name="矩形 27"/>
          <p:cNvSpPr/>
          <p:nvPr/>
        </p:nvSpPr>
        <p:spPr>
          <a:xfrm>
            <a:off x="428596" y="1142990"/>
            <a:ext cx="8286808" cy="369332"/>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中华人民共和国刑法</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p>
        </p:txBody>
      </p:sp>
      <p:sp>
        <p:nvSpPr>
          <p:cNvPr id="12" name="矩形 11"/>
          <p:cNvSpPr/>
          <p:nvPr/>
        </p:nvSpPr>
        <p:spPr>
          <a:xfrm>
            <a:off x="395536" y="1563638"/>
            <a:ext cx="8208912" cy="646331"/>
          </a:xfrm>
          <a:prstGeom prst="rect">
            <a:avLst/>
          </a:prstGeom>
          <a:ln>
            <a:solidFill>
              <a:srgbClr val="1143CF"/>
            </a:solidFill>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第</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320</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条规定，为他人提供伪造、变造的护照、签证等出入境证件的，处五年以下有期徒刑，并处罚金；</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情节严重的</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，处五年以上有期徒刑，并处罚金。</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p:txBody>
      </p:sp>
      <p:sp>
        <p:nvSpPr>
          <p:cNvPr id="7"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1. 5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提供伪造、变造出入境证件罪</a:t>
            </a:r>
          </a:p>
        </p:txBody>
      </p:sp>
      <p:sp>
        <p:nvSpPr>
          <p:cNvPr id="8" name="矩形 7"/>
          <p:cNvSpPr/>
          <p:nvPr/>
        </p:nvSpPr>
        <p:spPr>
          <a:xfrm>
            <a:off x="395536" y="3003798"/>
            <a:ext cx="8208912" cy="1200329"/>
          </a:xfrm>
          <a:prstGeom prst="rect">
            <a:avLst/>
          </a:prstGeom>
          <a:ln>
            <a:solidFill>
              <a:srgbClr val="1143CF"/>
            </a:solidFill>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 </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为他人提供伪造、变造的出入境证件</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五份</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以上的；</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 </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非法收取费用</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三十万元</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以上的；</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 </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明知是国家规定的</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不准出入境的人员</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而为其提供伪造、变造的出入境证件的；</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4. </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其他情节严重的情形。</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p:txBody>
      </p:sp>
      <p:cxnSp>
        <p:nvCxnSpPr>
          <p:cNvPr id="9" name="直线箭头连接符 5"/>
          <p:cNvCxnSpPr/>
          <p:nvPr/>
        </p:nvCxnSpPr>
        <p:spPr>
          <a:xfrm>
            <a:off x="3347864" y="2211710"/>
            <a:ext cx="216024" cy="720080"/>
          </a:xfrm>
          <a:prstGeom prst="straightConnector1">
            <a:avLst/>
          </a:prstGeom>
          <a:ln>
            <a:solidFill>
              <a:srgbClr val="3875A8"/>
            </a:solidFill>
            <a:prstDash val="sysDash"/>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（二）法律解读</a:t>
            </a:r>
          </a:p>
        </p:txBody>
      </p:sp>
      <p:sp>
        <p:nvSpPr>
          <p:cNvPr id="19" name="TextBox 18"/>
          <p:cNvSpPr txBox="1"/>
          <p:nvPr/>
        </p:nvSpPr>
        <p:spPr>
          <a:xfrm>
            <a:off x="888559" y="1635646"/>
            <a:ext cx="461665" cy="1800200"/>
          </a:xfrm>
          <a:prstGeom prst="rect">
            <a:avLst/>
          </a:prstGeom>
          <a:noFill/>
        </p:spPr>
        <p:txBody>
          <a:bodyPr vert="eaVert"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构成要件</a:t>
            </a:r>
          </a:p>
        </p:txBody>
      </p:sp>
      <p:sp>
        <p:nvSpPr>
          <p:cNvPr id="20" name="左大括号 19"/>
          <p:cNvSpPr/>
          <p:nvPr/>
        </p:nvSpPr>
        <p:spPr>
          <a:xfrm>
            <a:off x="1331640" y="1419622"/>
            <a:ext cx="288032" cy="3240360"/>
          </a:xfrm>
          <a:prstGeom prst="leftBrace">
            <a:avLst/>
          </a:prstGeom>
          <a:ln>
            <a:solidFill>
              <a:srgbClr val="1143C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1" name="TextBox 20"/>
          <p:cNvSpPr txBox="1"/>
          <p:nvPr/>
        </p:nvSpPr>
        <p:spPr>
          <a:xfrm>
            <a:off x="1763688" y="1347614"/>
            <a:ext cx="712879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主体：一般主体，达到刑事责任年龄、具有刑事责任能力的自然人 。</a:t>
            </a:r>
          </a:p>
        </p:txBody>
      </p:sp>
      <p:sp>
        <p:nvSpPr>
          <p:cNvPr id="22" name="TextBox 21"/>
          <p:cNvSpPr txBox="1"/>
          <p:nvPr/>
        </p:nvSpPr>
        <p:spPr>
          <a:xfrm>
            <a:off x="1691680" y="1779662"/>
            <a:ext cx="7200800" cy="92333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主观方面出于故意，即行为人明知将伪造、变造的出入境 证件提供给他人 会造成破坏我国出入境证件管理制度的危害结果，却仍然实施这一行为。</a:t>
            </a:r>
          </a:p>
        </p:txBody>
      </p:sp>
      <p:sp>
        <p:nvSpPr>
          <p:cNvPr id="24" name="TextBox 23"/>
          <p:cNvSpPr txBox="1"/>
          <p:nvPr/>
        </p:nvSpPr>
        <p:spPr>
          <a:xfrm>
            <a:off x="1691680" y="2715767"/>
            <a:ext cx="7056784" cy="201622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客观方面：行为人实施了为他人提供伪造、变造的护照、签证等出入境证件的行为。</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342900" marR="0" lvl="0" indent="-342900" algn="l" defTabSz="914400" rtl="0" eaLnBrk="1" fontAlgn="base" latinLnBrk="0" hangingPunct="1">
              <a:lnSpc>
                <a:spcPct val="100000"/>
              </a:lnSpc>
              <a:spcBef>
                <a:spcPct val="0"/>
              </a:spcBef>
              <a:spcAft>
                <a:spcPct val="0"/>
              </a:spcAft>
              <a:buClrTx/>
              <a:buSzTx/>
              <a:buFontTx/>
              <a:buAutoNum type="arabicPeriod"/>
              <a:defRPr/>
            </a:pPr>
            <a:r>
              <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提供既可以有偿的，也可以无偿的；</a:t>
            </a:r>
            <a:endParaRPr kumimoji="0" lang="en-US"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endParaRPr>
          </a:p>
          <a:p>
            <a:pPr marL="342900" marR="0" lvl="0" indent="-342900" algn="l" defTabSz="914400" rtl="0" eaLnBrk="1" fontAlgn="base" latinLnBrk="0" hangingPunct="1">
              <a:lnSpc>
                <a:spcPct val="100000"/>
              </a:lnSpc>
              <a:spcBef>
                <a:spcPct val="0"/>
              </a:spcBef>
              <a:spcAft>
                <a:spcPct val="0"/>
              </a:spcAft>
              <a:buClrTx/>
              <a:buSzTx/>
              <a:buFontTx/>
              <a:buAutoNum type="arabicPeriod"/>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 </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所提供的是伪造、变造的出入境证件。伪造系指无权主体非法制作假的出入境证件；变造是指用剪贴、挖补、揭换、涂改、抹擦、拼接等方法，对真实的出入境证件进行改制，改变其真实内容的活动。</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 </a:t>
            </a:r>
            <a:r>
              <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提供给他人使用</a:t>
            </a:r>
          </a:p>
        </p:txBody>
      </p:sp>
      <p:sp>
        <p:nvSpPr>
          <p:cNvPr id="10"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1. 5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提供伪造、变造出入境证件罪</a:t>
            </a:r>
          </a:p>
        </p:txBody>
      </p:sp>
      <p:sp>
        <p:nvSpPr>
          <p:cNvPr id="12" name="TextBox 11"/>
          <p:cNvSpPr txBox="1"/>
          <p:nvPr/>
        </p:nvSpPr>
        <p:spPr>
          <a:xfrm>
            <a:off x="1691680" y="4803998"/>
            <a:ext cx="518457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客体：国家对出入境证件的管理制度。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horizont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1"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linds(horizontal)">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horizontal)">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2" grpId="0"/>
      <p:bldP spid="22" grpId="1"/>
      <p:bldP spid="24" grpId="0"/>
      <p:bldP spid="24" grpId="1"/>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95536" y="940911"/>
            <a:ext cx="6984776" cy="646331"/>
          </a:xfrm>
          <a:prstGeom prst="rect">
            <a:avLst/>
          </a:prstGeom>
          <a:ln>
            <a:solidFill>
              <a:srgbClr val="1143CF"/>
            </a:solidFill>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7030A0"/>
                </a:solidFill>
                <a:effectLst/>
                <a:uLnTx/>
                <a:uFillTx/>
                <a:latin typeface="Arial" panose="020B0604020202020204" pitchFamily="34" charset="0"/>
                <a:ea typeface="微软雅黑" panose="020B0503020204020204" charset="-122"/>
              </a:rPr>
              <a:t>问题一：行为人伪造、变造出入境证件，又向他人提供伪造、变造的出入境证件，该如何认定？</a:t>
            </a:r>
          </a:p>
        </p:txBody>
      </p:sp>
      <p:sp>
        <p:nvSpPr>
          <p:cNvPr id="7"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1. 5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提供伪造、变造出入境证件罪</a:t>
            </a:r>
          </a:p>
        </p:txBody>
      </p:sp>
      <p:sp>
        <p:nvSpPr>
          <p:cNvPr id="2" name="文本框 1"/>
          <p:cNvSpPr txBox="1"/>
          <p:nvPr/>
        </p:nvSpPr>
        <p:spPr>
          <a:xfrm>
            <a:off x="467544" y="1923678"/>
            <a:ext cx="6984776"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牵连犯：以</a:t>
            </a:r>
            <a:r>
              <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伪造、变造国家机关证件、印章罪</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与本罪，按照牵连犯处理。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1. 5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提供伪造、变造出入境证件罪</a:t>
            </a:r>
          </a:p>
        </p:txBody>
      </p:sp>
      <p:sp>
        <p:nvSpPr>
          <p:cNvPr id="4" name="文本框 3"/>
          <p:cNvSpPr txBox="1"/>
          <p:nvPr/>
        </p:nvSpPr>
        <p:spPr>
          <a:xfrm>
            <a:off x="539552" y="771550"/>
            <a:ext cx="1817870" cy="369332"/>
          </a:xfrm>
          <a:prstGeom prst="rect">
            <a:avLst/>
          </a:prstGeom>
          <a:solidFill>
            <a:schemeClr val="bg1">
              <a:lumMod val="65000"/>
            </a:schemeClr>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案情简介</a:t>
            </a:r>
          </a:p>
        </p:txBody>
      </p:sp>
      <p:sp>
        <p:nvSpPr>
          <p:cNvPr id="12" name="TextBox 11"/>
          <p:cNvSpPr txBox="1"/>
          <p:nvPr/>
        </p:nvSpPr>
        <p:spPr>
          <a:xfrm>
            <a:off x="179512" y="1347614"/>
            <a:ext cx="8496944" cy="369332"/>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 被告人：陈某，男，</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59</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岁，原籍福建省南安县人，菲律宾共和国人，商人。</a:t>
            </a:r>
          </a:p>
        </p:txBody>
      </p:sp>
      <p:sp>
        <p:nvSpPr>
          <p:cNvPr id="8" name="TextBox 7"/>
          <p:cNvSpPr txBox="1"/>
          <p:nvPr/>
        </p:nvSpPr>
        <p:spPr>
          <a:xfrm>
            <a:off x="179512" y="1851670"/>
            <a:ext cx="8424936" cy="369332"/>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被告人：高某，男，</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38</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岁，台湾省台北县人，商人。</a:t>
            </a:r>
          </a:p>
        </p:txBody>
      </p:sp>
      <p:sp>
        <p:nvSpPr>
          <p:cNvPr id="9" name="TextBox 8"/>
          <p:cNvSpPr txBox="1"/>
          <p:nvPr/>
        </p:nvSpPr>
        <p:spPr>
          <a:xfrm>
            <a:off x="179512" y="2427734"/>
            <a:ext cx="8640960" cy="203132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福建省厦门市人民检察院</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2015</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年指控称：被告人陈某于</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2013</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年底在为被告人高某非法办理过一本菲律宾护照的中国签证后，向被告人高某提议共同贩卖假护照牟利，当即得到高某的应允。</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2014</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年</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4</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月至</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2015</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年</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4</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月间，由被告人高某物色了林某、周某、郑某、缪某等欲出境人员，并收集这些人员相片等资料提供给陈某，尔后由陈某通过菲律宾非法途径购得假护照，每本以人民币</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1.5</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万元至</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万元不等价格进行贩卖，从中牟利，共收取林某等</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4</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人人民币</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6.55</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 万元。另被告人陈某、高某还收取包某、王某等人购买假护照定金人民币</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万元、美元</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700</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元。</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1. 5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提供伪造、变造出入境证件罪</a:t>
            </a:r>
          </a:p>
        </p:txBody>
      </p:sp>
      <p:sp>
        <p:nvSpPr>
          <p:cNvPr id="4" name="文本框 3"/>
          <p:cNvSpPr txBox="1"/>
          <p:nvPr/>
        </p:nvSpPr>
        <p:spPr>
          <a:xfrm>
            <a:off x="539552" y="771550"/>
            <a:ext cx="1817870" cy="369332"/>
          </a:xfrm>
          <a:prstGeom prst="rect">
            <a:avLst/>
          </a:prstGeom>
          <a:solidFill>
            <a:schemeClr val="bg1">
              <a:lumMod val="65000"/>
            </a:schemeClr>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案情分析</a:t>
            </a:r>
          </a:p>
        </p:txBody>
      </p:sp>
      <p:sp>
        <p:nvSpPr>
          <p:cNvPr id="9" name="TextBox 8"/>
          <p:cNvSpPr txBox="1"/>
          <p:nvPr/>
        </p:nvSpPr>
        <p:spPr>
          <a:xfrm>
            <a:off x="179512" y="1419622"/>
            <a:ext cx="8640960" cy="646331"/>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本案中，被告人陈某、高某以营利为目的，积极为他人购置假护照提供联络、交接服务，从中非法牟利，其行为已构成提供伪造、变造出入境证件罪，系共同犯罪。</a:t>
            </a:r>
          </a:p>
        </p:txBody>
      </p:sp>
      <p:sp>
        <p:nvSpPr>
          <p:cNvPr id="7" name="TextBox 6"/>
          <p:cNvSpPr txBox="1"/>
          <p:nvPr/>
        </p:nvSpPr>
        <p:spPr>
          <a:xfrm>
            <a:off x="251520" y="2355726"/>
            <a:ext cx="8496944" cy="203132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判决：</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。陈某犯提供伪造、变造出入境证件罪，判处有期徒刑</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年，驱逐出境，罚金人民币</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万元。</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      高某犯提供伪造、变造出入境证件罪，判处有期徒刑</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8</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个月，罚金人民币</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万元。</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 追缴陈某非法所得人民币</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4.9</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万元，美元</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700</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元，追缴被告人高某非法所得</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3.65</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万元。</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 </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随案移送的高某、陈某用于作案的手机</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部予以没收。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1AEA2-38B1-1586-B7F7-93780F855A29}"/>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B6FAD6D8-D11E-828C-5616-6959343E09B7}"/>
              </a:ext>
            </a:extLst>
          </p:cNvPr>
          <p:cNvSpPr>
            <a:spLocks noGrp="1"/>
          </p:cNvSpPr>
          <p:nvPr>
            <p:ph idx="1"/>
          </p:nvPr>
        </p:nvSpPr>
        <p:spPr>
          <a:xfrm>
            <a:off x="357158" y="771551"/>
            <a:ext cx="8229600" cy="3384375"/>
          </a:xfrm>
        </p:spPr>
        <p:txBody>
          <a:bodyPr/>
          <a:lstStyle/>
          <a:p>
            <a:pPr marL="0" indent="0">
              <a:buNone/>
            </a:pPr>
            <a:r>
              <a:rPr lang="en-US" altLang="zh-CN" sz="2000" dirty="0"/>
              <a:t>5.</a:t>
            </a:r>
            <a:r>
              <a:rPr lang="zh-CN" altLang="en-US" sz="2000" dirty="0"/>
              <a:t>根据我国刑法规定，下列哪些行为可能构成“提供伪造、变造的出入境证件罪”？（ ）</a:t>
            </a:r>
          </a:p>
          <a:p>
            <a:pPr marL="0" indent="0">
              <a:buNone/>
            </a:pPr>
            <a:r>
              <a:rPr lang="en-US" altLang="zh-CN" sz="2000" dirty="0"/>
              <a:t>A. </a:t>
            </a:r>
            <a:r>
              <a:rPr lang="zh-CN" altLang="en-US" sz="2000" dirty="0"/>
              <a:t>甲从非法渠道购买了一批伪造的外国签证，然后将其出售给想要偷渡的人员。</a:t>
            </a:r>
          </a:p>
          <a:p>
            <a:pPr marL="0" indent="0">
              <a:buNone/>
            </a:pPr>
            <a:r>
              <a:rPr lang="en-US" altLang="zh-CN" sz="2000" dirty="0"/>
              <a:t>B. </a:t>
            </a:r>
            <a:r>
              <a:rPr lang="zh-CN" altLang="en-US" sz="2000" dirty="0"/>
              <a:t>乙捡到一张他人遗失的护照，将护照上的照片更换成其朋友的照片后，交给其朋友使用。</a:t>
            </a:r>
          </a:p>
          <a:p>
            <a:pPr marL="0" indent="0">
              <a:buNone/>
            </a:pPr>
            <a:r>
              <a:rPr lang="en-US" altLang="zh-CN" sz="2000" dirty="0"/>
              <a:t>C. </a:t>
            </a:r>
            <a:r>
              <a:rPr lang="zh-CN" altLang="en-US" sz="2000" dirty="0"/>
              <a:t>丙自己伪造了一张边境管理区通行证，然后提供给其亲戚，帮助其进入边境管理区从事非法活动。</a:t>
            </a:r>
          </a:p>
          <a:p>
            <a:pPr marL="0" indent="0">
              <a:buNone/>
            </a:pPr>
            <a:r>
              <a:rPr lang="en-US" altLang="zh-CN" sz="2000" dirty="0"/>
              <a:t>D. </a:t>
            </a:r>
            <a:r>
              <a:rPr lang="zh-CN" altLang="en-US" sz="2000" dirty="0"/>
              <a:t>丁作为中介，明知上家提供的是伪造的护照，仍提供给多人“出国务工”。</a:t>
            </a:r>
          </a:p>
        </p:txBody>
      </p:sp>
      <p:sp>
        <p:nvSpPr>
          <p:cNvPr id="2" name="文本框 1">
            <a:extLst>
              <a:ext uri="{FF2B5EF4-FFF2-40B4-BE49-F238E27FC236}">
                <a16:creationId xmlns:a16="http://schemas.microsoft.com/office/drawing/2014/main" id="{08E7ABCF-65C3-67D2-8DE2-069B4DF18089}"/>
              </a:ext>
            </a:extLst>
          </p:cNvPr>
          <p:cNvSpPr txBox="1"/>
          <p:nvPr/>
        </p:nvSpPr>
        <p:spPr>
          <a:xfrm>
            <a:off x="1187624" y="4371950"/>
            <a:ext cx="825867" cy="369332"/>
          </a:xfrm>
          <a:prstGeom prst="rect">
            <a:avLst/>
          </a:prstGeom>
          <a:noFill/>
        </p:spPr>
        <p:txBody>
          <a:bodyPr wrap="none" rtlCol="0">
            <a:spAutoFit/>
          </a:bodyPr>
          <a:lstStyle/>
          <a:p>
            <a:r>
              <a:rPr lang="en-US" altLang="zh-CN" dirty="0"/>
              <a:t>ABCD</a:t>
            </a:r>
            <a:endParaRPr lang="zh-CN" altLang="en-US" dirty="0"/>
          </a:p>
        </p:txBody>
      </p:sp>
    </p:spTree>
    <p:extLst>
      <p:ext uri="{BB962C8B-B14F-4D97-AF65-F5344CB8AC3E}">
        <p14:creationId xmlns:p14="http://schemas.microsoft.com/office/powerpoint/2010/main" val="273685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30CA5-1F3E-9F6B-0EA1-D747BC91B10B}"/>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F5386DBF-A56A-8A2B-4D9B-27BB16307670}"/>
              </a:ext>
            </a:extLst>
          </p:cNvPr>
          <p:cNvSpPr>
            <a:spLocks noGrp="1"/>
          </p:cNvSpPr>
          <p:nvPr>
            <p:ph idx="1"/>
          </p:nvPr>
        </p:nvSpPr>
        <p:spPr>
          <a:xfrm>
            <a:off x="357158" y="771551"/>
            <a:ext cx="8229600" cy="2952327"/>
          </a:xfrm>
        </p:spPr>
        <p:txBody>
          <a:bodyPr/>
          <a:lstStyle/>
          <a:p>
            <a:pPr marL="0" indent="0">
              <a:buNone/>
            </a:pPr>
            <a:r>
              <a:rPr lang="en-US" altLang="zh-CN" sz="2000" dirty="0"/>
              <a:t>6.</a:t>
            </a:r>
            <a:r>
              <a:rPr lang="zh-CN" altLang="en-US" sz="2000" dirty="0"/>
              <a:t>关于提供伪造、变造的出入境证件罪，下列说法中正确的有哪些？</a:t>
            </a:r>
          </a:p>
          <a:p>
            <a:pPr marL="0" indent="0">
              <a:buNone/>
            </a:pPr>
            <a:r>
              <a:rPr lang="en-US" altLang="zh-CN" sz="2000" dirty="0"/>
              <a:t>A. </a:t>
            </a:r>
            <a:r>
              <a:rPr lang="zh-CN" altLang="en-US" sz="2000" dirty="0"/>
              <a:t>本罪的主体既可以是自然人，也可以是单位。</a:t>
            </a:r>
          </a:p>
          <a:p>
            <a:pPr marL="0" indent="0">
              <a:buNone/>
            </a:pPr>
            <a:r>
              <a:rPr lang="en-US" altLang="zh-CN" sz="2000" dirty="0"/>
              <a:t>B. </a:t>
            </a:r>
            <a:r>
              <a:rPr lang="zh-CN" altLang="en-US" sz="2000" dirty="0"/>
              <a:t>行为人提供伪造、变造的出入境证件，必须以牟利为目的才构成本罪。</a:t>
            </a:r>
          </a:p>
          <a:p>
            <a:pPr marL="0" indent="0">
              <a:buNone/>
            </a:pPr>
            <a:r>
              <a:rPr lang="en-US" altLang="zh-CN" sz="2000" dirty="0"/>
              <a:t>C. </a:t>
            </a:r>
            <a:r>
              <a:rPr lang="zh-CN" altLang="en-US" sz="2000" dirty="0"/>
              <a:t>本罪在客观方面表现为实施了提供伪造或者变造的出入境证件的行为，“提供”包括出售、赠与、出借等多种方式。</a:t>
            </a:r>
          </a:p>
          <a:p>
            <a:pPr marL="0" indent="0">
              <a:buNone/>
            </a:pPr>
            <a:r>
              <a:rPr lang="en-US" altLang="zh-CN" sz="2000" dirty="0"/>
              <a:t>D. </a:t>
            </a:r>
            <a:r>
              <a:rPr lang="zh-CN" altLang="en-US" sz="2000" dirty="0"/>
              <a:t>行为人只要实施了提供行为，无论对方是否实际使用该伪造、变造的出入境证件，均构成本罪既遂。</a:t>
            </a:r>
          </a:p>
        </p:txBody>
      </p:sp>
      <p:sp>
        <p:nvSpPr>
          <p:cNvPr id="2" name="文本框 1">
            <a:extLst>
              <a:ext uri="{FF2B5EF4-FFF2-40B4-BE49-F238E27FC236}">
                <a16:creationId xmlns:a16="http://schemas.microsoft.com/office/drawing/2014/main" id="{2C78FFDE-8E94-F0E9-8B73-BB61E8869958}"/>
              </a:ext>
            </a:extLst>
          </p:cNvPr>
          <p:cNvSpPr txBox="1"/>
          <p:nvPr/>
        </p:nvSpPr>
        <p:spPr>
          <a:xfrm>
            <a:off x="1043608" y="4083918"/>
            <a:ext cx="518091" cy="369332"/>
          </a:xfrm>
          <a:prstGeom prst="rect">
            <a:avLst/>
          </a:prstGeom>
          <a:noFill/>
        </p:spPr>
        <p:txBody>
          <a:bodyPr wrap="none" rtlCol="0">
            <a:spAutoFit/>
          </a:bodyPr>
          <a:lstStyle/>
          <a:p>
            <a:r>
              <a:rPr lang="en-US" altLang="zh-CN" dirty="0"/>
              <a:t>CD</a:t>
            </a:r>
            <a:endParaRPr lang="zh-CN" altLang="en-US" dirty="0"/>
          </a:p>
        </p:txBody>
      </p:sp>
    </p:spTree>
    <p:extLst>
      <p:ext uri="{BB962C8B-B14F-4D97-AF65-F5344CB8AC3E}">
        <p14:creationId xmlns:p14="http://schemas.microsoft.com/office/powerpoint/2010/main" val="335541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1475656" y="2211710"/>
            <a:ext cx="6429420" cy="58477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rPr>
              <a:t>1. 6 </a:t>
            </a:r>
            <a:r>
              <a:rPr kumimoji="0" lang="zh-CN" altLang="en-US" sz="32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charset="-122"/>
              </a:rPr>
              <a:t>出售出入境证件罪</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（一）法律依据</a:t>
            </a:r>
          </a:p>
        </p:txBody>
      </p:sp>
      <p:sp>
        <p:nvSpPr>
          <p:cNvPr id="28" name="矩形 27"/>
          <p:cNvSpPr/>
          <p:nvPr/>
        </p:nvSpPr>
        <p:spPr>
          <a:xfrm>
            <a:off x="428596" y="1142990"/>
            <a:ext cx="8286808" cy="369332"/>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中华人民共和国刑法</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p>
        </p:txBody>
      </p:sp>
      <p:sp>
        <p:nvSpPr>
          <p:cNvPr id="12" name="矩形 11"/>
          <p:cNvSpPr/>
          <p:nvPr/>
        </p:nvSpPr>
        <p:spPr>
          <a:xfrm>
            <a:off x="395536" y="1563638"/>
            <a:ext cx="8208912" cy="646331"/>
          </a:xfrm>
          <a:prstGeom prst="rect">
            <a:avLst/>
          </a:prstGeom>
          <a:ln>
            <a:solidFill>
              <a:srgbClr val="1143CF"/>
            </a:solidFill>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《刑法》第</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320</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条规定，出售出入境证件的，处五年以下有期徒刑，并处罚金；</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情节严重的</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，处五年以上有期徒刑，并处罚金。</a:t>
            </a:r>
          </a:p>
        </p:txBody>
      </p:sp>
      <p:sp>
        <p:nvSpPr>
          <p:cNvPr id="7"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1. 6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出售出入境证件罪</a:t>
            </a:r>
          </a:p>
        </p:txBody>
      </p:sp>
      <p:sp>
        <p:nvSpPr>
          <p:cNvPr id="8" name="矩形 7"/>
          <p:cNvSpPr/>
          <p:nvPr/>
        </p:nvSpPr>
        <p:spPr>
          <a:xfrm>
            <a:off x="395536" y="3003798"/>
            <a:ext cx="8208912" cy="1200329"/>
          </a:xfrm>
          <a:prstGeom prst="rect">
            <a:avLst/>
          </a:prstGeom>
          <a:ln>
            <a:solidFill>
              <a:srgbClr val="1143CF"/>
            </a:solidFill>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1.</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出售出入境证件</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五份</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以上的；</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2.</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非法收取费用</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三十万元</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以上的；</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3.</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明知是国家规定的</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不准出入境的人员</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而向其出售出入境证件的；</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4.</a:t>
            </a:r>
            <a:r>
              <a:rPr kumimoji="0" lang="zh-CN" altLang="zh-CN"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其他</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情节严重的情形。</a:t>
            </a:r>
          </a:p>
        </p:txBody>
      </p:sp>
      <p:cxnSp>
        <p:nvCxnSpPr>
          <p:cNvPr id="9" name="直线箭头连接符 5"/>
          <p:cNvCxnSpPr/>
          <p:nvPr/>
        </p:nvCxnSpPr>
        <p:spPr>
          <a:xfrm>
            <a:off x="1547664" y="2139702"/>
            <a:ext cx="2016224" cy="792088"/>
          </a:xfrm>
          <a:prstGeom prst="straightConnector1">
            <a:avLst/>
          </a:prstGeom>
          <a:ln>
            <a:solidFill>
              <a:srgbClr val="3875A8"/>
            </a:solidFill>
            <a:prstDash val="sysDash"/>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（二）法律解读</a:t>
            </a:r>
          </a:p>
        </p:txBody>
      </p:sp>
      <p:sp>
        <p:nvSpPr>
          <p:cNvPr id="19" name="TextBox 18"/>
          <p:cNvSpPr txBox="1"/>
          <p:nvPr/>
        </p:nvSpPr>
        <p:spPr>
          <a:xfrm>
            <a:off x="888559" y="1635646"/>
            <a:ext cx="461665" cy="1800200"/>
          </a:xfrm>
          <a:prstGeom prst="rect">
            <a:avLst/>
          </a:prstGeom>
          <a:noFill/>
        </p:spPr>
        <p:txBody>
          <a:bodyPr vert="eaVert"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构成要件</a:t>
            </a:r>
          </a:p>
        </p:txBody>
      </p:sp>
      <p:sp>
        <p:nvSpPr>
          <p:cNvPr id="20" name="左大括号 19"/>
          <p:cNvSpPr/>
          <p:nvPr/>
        </p:nvSpPr>
        <p:spPr>
          <a:xfrm>
            <a:off x="1331640" y="1419622"/>
            <a:ext cx="288032" cy="3240360"/>
          </a:xfrm>
          <a:prstGeom prst="leftBrace">
            <a:avLst/>
          </a:prstGeom>
          <a:ln>
            <a:solidFill>
              <a:srgbClr val="1143C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1" name="TextBox 20"/>
          <p:cNvSpPr txBox="1"/>
          <p:nvPr/>
        </p:nvSpPr>
        <p:spPr>
          <a:xfrm>
            <a:off x="1763688" y="1347614"/>
            <a:ext cx="7128792"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主体：</a:t>
            </a:r>
            <a:r>
              <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charset="-122"/>
              </a:rPr>
              <a:t>一般主体</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，达到刑事责任年龄、具有刑事责任能力的自然人 。单位不构成本罪。</a:t>
            </a:r>
          </a:p>
        </p:txBody>
      </p:sp>
      <p:sp>
        <p:nvSpPr>
          <p:cNvPr id="22" name="TextBox 21"/>
          <p:cNvSpPr txBox="1"/>
          <p:nvPr/>
        </p:nvSpPr>
        <p:spPr>
          <a:xfrm>
            <a:off x="1706156" y="1993945"/>
            <a:ext cx="7200800"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主观方面出于故意，即行为人出售出入境 证件提供给他人 会造成破坏我国出入境证件管理制度的危害结果，却仍然实施这一行为。</a:t>
            </a:r>
          </a:p>
        </p:txBody>
      </p:sp>
      <p:sp>
        <p:nvSpPr>
          <p:cNvPr id="24" name="TextBox 23"/>
          <p:cNvSpPr txBox="1"/>
          <p:nvPr/>
        </p:nvSpPr>
        <p:spPr>
          <a:xfrm>
            <a:off x="1691680" y="2813680"/>
            <a:ext cx="7056784" cy="120032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客观方面</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r>
              <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行为人将护照、签证等出入境证件当作商品，换取利益的行为。</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对象</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真实的护照、签证等出入境证件</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目的</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获得非法利益，有偿性</a:t>
            </a:r>
            <a:endParaRPr kumimoji="0" lang="zh-CN"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endParaRPr>
          </a:p>
        </p:txBody>
      </p:sp>
      <p:sp>
        <p:nvSpPr>
          <p:cNvPr id="12" name="TextBox 11"/>
          <p:cNvSpPr txBox="1"/>
          <p:nvPr/>
        </p:nvSpPr>
        <p:spPr>
          <a:xfrm>
            <a:off x="1691680" y="4155926"/>
            <a:ext cx="518457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客体：国家对出入境证件的管理制度。</a:t>
            </a:r>
          </a:p>
        </p:txBody>
      </p:sp>
      <p:sp>
        <p:nvSpPr>
          <p:cNvPr id="11"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1. 6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出售出入境证件罪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horizont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4" grpId="0"/>
      <p:bldP spid="1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552" y="771550"/>
            <a:ext cx="1960746" cy="369332"/>
          </a:xfrm>
          <a:prstGeom prst="rect">
            <a:avLst/>
          </a:prstGeom>
          <a:solidFill>
            <a:schemeClr val="bg1">
              <a:lumMod val="65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（三）罪数问题</a:t>
            </a:r>
          </a:p>
        </p:txBody>
      </p:sp>
      <p:sp>
        <p:nvSpPr>
          <p:cNvPr id="11" name="TextBox 3"/>
          <p:cNvSpPr txBox="1"/>
          <p:nvPr/>
        </p:nvSpPr>
        <p:spPr>
          <a:xfrm>
            <a:off x="2843808" y="141288"/>
            <a:ext cx="6049367" cy="460375"/>
          </a:xfrm>
          <a:prstGeom prst="rect">
            <a:avLst/>
          </a:prstGeom>
          <a:noFill/>
          <a:effectLst>
            <a:outerShdw blurRad="50800" dist="38100" dir="8100000" algn="tr" rotWithShape="0">
              <a:prstClr val="black">
                <a:alpha val="40000"/>
              </a:prstClr>
            </a:outerShdw>
          </a:effectLst>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1. 6 </a:t>
            </a:r>
            <a:r>
              <a:rPr kumimoji="0" lang="zh-CN" altLang="en-US" sz="2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出售出入境证件罪</a:t>
            </a:r>
          </a:p>
        </p:txBody>
      </p:sp>
      <p:sp>
        <p:nvSpPr>
          <p:cNvPr id="10" name="TextBox 9"/>
          <p:cNvSpPr txBox="1"/>
          <p:nvPr/>
        </p:nvSpPr>
        <p:spPr>
          <a:xfrm>
            <a:off x="899592" y="1419622"/>
            <a:ext cx="1728192" cy="1200329"/>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行为人伪造出入境证件后又提供给他人 使用</a:t>
            </a:r>
          </a:p>
        </p:txBody>
      </p:sp>
      <p:sp>
        <p:nvSpPr>
          <p:cNvPr id="14" name="TextBox 13"/>
          <p:cNvSpPr txBox="1"/>
          <p:nvPr/>
        </p:nvSpPr>
        <p:spPr>
          <a:xfrm>
            <a:off x="4716016" y="915566"/>
            <a:ext cx="1368152" cy="923330"/>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伪造、变造国家机关证件、印章罪</a:t>
            </a:r>
          </a:p>
        </p:txBody>
      </p:sp>
      <p:sp>
        <p:nvSpPr>
          <p:cNvPr id="15" name="TextBox 14"/>
          <p:cNvSpPr txBox="1"/>
          <p:nvPr/>
        </p:nvSpPr>
        <p:spPr>
          <a:xfrm>
            <a:off x="4716016" y="1851670"/>
            <a:ext cx="1368152" cy="923330"/>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提供伪造、变造出入境证件罪</a:t>
            </a:r>
          </a:p>
        </p:txBody>
      </p:sp>
      <p:sp>
        <p:nvSpPr>
          <p:cNvPr id="16" name="TextBox 15"/>
          <p:cNvSpPr txBox="1"/>
          <p:nvPr/>
        </p:nvSpPr>
        <p:spPr>
          <a:xfrm>
            <a:off x="6321387" y="1102806"/>
            <a:ext cx="461665" cy="1440160"/>
          </a:xfrm>
          <a:prstGeom prst="rect">
            <a:avLst/>
          </a:prstGeom>
          <a:noFill/>
        </p:spPr>
        <p:txBody>
          <a:bodyPr vert="eaVert"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牵连犯</a:t>
            </a:r>
          </a:p>
        </p:txBody>
      </p:sp>
      <p:sp>
        <p:nvSpPr>
          <p:cNvPr id="17" name="TextBox 16"/>
          <p:cNvSpPr txBox="1"/>
          <p:nvPr/>
        </p:nvSpPr>
        <p:spPr>
          <a:xfrm>
            <a:off x="6977881" y="1001350"/>
            <a:ext cx="1728192" cy="369332"/>
          </a:xfrm>
          <a:prstGeom prst="rect">
            <a:avLst/>
          </a:prstGeom>
          <a:noFill/>
          <a:ln>
            <a:solidFill>
              <a:srgbClr val="339933"/>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从一重罪处罚</a:t>
            </a:r>
          </a:p>
        </p:txBody>
      </p:sp>
      <p:cxnSp>
        <p:nvCxnSpPr>
          <p:cNvPr id="18" name="直线箭头连接符 5"/>
          <p:cNvCxnSpPr/>
          <p:nvPr/>
        </p:nvCxnSpPr>
        <p:spPr>
          <a:xfrm flipV="1">
            <a:off x="2843808" y="1419622"/>
            <a:ext cx="1584176" cy="576064"/>
          </a:xfrm>
          <a:prstGeom prst="straightConnector1">
            <a:avLst/>
          </a:prstGeom>
          <a:ln>
            <a:solidFill>
              <a:srgbClr val="3875A8"/>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23" name="直线箭头连接符 5"/>
          <p:cNvCxnSpPr/>
          <p:nvPr/>
        </p:nvCxnSpPr>
        <p:spPr>
          <a:xfrm>
            <a:off x="2843808" y="2139702"/>
            <a:ext cx="1656184" cy="432048"/>
          </a:xfrm>
          <a:prstGeom prst="straightConnector1">
            <a:avLst/>
          </a:prstGeom>
          <a:ln>
            <a:solidFill>
              <a:srgbClr val="3875A8"/>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99592" y="3147814"/>
            <a:ext cx="1656184" cy="646331"/>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出售出入境证件的行为</a:t>
            </a:r>
          </a:p>
        </p:txBody>
      </p:sp>
      <p:sp>
        <p:nvSpPr>
          <p:cNvPr id="28" name="TextBox 27"/>
          <p:cNvSpPr txBox="1"/>
          <p:nvPr/>
        </p:nvSpPr>
        <p:spPr>
          <a:xfrm>
            <a:off x="4716016" y="3003798"/>
            <a:ext cx="1368152" cy="646331"/>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买卖国家机关证件罪</a:t>
            </a:r>
          </a:p>
        </p:txBody>
      </p:sp>
      <p:sp>
        <p:nvSpPr>
          <p:cNvPr id="29" name="TextBox 28"/>
          <p:cNvSpPr txBox="1"/>
          <p:nvPr/>
        </p:nvSpPr>
        <p:spPr>
          <a:xfrm>
            <a:off x="4644008" y="3939902"/>
            <a:ext cx="1512168" cy="646331"/>
          </a:xfrm>
          <a:prstGeom prst="rect">
            <a:avLst/>
          </a:prstGeom>
          <a:noFill/>
          <a:ln>
            <a:solidFill>
              <a:srgbClr val="1143CF"/>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出售出入境证件罪</a:t>
            </a:r>
          </a:p>
        </p:txBody>
      </p:sp>
      <p:cxnSp>
        <p:nvCxnSpPr>
          <p:cNvPr id="30" name="直线箭头连接符 5"/>
          <p:cNvCxnSpPr/>
          <p:nvPr/>
        </p:nvCxnSpPr>
        <p:spPr>
          <a:xfrm flipV="1">
            <a:off x="2699792" y="3291830"/>
            <a:ext cx="1728192" cy="72008"/>
          </a:xfrm>
          <a:prstGeom prst="straightConnector1">
            <a:avLst/>
          </a:prstGeom>
          <a:ln>
            <a:solidFill>
              <a:srgbClr val="3875A8"/>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32" name="直线箭头连接符 5"/>
          <p:cNvCxnSpPr/>
          <p:nvPr/>
        </p:nvCxnSpPr>
        <p:spPr>
          <a:xfrm>
            <a:off x="2699792" y="3507854"/>
            <a:ext cx="1584176" cy="720080"/>
          </a:xfrm>
          <a:prstGeom prst="straightConnector1">
            <a:avLst/>
          </a:prstGeom>
          <a:ln>
            <a:solidFill>
              <a:srgbClr val="3875A8"/>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16216" y="3219822"/>
            <a:ext cx="461665" cy="1152128"/>
          </a:xfrm>
          <a:prstGeom prst="rect">
            <a:avLst/>
          </a:prstGeom>
          <a:noFill/>
        </p:spPr>
        <p:txBody>
          <a:bodyPr vert="eaVert"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想象竟合</a:t>
            </a:r>
          </a:p>
        </p:txBody>
      </p:sp>
      <p:sp>
        <p:nvSpPr>
          <p:cNvPr id="36" name="TextBox 35"/>
          <p:cNvSpPr txBox="1"/>
          <p:nvPr/>
        </p:nvSpPr>
        <p:spPr>
          <a:xfrm>
            <a:off x="7236296" y="3435846"/>
            <a:ext cx="172819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从一重罪处罚</a:t>
            </a:r>
          </a:p>
        </p:txBody>
      </p:sp>
      <p:sp>
        <p:nvSpPr>
          <p:cNvPr id="19" name="TextBox 16"/>
          <p:cNvSpPr txBox="1"/>
          <p:nvPr/>
        </p:nvSpPr>
        <p:spPr>
          <a:xfrm>
            <a:off x="6977881" y="1516439"/>
            <a:ext cx="1728192" cy="646331"/>
          </a:xfrm>
          <a:prstGeom prst="rect">
            <a:avLst/>
          </a:prstGeom>
          <a:noFill/>
          <a:ln>
            <a:solidFill>
              <a:srgbClr val="339933"/>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charset="-122"/>
              </a:rPr>
              <a:t>从一重从重处罚</a:t>
            </a:r>
          </a:p>
        </p:txBody>
      </p:sp>
      <p:sp>
        <p:nvSpPr>
          <p:cNvPr id="2" name="左大括号 1"/>
          <p:cNvSpPr/>
          <p:nvPr/>
        </p:nvSpPr>
        <p:spPr>
          <a:xfrm>
            <a:off x="6783052" y="1186016"/>
            <a:ext cx="93204" cy="1264787"/>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left)">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blinds(horizontal)">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blinds(horizontal)">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blinds(horizontal)">
                                      <p:cBhvr>
                                        <p:cTn id="67" dur="500"/>
                                        <p:tgtEl>
                                          <p:spTgt spid="3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blinds(horizontal)">
                                      <p:cBhvr>
                                        <p:cTn id="7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p:bldP spid="17" grpId="0" animBg="1"/>
      <p:bldP spid="28" grpId="0" animBg="1"/>
      <p:bldP spid="29" grpId="0" animBg="1"/>
      <p:bldP spid="35" grpId="0"/>
      <p:bldP spid="36" grpId="0"/>
      <p:bldP spid="19" grpId="0" animBg="1"/>
      <p:bldP spid="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9AF03-F7FF-3202-A556-B12E053E8E72}"/>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F4882351-92E1-5272-BE61-78D5171A7F96}"/>
              </a:ext>
            </a:extLst>
          </p:cNvPr>
          <p:cNvSpPr>
            <a:spLocks noGrp="1"/>
          </p:cNvSpPr>
          <p:nvPr>
            <p:ph idx="1"/>
          </p:nvPr>
        </p:nvSpPr>
        <p:spPr>
          <a:xfrm>
            <a:off x="357158" y="771551"/>
            <a:ext cx="8229600" cy="3168351"/>
          </a:xfrm>
        </p:spPr>
        <p:txBody>
          <a:bodyPr/>
          <a:lstStyle/>
          <a:p>
            <a:pPr marL="0" indent="0">
              <a:buNone/>
            </a:pPr>
            <a:r>
              <a:rPr lang="en-US" altLang="zh-CN" sz="2000" dirty="0"/>
              <a:t>7.</a:t>
            </a:r>
            <a:r>
              <a:rPr lang="zh-CN" altLang="en-US" sz="2000" dirty="0"/>
              <a:t>下列哪些行为构成出售出入境证件的犯罪？（ ）</a:t>
            </a:r>
          </a:p>
          <a:p>
            <a:pPr marL="0" indent="0">
              <a:buNone/>
            </a:pPr>
            <a:r>
              <a:rPr lang="en-US" altLang="zh-CN" sz="2000" dirty="0"/>
              <a:t>A. </a:t>
            </a:r>
            <a:r>
              <a:rPr lang="zh-CN" altLang="en-US" sz="2000" dirty="0"/>
              <a:t>甲将自己通过合法途径申领的真实有效护照，以高价卖给欲偷渡出境的乙。</a:t>
            </a:r>
          </a:p>
          <a:p>
            <a:pPr marL="0" indent="0">
              <a:buNone/>
            </a:pPr>
            <a:r>
              <a:rPr lang="en-US" altLang="zh-CN" sz="2000" dirty="0"/>
              <a:t>B. </a:t>
            </a:r>
            <a:r>
              <a:rPr lang="zh-CN" altLang="en-US" sz="2000" dirty="0"/>
              <a:t>乙专门从非法渠道购入伪造的外国签证，然后在社交媒体上发布广告，加价出售给有需要的人。</a:t>
            </a:r>
          </a:p>
          <a:p>
            <a:pPr marL="0" indent="0">
              <a:buNone/>
            </a:pPr>
            <a:r>
              <a:rPr lang="en-US" altLang="zh-CN" sz="2000" dirty="0"/>
              <a:t>C. </a:t>
            </a:r>
            <a:r>
              <a:rPr lang="zh-CN" altLang="en-US" sz="2000" dirty="0"/>
              <a:t>丙窃取了多本他人真实的护照后，将其中的照片更换，然后以“内部渠道办理”的名义出售给他人。</a:t>
            </a:r>
          </a:p>
          <a:p>
            <a:pPr marL="0" indent="0">
              <a:buNone/>
            </a:pPr>
            <a:r>
              <a:rPr lang="en-US" altLang="zh-CN" sz="2000" dirty="0"/>
              <a:t>D. </a:t>
            </a:r>
            <a:r>
              <a:rPr lang="zh-CN" altLang="en-US" sz="2000" dirty="0"/>
              <a:t>丁是一家打印店老板，应顾客要求，利用专业设备制作了高仿真的某国签证页，并按张数向顾客收费。</a:t>
            </a:r>
          </a:p>
        </p:txBody>
      </p:sp>
      <p:sp>
        <p:nvSpPr>
          <p:cNvPr id="2" name="文本框 1">
            <a:extLst>
              <a:ext uri="{FF2B5EF4-FFF2-40B4-BE49-F238E27FC236}">
                <a16:creationId xmlns:a16="http://schemas.microsoft.com/office/drawing/2014/main" id="{A2F6A60C-3F97-445D-5A00-51CAF840E695}"/>
              </a:ext>
            </a:extLst>
          </p:cNvPr>
          <p:cNvSpPr txBox="1"/>
          <p:nvPr/>
        </p:nvSpPr>
        <p:spPr>
          <a:xfrm>
            <a:off x="1043608" y="4227934"/>
            <a:ext cx="338554" cy="369332"/>
          </a:xfrm>
          <a:prstGeom prst="rect">
            <a:avLst/>
          </a:prstGeom>
          <a:noFill/>
        </p:spPr>
        <p:txBody>
          <a:bodyPr wrap="none" rtlCol="0">
            <a:spAutoFit/>
          </a:bodyPr>
          <a:lstStyle/>
          <a:p>
            <a:r>
              <a:rPr lang="en-US" altLang="zh-CN" dirty="0"/>
              <a:t>A</a:t>
            </a:r>
            <a:endParaRPr lang="zh-CN" altLang="en-US" dirty="0"/>
          </a:p>
        </p:txBody>
      </p:sp>
    </p:spTree>
    <p:extLst>
      <p:ext uri="{BB962C8B-B14F-4D97-AF65-F5344CB8AC3E}">
        <p14:creationId xmlns:p14="http://schemas.microsoft.com/office/powerpoint/2010/main" val="379593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noChangeArrowheads="1"/>
          </p:cNvSpPr>
          <p:nvPr>
            <p:ph type="title" idx="4294967295"/>
          </p:nvPr>
        </p:nvSpPr>
        <p:spPr>
          <a:xfrm>
            <a:off x="2699792" y="483518"/>
            <a:ext cx="3455640" cy="864096"/>
          </a:xfrm>
        </p:spPr>
        <p:txBody>
          <a:bodyPr/>
          <a:lstStyle/>
          <a:p>
            <a:pPr marL="0" indent="0" algn="l" eaLnBrk="1" hangingPunct="1"/>
            <a:r>
              <a:rPr lang="zh-CN" altLang="en-US" sz="4800" dirty="0">
                <a:solidFill>
                  <a:schemeClr val="bg1"/>
                </a:solidFill>
                <a:latin typeface="华文新魏" panose="02010800040101010101" charset="-122"/>
                <a:ea typeface="华文新魏" panose="02010800040101010101" charset="-122"/>
                <a:cs typeface="华文新魏" panose="02010800040101010101" charset="-122"/>
              </a:rPr>
              <a:t>感谢各位！</a:t>
            </a:r>
          </a:p>
        </p:txBody>
      </p:sp>
      <p:pic>
        <p:nvPicPr>
          <p:cNvPr id="137218" name="Picture 5" descr="D:\备份\警校ppt\入户走访\校牌.png"/>
          <p:cNvPicPr>
            <a:picLocks noChangeAspect="1" noChangeArrowheads="1"/>
          </p:cNvPicPr>
          <p:nvPr/>
        </p:nvPicPr>
        <p:blipFill>
          <a:blip r:embed="rId2" cstate="print"/>
          <a:srcRect/>
          <a:stretch>
            <a:fillRect/>
          </a:stretch>
        </p:blipFill>
        <p:spPr bwMode="auto">
          <a:xfrm>
            <a:off x="5656263" y="3940175"/>
            <a:ext cx="3257550" cy="1143000"/>
          </a:xfrm>
          <a:prstGeom prst="rect">
            <a:avLst/>
          </a:prstGeom>
          <a:noFill/>
          <a:ln w="9525">
            <a:noFill/>
            <a:miter lim="800000"/>
            <a:headEnd/>
            <a:tailEnd/>
          </a:ln>
        </p:spPr>
      </p:pic>
      <p:sp>
        <p:nvSpPr>
          <p:cNvPr id="2" name="矩形 1"/>
          <p:cNvSpPr/>
          <p:nvPr/>
        </p:nvSpPr>
        <p:spPr>
          <a:xfrm>
            <a:off x="2483768" y="1203598"/>
            <a:ext cx="3201133" cy="923330"/>
          </a:xfrm>
          <a:prstGeom prst="rect">
            <a:avLst/>
          </a:prstGeom>
          <a:noFill/>
        </p:spPr>
        <p:txBody>
          <a:bodyPr wrap="none" lIns="91440" tIns="45720" rIns="91440" bIns="45720">
            <a:spAutoFit/>
          </a:bodyPr>
          <a:lstStyle/>
          <a:p>
            <a:pPr algn="ctr"/>
            <a:r>
              <a:rPr lang="en-US" altLang="zh-CN"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华文新魏" panose="02010800040101010101" charset="-122"/>
                <a:ea typeface="华文新魏" panose="02010800040101010101" charset="-122"/>
                <a:cs typeface="华文新魏" panose="02010800040101010101" charset="-122"/>
              </a:rPr>
              <a:t>thank</a:t>
            </a:r>
            <a:r>
              <a:rPr lang="zh-CN" alt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华文新魏" panose="02010800040101010101" charset="-122"/>
                <a:ea typeface="华文新魏" panose="02010800040101010101" charset="-122"/>
                <a:cs typeface="华文新魏" panose="02010800040101010101" charset="-122"/>
              </a:rPr>
              <a:t> </a:t>
            </a:r>
            <a:r>
              <a:rPr lang="en-US" altLang="zh-CN"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华文新魏" panose="02010800040101010101" charset="-122"/>
                <a:ea typeface="华文新魏" panose="02010800040101010101" charset="-122"/>
                <a:cs typeface="华文新魏" panose="02010800040101010101" charset="-122"/>
              </a:rPr>
              <a:t>you</a:t>
            </a:r>
            <a:r>
              <a:rPr lang="zh-CN" alt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华文新魏" panose="02010800040101010101" charset="-122"/>
                <a:ea typeface="华文新魏" panose="02010800040101010101" charset="-122"/>
                <a:cs typeface="华文新魏" panose="02010800040101010101" charset="-122"/>
              </a:rPr>
              <a:t> </a:t>
            </a:r>
            <a:endParaRPr lang="zh-CN" alt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E3MzA3NWJlOTYyZmYxYjI1ZmE3MDRiODgyOTg5MmEifQ=="/>
</p:tagLst>
</file>

<file path=ppt/theme/theme1.xml><?xml version="1.0" encoding="utf-8"?>
<a:theme xmlns:a="http://schemas.openxmlformats.org/drawingml/2006/main" name="默认设计模板">
  <a:themeElements>
    <a:clrScheme name="默认设计模板 14">
      <a:dk1>
        <a:srgbClr val="000000"/>
      </a:dk1>
      <a:lt1>
        <a:srgbClr val="FFFFFF"/>
      </a:lt1>
      <a:dk2>
        <a:srgbClr val="000000"/>
      </a:dk2>
      <a:lt2>
        <a:srgbClr val="808080"/>
      </a:lt2>
      <a:accent1>
        <a:srgbClr val="BBE0E3"/>
      </a:accent1>
      <a:accent2>
        <a:srgbClr val="3875A8"/>
      </a:accent2>
      <a:accent3>
        <a:srgbClr val="FFFFFF"/>
      </a:accent3>
      <a:accent4>
        <a:srgbClr val="000000"/>
      </a:accent4>
      <a:accent5>
        <a:srgbClr val="DAEDEF"/>
      </a:accent5>
      <a:accent6>
        <a:srgbClr val="326998"/>
      </a:accent6>
      <a:hlink>
        <a:srgbClr val="009999"/>
      </a:hlink>
      <a:folHlink>
        <a:srgbClr val="99CC00"/>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BBE0E3"/>
        </a:accent1>
        <a:accent2>
          <a:srgbClr val="386FA8"/>
        </a:accent2>
        <a:accent3>
          <a:srgbClr val="FFFFFF"/>
        </a:accent3>
        <a:accent4>
          <a:srgbClr val="000000"/>
        </a:accent4>
        <a:accent5>
          <a:srgbClr val="DAEDEF"/>
        </a:accent5>
        <a:accent6>
          <a:srgbClr val="326498"/>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14">
        <a:dk1>
          <a:srgbClr val="000000"/>
        </a:dk1>
        <a:lt1>
          <a:srgbClr val="FFFFFF"/>
        </a:lt1>
        <a:dk2>
          <a:srgbClr val="000000"/>
        </a:dk2>
        <a:lt2>
          <a:srgbClr val="808080"/>
        </a:lt2>
        <a:accent1>
          <a:srgbClr val="BBE0E3"/>
        </a:accent1>
        <a:accent2>
          <a:srgbClr val="3875A8"/>
        </a:accent2>
        <a:accent3>
          <a:srgbClr val="FFFFFF"/>
        </a:accent3>
        <a:accent4>
          <a:srgbClr val="000000"/>
        </a:accent4>
        <a:accent5>
          <a:srgbClr val="DAEDEF"/>
        </a:accent5>
        <a:accent6>
          <a:srgbClr val="326998"/>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73E87"/>
      </a:dk2>
      <a:lt2>
        <a:srgbClr val="C6E7FC"/>
      </a:lt2>
      <a:accent1>
        <a:srgbClr val="31B6FD"/>
      </a:accent1>
      <a:accent2>
        <a:srgbClr val="4584D3"/>
      </a:accent2>
      <a:accent3>
        <a:srgbClr val="FFFFFF"/>
      </a:accent3>
      <a:accent4>
        <a:srgbClr val="000000"/>
      </a:accent4>
      <a:accent5>
        <a:srgbClr val="ADD7FE"/>
      </a:accent5>
      <a:accent6>
        <a:srgbClr val="3E77BF"/>
      </a:accent6>
      <a:hlink>
        <a:srgbClr val="0080FF"/>
      </a:hlink>
      <a:folHlink>
        <a:srgbClr val="5EAEFF"/>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TotalTime>
  <Words>6168</Words>
  <Application>Microsoft Office PowerPoint</Application>
  <PresentationFormat>全屏显示(16:9)</PresentationFormat>
  <Paragraphs>387</Paragraphs>
  <Slides>66</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66</vt:i4>
      </vt:variant>
    </vt:vector>
  </HeadingPairs>
  <TitlesOfParts>
    <vt:vector size="74" baseType="lpstr">
      <vt:lpstr>华文新魏</vt:lpstr>
      <vt:lpstr>宋体</vt:lpstr>
      <vt:lpstr>微软雅黑</vt:lpstr>
      <vt:lpstr>Arial</vt:lpstr>
      <vt:lpstr>Calibri</vt:lpstr>
      <vt:lpstr>Wingdings</vt:lpstr>
      <vt:lpstr>默认设计模板</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 偷越国（边）境罪</vt:lpstr>
      <vt:lpstr>1.1 偷越国（边）境罪</vt:lpstr>
      <vt:lpstr>1.1 偷越国（边）境罪</vt:lpstr>
      <vt:lpstr>1.1 偷越国（边）境罪</vt:lpstr>
      <vt:lpstr>1.1 偷越国（边）境罪</vt:lpstr>
      <vt:lpstr>1.1 偷越国（边）境罪</vt:lpstr>
      <vt:lpstr>PowerPoint 演示文稿</vt:lpstr>
      <vt:lpstr>PowerPoint 演示文稿</vt:lpstr>
      <vt:lpstr>PowerPoint 演示文稿</vt:lpstr>
      <vt:lpstr>PowerPoint 演示文稿</vt:lpstr>
      <vt:lpstr>PowerPoint 演示文稿</vt:lpstr>
      <vt:lpstr>1.2 组织他人偷越国（边）境罪</vt:lpstr>
      <vt:lpstr>1.2 组织他人偷越国（边）境罪</vt:lpstr>
      <vt:lpstr>1.2 组织他人偷越国（边）境罪</vt:lpstr>
      <vt:lpstr>1.2 组织他人偷越国（边）境罪</vt:lpstr>
      <vt:lpstr>1.2 组织他人偷越国（边）境罪</vt:lpstr>
      <vt:lpstr>1.2 组织他人偷越国（边）境罪</vt:lpstr>
      <vt:lpstr>1.2 组织他人偷越国（边）境罪</vt:lpstr>
      <vt:lpstr>1.2 组织他人偷越国（边）境罪</vt:lpstr>
      <vt:lpstr>1.2 组织他人偷越国（边）境罪</vt:lpstr>
      <vt:lpstr>1.2 组织他人偷越国（边）境罪</vt:lpstr>
      <vt:lpstr>PowerPoint 演示文稿</vt:lpstr>
      <vt:lpstr>PowerPoint 演示文稿</vt:lpstr>
      <vt:lpstr>PowerPoint 演示文稿</vt:lpstr>
      <vt:lpstr>PowerPoint 演示文稿</vt:lpstr>
      <vt:lpstr>1.3 运送他人偷越国（边）境罪</vt:lpstr>
      <vt:lpstr>1.3 运送他人偷越国（边）境罪</vt:lpstr>
      <vt:lpstr>1.3 运送他人偷越国（边）境罪</vt:lpstr>
      <vt:lpstr>1.2 组织他人偷越国（边）境罪</vt:lpstr>
      <vt:lpstr>1.3 运送他人偷越国（边）境罪</vt:lpstr>
      <vt:lpstr>PowerPoint 演示文稿</vt:lpstr>
      <vt:lpstr>1.3 运送他人偷越国（边）境罪</vt:lpstr>
      <vt:lpstr>1.3 运送他人偷越国（边）境罪</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感谢各位！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ample</dc:creator>
  <cp:lastModifiedBy>XC LIAO</cp:lastModifiedBy>
  <cp:revision>1285</cp:revision>
  <dcterms:created xsi:type="dcterms:W3CDTF">2015-05-13T06:51:00Z</dcterms:created>
  <dcterms:modified xsi:type="dcterms:W3CDTF">2025-05-28T07:57:34Z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169B4FB6E16D4AA98E380E28DC36B9CD_12</vt:lpwstr>
  </property>
</Properties>
</file>